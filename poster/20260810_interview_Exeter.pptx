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4" r:id="rId2"/>
    <p:sldMasterId id="2147483687" r:id="rId3"/>
  </p:sldMasterIdLst>
  <p:notesMasterIdLst>
    <p:notesMasterId r:id="rId29"/>
  </p:notesMasterIdLst>
  <p:sldIdLst>
    <p:sldId id="268" r:id="rId4"/>
    <p:sldId id="344" r:id="rId5"/>
    <p:sldId id="304" r:id="rId6"/>
    <p:sldId id="329" r:id="rId7"/>
    <p:sldId id="337" r:id="rId8"/>
    <p:sldId id="327" r:id="rId9"/>
    <p:sldId id="310" r:id="rId10"/>
    <p:sldId id="307" r:id="rId11"/>
    <p:sldId id="260" r:id="rId12"/>
    <p:sldId id="265" r:id="rId13"/>
    <p:sldId id="309" r:id="rId14"/>
    <p:sldId id="316" r:id="rId15"/>
    <p:sldId id="341" r:id="rId16"/>
    <p:sldId id="312" r:id="rId17"/>
    <p:sldId id="259" r:id="rId18"/>
    <p:sldId id="262" r:id="rId19"/>
    <p:sldId id="313" r:id="rId20"/>
    <p:sldId id="270" r:id="rId21"/>
    <p:sldId id="315" r:id="rId22"/>
    <p:sldId id="339" r:id="rId23"/>
    <p:sldId id="333" r:id="rId24"/>
    <p:sldId id="275" r:id="rId25"/>
    <p:sldId id="276" r:id="rId26"/>
    <p:sldId id="314" r:id="rId27"/>
    <p:sldId id="324" r:id="rId28"/>
  </p:sldIdLst>
  <p:sldSz cx="9144000" cy="5148263"/>
  <p:notesSz cx="7772400" cy="100584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53"/>
    <p:restoredTop sz="87190"/>
  </p:normalViewPr>
  <p:slideViewPr>
    <p:cSldViewPr snapToGrid="0">
      <p:cViewPr varScale="1">
        <p:scale>
          <a:sx n="140" d="100"/>
          <a:sy n="140" d="100"/>
        </p:scale>
        <p:origin x="91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presProps" Target="presProps.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7" name="PlaceHolder 1"/>
          <p:cNvSpPr>
            <a:spLocks noGrp="1" noRot="1" noChangeAspect="1"/>
          </p:cNvSpPr>
          <p:nvPr>
            <p:ph type="sldImg"/>
          </p:nvPr>
        </p:nvSpPr>
        <p:spPr>
          <a:xfrm>
            <a:off x="533520" y="764280"/>
            <a:ext cx="6704640" cy="3771360"/>
          </a:xfrm>
          <a:prstGeom prst="rect">
            <a:avLst/>
          </a:prstGeom>
        </p:spPr>
        <p:txBody>
          <a:bodyPr lIns="0" tIns="0" rIns="0" bIns="0" anchor="ctr">
            <a:noAutofit/>
          </a:bodyPr>
          <a:lstStyle/>
          <a:p>
            <a:r>
              <a:rPr lang="en-CN" sz="1800" b="0" strike="noStrike" spc="-1">
                <a:solidFill>
                  <a:srgbClr val="000000"/>
                </a:solidFill>
                <a:latin typeface="Arial"/>
              </a:rPr>
              <a:t>Click to move the slide</a:t>
            </a:r>
          </a:p>
        </p:txBody>
      </p:sp>
      <p:sp>
        <p:nvSpPr>
          <p:cNvPr id="158" name="PlaceHolder 2"/>
          <p:cNvSpPr>
            <a:spLocks noGrp="1"/>
          </p:cNvSpPr>
          <p:nvPr>
            <p:ph type="body"/>
          </p:nvPr>
        </p:nvSpPr>
        <p:spPr>
          <a:xfrm>
            <a:off x="777240" y="4777560"/>
            <a:ext cx="6217560" cy="4525920"/>
          </a:xfrm>
          <a:prstGeom prst="rect">
            <a:avLst/>
          </a:prstGeom>
        </p:spPr>
        <p:txBody>
          <a:bodyPr lIns="0" tIns="0" rIns="0" bIns="0">
            <a:noAutofit/>
          </a:bodyPr>
          <a:lstStyle/>
          <a:p>
            <a:r>
              <a:rPr lang="en-US" sz="2000" b="0" strike="noStrike" spc="-1">
                <a:latin typeface="Arial"/>
              </a:rPr>
              <a:t>Click to edit the notes format</a:t>
            </a:r>
          </a:p>
        </p:txBody>
      </p:sp>
      <p:sp>
        <p:nvSpPr>
          <p:cNvPr id="159" name="PlaceHolder 3"/>
          <p:cNvSpPr>
            <a:spLocks noGrp="1"/>
          </p:cNvSpPr>
          <p:nvPr>
            <p:ph type="hdr"/>
          </p:nvPr>
        </p:nvSpPr>
        <p:spPr>
          <a:xfrm>
            <a:off x="0" y="0"/>
            <a:ext cx="3372840" cy="502560"/>
          </a:xfrm>
          <a:prstGeom prst="rect">
            <a:avLst/>
          </a:prstGeom>
        </p:spPr>
        <p:txBody>
          <a:bodyPr lIns="0" tIns="0" rIns="0" bIns="0">
            <a:noAutofit/>
          </a:bodyPr>
          <a:lstStyle/>
          <a:p>
            <a:r>
              <a:rPr lang="en-US" sz="1400" b="0" strike="noStrike" spc="-1">
                <a:latin typeface="Times New Roman"/>
              </a:rPr>
              <a:t>&lt;header&gt;</a:t>
            </a:r>
          </a:p>
        </p:txBody>
      </p:sp>
      <p:sp>
        <p:nvSpPr>
          <p:cNvPr id="160" name="PlaceHolder 4"/>
          <p:cNvSpPr>
            <a:spLocks noGrp="1"/>
          </p:cNvSpPr>
          <p:nvPr>
            <p:ph type="dt"/>
          </p:nvPr>
        </p:nvSpPr>
        <p:spPr>
          <a:xfrm>
            <a:off x="4399200" y="0"/>
            <a:ext cx="3372840" cy="502560"/>
          </a:xfrm>
          <a:prstGeom prst="rect">
            <a:avLst/>
          </a:prstGeom>
        </p:spPr>
        <p:txBody>
          <a:bodyPr lIns="0" tIns="0" rIns="0" bIns="0">
            <a:noAutofit/>
          </a:bodyPr>
          <a:lstStyle/>
          <a:p>
            <a:pPr algn="r"/>
            <a:r>
              <a:rPr lang="en-US" sz="1400" b="0" strike="noStrike" spc="-1">
                <a:latin typeface="Times New Roman"/>
              </a:rPr>
              <a:t>&lt;date/time&gt;</a:t>
            </a:r>
          </a:p>
        </p:txBody>
      </p:sp>
      <p:sp>
        <p:nvSpPr>
          <p:cNvPr id="161" name="PlaceHolder 5"/>
          <p:cNvSpPr>
            <a:spLocks noGrp="1"/>
          </p:cNvSpPr>
          <p:nvPr>
            <p:ph type="ftr"/>
          </p:nvPr>
        </p:nvSpPr>
        <p:spPr>
          <a:xfrm>
            <a:off x="0" y="9555480"/>
            <a:ext cx="3372840" cy="502560"/>
          </a:xfrm>
          <a:prstGeom prst="rect">
            <a:avLst/>
          </a:prstGeom>
        </p:spPr>
        <p:txBody>
          <a:bodyPr lIns="0" tIns="0" rIns="0" bIns="0" anchor="b">
            <a:noAutofit/>
          </a:bodyPr>
          <a:lstStyle/>
          <a:p>
            <a:r>
              <a:rPr lang="en-US" sz="1400" b="0" strike="noStrike" spc="-1">
                <a:latin typeface="Times New Roman"/>
              </a:rPr>
              <a:t>&lt;footer&gt;</a:t>
            </a:r>
          </a:p>
        </p:txBody>
      </p:sp>
      <p:sp>
        <p:nvSpPr>
          <p:cNvPr id="162" name="PlaceHolder 6"/>
          <p:cNvSpPr>
            <a:spLocks noGrp="1"/>
          </p:cNvSpPr>
          <p:nvPr>
            <p:ph type="sldNum"/>
          </p:nvPr>
        </p:nvSpPr>
        <p:spPr>
          <a:xfrm>
            <a:off x="4399200" y="9555480"/>
            <a:ext cx="3372840" cy="502560"/>
          </a:xfrm>
          <a:prstGeom prst="rect">
            <a:avLst/>
          </a:prstGeom>
        </p:spPr>
        <p:txBody>
          <a:bodyPr lIns="0" tIns="0" rIns="0" bIns="0" anchor="b">
            <a:noAutofit/>
          </a:bodyPr>
          <a:lstStyle/>
          <a:p>
            <a:pPr algn="r"/>
            <a:fld id="{C3746C8E-BC9E-4D1E-87E2-E419729F4B66}" type="slidenum">
              <a:rPr lang="en-US" sz="1400" b="0" strike="noStrike" spc="-1">
                <a:latin typeface="Times New Roman"/>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 name="PlaceHolder 1"/>
          <p:cNvSpPr>
            <a:spLocks noGrp="1" noRot="1" noChangeAspect="1"/>
          </p:cNvSpPr>
          <p:nvPr>
            <p:ph type="sldImg"/>
          </p:nvPr>
        </p:nvSpPr>
        <p:spPr>
          <a:xfrm>
            <a:off x="536575" y="763588"/>
            <a:ext cx="6694488" cy="3768725"/>
          </a:xfrm>
          <a:prstGeom prst="rect">
            <a:avLst/>
          </a:prstGeom>
        </p:spPr>
      </p:sp>
      <p:sp>
        <p:nvSpPr>
          <p:cNvPr id="473" name="PlaceHolder 2"/>
          <p:cNvSpPr>
            <a:spLocks noGrp="1"/>
          </p:cNvSpPr>
          <p:nvPr>
            <p:ph type="body"/>
          </p:nvPr>
        </p:nvSpPr>
        <p:spPr>
          <a:xfrm>
            <a:off x="777240" y="4777560"/>
            <a:ext cx="6214320" cy="4522680"/>
          </a:xfrm>
          <a:prstGeom prst="rect">
            <a:avLst/>
          </a:prstGeom>
        </p:spPr>
        <p:txBody>
          <a:bodyPr lIns="0" tIns="0" rIns="0" bIns="0">
            <a:noAutofit/>
          </a:bodyPr>
          <a:lstStyle/>
          <a:p>
            <a:endParaRPr lang="en-US" sz="2000" b="0" strike="noStrike" spc="-1" dirty="0">
              <a:latin typeface="Arial"/>
            </a:endParaRPr>
          </a:p>
        </p:txBody>
      </p:sp>
      <p:sp>
        <p:nvSpPr>
          <p:cNvPr id="474" name="CustomShape 3"/>
          <p:cNvSpPr/>
          <p:nvPr/>
        </p:nvSpPr>
        <p:spPr>
          <a:xfrm>
            <a:off x="4399200" y="9555480"/>
            <a:ext cx="3369600" cy="499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pPr>
            <a:fld id="{00D01D9F-8197-45EE-805B-51A209D025AB}" type="slidenum">
              <a:rPr lang="en-US" sz="1400" b="0" strike="noStrike" spc="-1">
                <a:solidFill>
                  <a:srgbClr val="000000"/>
                </a:solidFill>
                <a:latin typeface="Times New Roman"/>
                <a:ea typeface="+mn-ea"/>
              </a:rPr>
              <a:t>1</a:t>
            </a:fld>
            <a:endParaRPr lang="en-US" sz="1400" b="0" strike="noStrike" spc="-1">
              <a:latin typeface="Arial"/>
            </a:endParaRPr>
          </a:p>
        </p:txBody>
      </p:sp>
    </p:spTree>
    <p:extLst>
      <p:ext uri="{BB962C8B-B14F-4D97-AF65-F5344CB8AC3E}">
        <p14:creationId xmlns:p14="http://schemas.microsoft.com/office/powerpoint/2010/main" val="21718587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4988" y="763588"/>
            <a:ext cx="6700837" cy="3771900"/>
          </a:xfrm>
        </p:spPr>
      </p:sp>
      <p:sp>
        <p:nvSpPr>
          <p:cNvPr id="3" name="Notes Placeholder 2"/>
          <p:cNvSpPr>
            <a:spLocks noGrp="1"/>
          </p:cNvSpPr>
          <p:nvPr>
            <p:ph type="body" idx="1"/>
          </p:nvPr>
        </p:nvSpPr>
        <p:spPr/>
        <p:txBody>
          <a:bodyPr/>
          <a:lstStyle/>
          <a:p>
            <a:r>
              <a:rPr lang="en-CN" dirty="0"/>
              <a:t>Fungi can infect more than 1 billion people globally and cause </a:t>
            </a:r>
            <a:r>
              <a:rPr lang="en-US" altLang="zh-CN" dirty="0"/>
              <a:t>3.8</a:t>
            </a:r>
            <a:r>
              <a:rPr lang="en-CN" dirty="0"/>
              <a:t> million deaths each year. </a:t>
            </a:r>
            <a:r>
              <a:rPr lang="en-GB" dirty="0"/>
              <a:t>A</a:t>
            </a:r>
            <a:r>
              <a:rPr lang="en-CN" dirty="0"/>
              <a:t>nd realizing this, actually, in 2022, WHO released a list of threatening fungi.Which you can see is not that many, but this list cause the majority of the fungal diseases. </a:t>
            </a:r>
            <a:r>
              <a:rPr lang="en-GB" dirty="0"/>
              <a:t>A</a:t>
            </a:r>
            <a:r>
              <a:rPr lang="en-CN" dirty="0"/>
              <a:t>nd for my PhD work, I </a:t>
            </a:r>
            <a:r>
              <a:rPr lang="en-US" altLang="zh-CN" dirty="0"/>
              <a:t>Mainly</a:t>
            </a:r>
            <a:r>
              <a:rPr lang="en-CN" dirty="0"/>
              <a:t> focus</a:t>
            </a:r>
            <a:r>
              <a:rPr lang="en-US" altLang="zh-CN" dirty="0"/>
              <a:t>ed</a:t>
            </a:r>
            <a:r>
              <a:rPr lang="en-CN" dirty="0"/>
              <a:t> on three fungal pathogens.</a:t>
            </a:r>
          </a:p>
        </p:txBody>
      </p:sp>
      <p:sp>
        <p:nvSpPr>
          <p:cNvPr id="4" name="Slide Number Placeholder 3"/>
          <p:cNvSpPr>
            <a:spLocks noGrp="1"/>
          </p:cNvSpPr>
          <p:nvPr>
            <p:ph type="sldNum"/>
          </p:nvPr>
        </p:nvSpPr>
        <p:spPr/>
        <p:txBody>
          <a:bodyPr/>
          <a:lstStyle/>
          <a:p>
            <a:pPr algn="r"/>
            <a:fld id="{C3746C8E-BC9E-4D1E-87E2-E419729F4B66}" type="slidenum">
              <a:rPr lang="en-US" sz="1400" b="0" strike="noStrike" spc="-1" smtClean="0">
                <a:latin typeface="Times New Roman"/>
              </a:rPr>
              <a:t>3</a:t>
            </a:fld>
            <a:endParaRPr lang="en-US" sz="1400" b="0" strike="noStrike" spc="-1">
              <a:latin typeface="Times New Roman"/>
            </a:endParaRPr>
          </a:p>
        </p:txBody>
      </p:sp>
    </p:spTree>
    <p:extLst>
      <p:ext uri="{BB962C8B-B14F-4D97-AF65-F5344CB8AC3E}">
        <p14:creationId xmlns:p14="http://schemas.microsoft.com/office/powerpoint/2010/main" val="4199710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4988" y="763588"/>
            <a:ext cx="6700837" cy="3771900"/>
          </a:xfrm>
        </p:spPr>
      </p:sp>
      <p:sp>
        <p:nvSpPr>
          <p:cNvPr id="3" name="Notes Placeholder 2"/>
          <p:cNvSpPr>
            <a:spLocks noGrp="1"/>
          </p:cNvSpPr>
          <p:nvPr>
            <p:ph type="body" idx="1"/>
          </p:nvPr>
        </p:nvSpPr>
        <p:spPr/>
        <p:txBody>
          <a:bodyPr/>
          <a:lstStyle/>
          <a:p>
            <a:r>
              <a:rPr lang="en-CN" dirty="0"/>
              <a:t>Aspergillus fumigatus is an opportunistic pathogen causing invasive aspergillosis mainly in lung and other sides. Candida albicans commonly colonizes mucosae or surfaces and can cause infections. Rhizopus oryzae causes mucormycosis mainly affecting lungs, skins and Gastrointestinal tract.</a:t>
            </a:r>
            <a:r>
              <a:rPr lang="zh-CN" altLang="en-US" dirty="0"/>
              <a:t> </a:t>
            </a:r>
            <a:r>
              <a:rPr lang="en-US" altLang="zh-CN" dirty="0"/>
              <a:t>As you can see here, on the right side, the fungi can Infect</a:t>
            </a:r>
            <a:r>
              <a:rPr lang="zh-CN" altLang="en-US" dirty="0"/>
              <a:t> </a:t>
            </a:r>
            <a:r>
              <a:rPr lang="en-US" altLang="zh-CN" dirty="0"/>
              <a:t>multiple human tissues, like oral cavity, lungs, gastrointestinal tract, vagina, skins, and many, many others.</a:t>
            </a:r>
            <a:endParaRPr lang="en-CN" dirty="0"/>
          </a:p>
        </p:txBody>
      </p:sp>
      <p:sp>
        <p:nvSpPr>
          <p:cNvPr id="4" name="Slide Number Placeholder 3"/>
          <p:cNvSpPr>
            <a:spLocks noGrp="1"/>
          </p:cNvSpPr>
          <p:nvPr>
            <p:ph type="sldNum"/>
          </p:nvPr>
        </p:nvSpPr>
        <p:spPr/>
        <p:txBody>
          <a:bodyPr/>
          <a:lstStyle/>
          <a:p>
            <a:pPr algn="r"/>
            <a:fld id="{C3746C8E-BC9E-4D1E-87E2-E419729F4B66}" type="slidenum">
              <a:rPr lang="en-US" sz="1400" b="0" strike="noStrike" spc="-1" smtClean="0">
                <a:latin typeface="Times New Roman"/>
              </a:rPr>
              <a:t>4</a:t>
            </a:fld>
            <a:endParaRPr lang="en-US" sz="1400" b="0" strike="noStrike" spc="-1">
              <a:latin typeface="Times New Roman"/>
            </a:endParaRPr>
          </a:p>
        </p:txBody>
      </p:sp>
    </p:spTree>
    <p:extLst>
      <p:ext uri="{BB962C8B-B14F-4D97-AF65-F5344CB8AC3E}">
        <p14:creationId xmlns:p14="http://schemas.microsoft.com/office/powerpoint/2010/main" val="33034507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4988" y="763588"/>
            <a:ext cx="6700837" cy="3771900"/>
          </a:xfrm>
        </p:spPr>
      </p:sp>
      <p:sp>
        <p:nvSpPr>
          <p:cNvPr id="3" name="Notes Placeholder 2"/>
          <p:cNvSpPr>
            <a:spLocks noGrp="1"/>
          </p:cNvSpPr>
          <p:nvPr>
            <p:ph type="body" idx="1"/>
          </p:nvPr>
        </p:nvSpPr>
        <p:spPr/>
        <p:txBody>
          <a:bodyPr/>
          <a:lstStyle/>
          <a:p>
            <a:r>
              <a:rPr lang="en-US" altLang="zh-CN" dirty="0"/>
              <a:t>Within the years, scientists have developed diagnoses and treatments for fungal diseases.</a:t>
            </a:r>
            <a:r>
              <a:rPr lang="zh-CN" altLang="en-US" dirty="0"/>
              <a:t> </a:t>
            </a:r>
            <a:r>
              <a:rPr lang="en-US" altLang="zh-CN" dirty="0"/>
              <a:t>But the antifungal agents are limited to three major categories, and of course, within a year, fungi have developed increasing resistance, and that’s why it urges us to develop novel antifungal therapies, which is of course, a long term goal.</a:t>
            </a:r>
            <a:endParaRPr lang="en-CN" dirty="0"/>
          </a:p>
        </p:txBody>
      </p:sp>
      <p:sp>
        <p:nvSpPr>
          <p:cNvPr id="4" name="Slide Number Placeholder 3"/>
          <p:cNvSpPr>
            <a:spLocks noGrp="1"/>
          </p:cNvSpPr>
          <p:nvPr>
            <p:ph type="sldNum"/>
          </p:nvPr>
        </p:nvSpPr>
        <p:spPr/>
        <p:txBody>
          <a:bodyPr/>
          <a:lstStyle/>
          <a:p>
            <a:pPr algn="r"/>
            <a:fld id="{C3746C8E-BC9E-4D1E-87E2-E419729F4B66}" type="slidenum">
              <a:rPr lang="en-US" sz="1400" b="0" strike="noStrike" spc="-1" smtClean="0">
                <a:latin typeface="Times New Roman"/>
              </a:rPr>
              <a:t>5</a:t>
            </a:fld>
            <a:endParaRPr lang="en-US" sz="1400" b="0" strike="noStrike" spc="-1">
              <a:latin typeface="Times New Roman"/>
            </a:endParaRPr>
          </a:p>
        </p:txBody>
      </p:sp>
    </p:spTree>
    <p:extLst>
      <p:ext uri="{BB962C8B-B14F-4D97-AF65-F5344CB8AC3E}">
        <p14:creationId xmlns:p14="http://schemas.microsoft.com/office/powerpoint/2010/main" val="28438421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4988" y="763588"/>
            <a:ext cx="6700837" cy="3771900"/>
          </a:xfrm>
        </p:spPr>
      </p:sp>
      <p:sp>
        <p:nvSpPr>
          <p:cNvPr id="3" name="Notes Placeholder 2"/>
          <p:cNvSpPr>
            <a:spLocks noGrp="1"/>
          </p:cNvSpPr>
          <p:nvPr>
            <p:ph type="body" idx="1"/>
          </p:nvPr>
        </p:nvSpPr>
        <p:spPr/>
        <p:txBody>
          <a:bodyPr/>
          <a:lstStyle/>
          <a:p>
            <a:r>
              <a:rPr lang="en-GB" dirty="0"/>
              <a:t>What you may not know is RNA can also sometimes base pair into so called A form double stranded RNA, and compare to the typical B form DNA, double stranded RNA is major groove is deeper and narrower, while minor groove is wider and shallower.</a:t>
            </a:r>
            <a:r>
              <a:rPr lang="zh-CN" altLang="en-US" dirty="0"/>
              <a:t> </a:t>
            </a:r>
            <a:r>
              <a:rPr lang="en-US" altLang="zh-CN" dirty="0"/>
              <a:t>this is the main feature proteins bind to double stranded RNA.</a:t>
            </a:r>
            <a:r>
              <a:rPr lang="zh-CN" altLang="en-US" dirty="0"/>
              <a:t> </a:t>
            </a:r>
            <a:r>
              <a:rPr lang="en-US" altLang="zh-CN" dirty="0"/>
              <a:t>And when they bind together, they start to have functions in the cells.</a:t>
            </a:r>
            <a:r>
              <a:rPr lang="zh-CN" altLang="en-US" dirty="0"/>
              <a:t> </a:t>
            </a:r>
            <a:r>
              <a:rPr lang="en-US" altLang="zh-CN" dirty="0"/>
              <a:t>For example, RNA interference, or RNAi for short, is a basic is a conserve mechanism which has been found in many organisms, including humans, including some</a:t>
            </a:r>
            <a:r>
              <a:rPr lang="zh-CN" altLang="en-US" dirty="0"/>
              <a:t> </a:t>
            </a:r>
            <a:r>
              <a:rPr lang="en-US" altLang="zh-CN" dirty="0"/>
              <a:t>fungi.</a:t>
            </a:r>
            <a:r>
              <a:rPr lang="zh-CN" altLang="en-US" dirty="0"/>
              <a:t> </a:t>
            </a:r>
            <a:r>
              <a:rPr lang="en-US" altLang="zh-CN" dirty="0"/>
              <a:t>It usually starts with a precursor double stranded RNA, and then dicer proteins recognize and cleaves double stranded RNA to form small RNA duplexes. After that, </a:t>
            </a:r>
            <a:r>
              <a:rPr lang="en-US" altLang="zh-CN" dirty="0" err="1"/>
              <a:t>argonaute</a:t>
            </a:r>
            <a:r>
              <a:rPr lang="en-US" altLang="zh-CN" dirty="0"/>
              <a:t> proteins take over one of the strands and guide to the target mRNA, and this will eventually cause gene silencing.</a:t>
            </a:r>
            <a:r>
              <a:rPr lang="zh-CN" altLang="en-US" dirty="0"/>
              <a:t> </a:t>
            </a:r>
            <a:r>
              <a:rPr lang="en-US" altLang="zh-CN" dirty="0"/>
              <a:t>We think it’s worth exploring because it can be a novel antifungal therapy with gene silencing to kill some specific genes in the fungi.</a:t>
            </a:r>
            <a:endParaRPr lang="en-GB" dirty="0"/>
          </a:p>
        </p:txBody>
      </p:sp>
      <p:sp>
        <p:nvSpPr>
          <p:cNvPr id="4" name="Slide Number Placeholder 3"/>
          <p:cNvSpPr>
            <a:spLocks noGrp="1"/>
          </p:cNvSpPr>
          <p:nvPr>
            <p:ph type="sldNum"/>
          </p:nvPr>
        </p:nvSpPr>
        <p:spPr/>
        <p:txBody>
          <a:bodyPr/>
          <a:lstStyle/>
          <a:p>
            <a:pPr algn="r"/>
            <a:fld id="{C3746C8E-BC9E-4D1E-87E2-E419729F4B66}" type="slidenum">
              <a:rPr lang="en-US" sz="1400" b="0" strike="noStrike" spc="-1" smtClean="0">
                <a:latin typeface="Times New Roman"/>
              </a:rPr>
              <a:t>6</a:t>
            </a:fld>
            <a:endParaRPr lang="en-US" sz="1400" b="0" strike="noStrike" spc="-1">
              <a:latin typeface="Times New Roman"/>
            </a:endParaRPr>
          </a:p>
        </p:txBody>
      </p:sp>
    </p:spTree>
    <p:extLst>
      <p:ext uri="{BB962C8B-B14F-4D97-AF65-F5344CB8AC3E}">
        <p14:creationId xmlns:p14="http://schemas.microsoft.com/office/powerpoint/2010/main" val="18873276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4988" y="763588"/>
            <a:ext cx="6700837" cy="3771900"/>
          </a:xfrm>
        </p:spPr>
      </p:sp>
      <p:sp>
        <p:nvSpPr>
          <p:cNvPr id="3" name="Notes Placeholder 2"/>
          <p:cNvSpPr>
            <a:spLocks noGrp="1"/>
          </p:cNvSpPr>
          <p:nvPr>
            <p:ph type="body" idx="1"/>
          </p:nvPr>
        </p:nvSpPr>
        <p:spPr/>
        <p:txBody>
          <a:bodyPr/>
          <a:lstStyle/>
          <a:p>
            <a:r>
              <a:rPr lang="en-CN" dirty="0"/>
              <a:t>That’s basically the idea of my first project to investigate double stranded RNA- initiated RNA interference in the human fungal pathogen Aspergillus fumigatus.</a:t>
            </a:r>
          </a:p>
        </p:txBody>
      </p:sp>
      <p:sp>
        <p:nvSpPr>
          <p:cNvPr id="4" name="Slide Number Placeholder 3"/>
          <p:cNvSpPr>
            <a:spLocks noGrp="1"/>
          </p:cNvSpPr>
          <p:nvPr>
            <p:ph type="sldNum"/>
          </p:nvPr>
        </p:nvSpPr>
        <p:spPr/>
        <p:txBody>
          <a:bodyPr/>
          <a:lstStyle/>
          <a:p>
            <a:pPr algn="r"/>
            <a:fld id="{C3746C8E-BC9E-4D1E-87E2-E419729F4B66}" type="slidenum">
              <a:rPr lang="en-US" sz="1400" b="0" strike="noStrike" spc="-1" smtClean="0">
                <a:latin typeface="Times New Roman"/>
              </a:rPr>
              <a:t>7</a:t>
            </a:fld>
            <a:endParaRPr lang="en-US" sz="1400" b="0" strike="noStrike" spc="-1">
              <a:latin typeface="Times New Roman"/>
            </a:endParaRPr>
          </a:p>
        </p:txBody>
      </p:sp>
    </p:spTree>
    <p:extLst>
      <p:ext uri="{BB962C8B-B14F-4D97-AF65-F5344CB8AC3E}">
        <p14:creationId xmlns:p14="http://schemas.microsoft.com/office/powerpoint/2010/main" val="25718146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4988" y="763588"/>
            <a:ext cx="6700837" cy="3771900"/>
          </a:xfrm>
        </p:spPr>
      </p:sp>
      <p:sp>
        <p:nvSpPr>
          <p:cNvPr id="3" name="Notes Placeholder 2"/>
          <p:cNvSpPr>
            <a:spLocks noGrp="1"/>
          </p:cNvSpPr>
          <p:nvPr>
            <p:ph type="body" idx="1"/>
          </p:nvPr>
        </p:nvSpPr>
        <p:spPr/>
        <p:txBody>
          <a:bodyPr/>
          <a:lstStyle/>
          <a:p>
            <a:r>
              <a:rPr lang="en-GB" dirty="0"/>
              <a:t>But sometimes the promoter is leaky.</a:t>
            </a:r>
          </a:p>
        </p:txBody>
      </p:sp>
      <p:sp>
        <p:nvSpPr>
          <p:cNvPr id="4" name="Slide Number Placeholder 3"/>
          <p:cNvSpPr>
            <a:spLocks noGrp="1"/>
          </p:cNvSpPr>
          <p:nvPr>
            <p:ph type="sldNum"/>
          </p:nvPr>
        </p:nvSpPr>
        <p:spPr/>
        <p:txBody>
          <a:bodyPr/>
          <a:lstStyle/>
          <a:p>
            <a:pPr algn="r"/>
            <a:fld id="{9003D11F-68C1-41DE-A327-1063FE63178B}" type="slidenum">
              <a:rPr lang="en-US" sz="1400" b="0" strike="noStrike" spc="-1" smtClean="0">
                <a:latin typeface="Times New Roman"/>
              </a:rPr>
              <a:t>8</a:t>
            </a:fld>
            <a:endParaRPr lang="en-US" sz="1400" b="0" strike="noStrike" spc="-1">
              <a:latin typeface="Times New Roman"/>
            </a:endParaRPr>
          </a:p>
        </p:txBody>
      </p:sp>
    </p:spTree>
    <p:extLst>
      <p:ext uri="{BB962C8B-B14F-4D97-AF65-F5344CB8AC3E}">
        <p14:creationId xmlns:p14="http://schemas.microsoft.com/office/powerpoint/2010/main" val="34062765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4988" y="763588"/>
            <a:ext cx="6700837" cy="3771900"/>
          </a:xfrm>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p:nvPr>
        </p:nvSpPr>
        <p:spPr/>
        <p:txBody>
          <a:bodyPr/>
          <a:lstStyle/>
          <a:p>
            <a:pPr algn="r"/>
            <a:fld id="{9003D11F-68C1-41DE-A327-1063FE63178B}" type="slidenum">
              <a:rPr lang="en-US" sz="1400" b="0" strike="noStrike" spc="-1" smtClean="0">
                <a:latin typeface="Times New Roman"/>
              </a:rPr>
              <a:t>9</a:t>
            </a:fld>
            <a:endParaRPr lang="en-US" sz="1400" b="0" strike="noStrike" spc="-1">
              <a:latin typeface="Times New Roman"/>
            </a:endParaRPr>
          </a:p>
        </p:txBody>
      </p:sp>
    </p:spTree>
    <p:extLst>
      <p:ext uri="{BB962C8B-B14F-4D97-AF65-F5344CB8AC3E}">
        <p14:creationId xmlns:p14="http://schemas.microsoft.com/office/powerpoint/2010/main" val="21911130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4988" y="763588"/>
            <a:ext cx="6700837" cy="3771900"/>
          </a:xfrm>
        </p:spPr>
      </p:sp>
      <p:sp>
        <p:nvSpPr>
          <p:cNvPr id="3" name="Notes Placeholder 2"/>
          <p:cNvSpPr>
            <a:spLocks noGrp="1"/>
          </p:cNvSpPr>
          <p:nvPr>
            <p:ph type="body" idx="1"/>
          </p:nvPr>
        </p:nvSpPr>
        <p:spPr/>
        <p:txBody>
          <a:bodyPr/>
          <a:lstStyle/>
          <a:p>
            <a:r>
              <a:rPr lang="en-GB" dirty="0"/>
              <a:t>T</a:t>
            </a:r>
            <a:r>
              <a:rPr lang="en-CN" dirty="0"/>
              <a:t>o answer that, we did a simple dry weight measurement of the fungal hyphae. </a:t>
            </a:r>
            <a:r>
              <a:rPr lang="en-GB" dirty="0"/>
              <a:t>Three strains, </a:t>
            </a:r>
            <a:r>
              <a:rPr lang="en-GB" dirty="0" err="1"/>
              <a:t>wt</a:t>
            </a:r>
            <a:r>
              <a:rPr lang="en-GB" dirty="0"/>
              <a:t>, </a:t>
            </a:r>
            <a:r>
              <a:rPr lang="en-GB" dirty="0" err="1"/>
              <a:t>wt</a:t>
            </a:r>
            <a:r>
              <a:rPr lang="en-GB" dirty="0"/>
              <a:t>-IRT and </a:t>
            </a:r>
            <a:r>
              <a:rPr lang="en-GB" dirty="0" err="1"/>
              <a:t>dclAB-iRT</a:t>
            </a:r>
            <a:r>
              <a:rPr lang="en-GB" dirty="0"/>
              <a:t>, y axis is the dry weight. D</a:t>
            </a:r>
            <a:r>
              <a:rPr lang="en-CN" dirty="0"/>
              <a:t>ox here is to induce the IRT structure. </a:t>
            </a:r>
            <a:r>
              <a:rPr lang="en-GB" dirty="0"/>
              <a:t>N</a:t>
            </a:r>
            <a:r>
              <a:rPr lang="en-CN" dirty="0"/>
              <a:t>o dox, the strains supposedly should look like wt, but sometimes the induction of the promoter is liqky. </a:t>
            </a:r>
            <a:r>
              <a:rPr lang="en-GB" dirty="0"/>
              <a:t>W</a:t>
            </a:r>
            <a:r>
              <a:rPr lang="en-CN" dirty="0"/>
              <a:t>hen we looked at the cols with dox, the dry weight in irt overexpression strains were both lower compared with the wt. and if you could still remember, we observed sRNAs in wt-irt strain but not in dclAB-irt strain. </a:t>
            </a:r>
            <a:r>
              <a:rPr lang="en-GB" dirty="0"/>
              <a:t>T</a:t>
            </a:r>
            <a:r>
              <a:rPr lang="en-CN" dirty="0"/>
              <a:t>his suggests that overexpression of the irt gene might inhibit the fungal growht, which is sRNA-indendent. </a:t>
            </a:r>
          </a:p>
        </p:txBody>
      </p:sp>
      <p:sp>
        <p:nvSpPr>
          <p:cNvPr id="4" name="Slide Number Placeholder 3"/>
          <p:cNvSpPr>
            <a:spLocks noGrp="1"/>
          </p:cNvSpPr>
          <p:nvPr>
            <p:ph type="sldNum"/>
          </p:nvPr>
        </p:nvSpPr>
        <p:spPr/>
        <p:txBody>
          <a:bodyPr/>
          <a:lstStyle/>
          <a:p>
            <a:pPr algn="r"/>
            <a:fld id="{9003D11F-68C1-41DE-A327-1063FE63178B}" type="slidenum">
              <a:rPr lang="en-US" sz="1400" b="0" strike="noStrike" spc="-1" smtClean="0">
                <a:latin typeface="Times New Roman"/>
              </a:rPr>
              <a:t>10</a:t>
            </a:fld>
            <a:endParaRPr lang="en-US" sz="1400" b="0" strike="noStrike" spc="-1">
              <a:latin typeface="Times New Roman"/>
            </a:endParaRPr>
          </a:p>
        </p:txBody>
      </p:sp>
    </p:spTree>
    <p:extLst>
      <p:ext uri="{BB962C8B-B14F-4D97-AF65-F5344CB8AC3E}">
        <p14:creationId xmlns:p14="http://schemas.microsoft.com/office/powerpoint/2010/main" val="27237308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4988" y="763588"/>
            <a:ext cx="6700837" cy="3771900"/>
          </a:xfrm>
        </p:spPr>
      </p:sp>
      <p:sp>
        <p:nvSpPr>
          <p:cNvPr id="3" name="Notes Placeholder 2"/>
          <p:cNvSpPr>
            <a:spLocks noGrp="1"/>
          </p:cNvSpPr>
          <p:nvPr>
            <p:ph type="body" idx="1"/>
          </p:nvPr>
        </p:nvSpPr>
        <p:spPr/>
        <p:txBody>
          <a:bodyPr/>
          <a:lstStyle/>
          <a:p>
            <a:r>
              <a:rPr lang="en-CN" dirty="0"/>
              <a:t>Next, I would like to move to my second project, which focuses on the </a:t>
            </a:r>
            <a:r>
              <a:rPr lang="en-US" altLang="zh-CN" dirty="0"/>
              <a:t>host</a:t>
            </a:r>
            <a:r>
              <a:rPr lang="en-CN" dirty="0"/>
              <a:t> cells.</a:t>
            </a:r>
            <a:r>
              <a:rPr lang="zh-CN" altLang="en-US" dirty="0"/>
              <a:t> </a:t>
            </a:r>
            <a:r>
              <a:rPr lang="en-US" altLang="zh-CN" dirty="0"/>
              <a:t>The human system is much more complex.</a:t>
            </a:r>
            <a:r>
              <a:rPr lang="zh-CN" altLang="en-US" dirty="0"/>
              <a:t> </a:t>
            </a:r>
            <a:r>
              <a:rPr lang="en-US" altLang="zh-CN" dirty="0"/>
              <a:t>For example, proteins that bind to double stranded RNA, humans have twice the number than </a:t>
            </a:r>
            <a:r>
              <a:rPr lang="en-US" altLang="zh-CN" dirty="0" err="1"/>
              <a:t>fungi.And</a:t>
            </a:r>
            <a:r>
              <a:rPr lang="en-US" altLang="zh-CN" dirty="0"/>
              <a:t> I was mainly focusing on The interaction of</a:t>
            </a:r>
            <a:r>
              <a:rPr lang="zh-CN" altLang="en-US" dirty="0"/>
              <a:t> </a:t>
            </a:r>
            <a:r>
              <a:rPr lang="en-US" altLang="zh-CN" dirty="0"/>
              <a:t>double stranded RNA and its binding protein, ADAR1.</a:t>
            </a:r>
            <a:endParaRPr lang="en-CN" dirty="0"/>
          </a:p>
        </p:txBody>
      </p:sp>
      <p:sp>
        <p:nvSpPr>
          <p:cNvPr id="4" name="Slide Number Placeholder 3"/>
          <p:cNvSpPr>
            <a:spLocks noGrp="1"/>
          </p:cNvSpPr>
          <p:nvPr>
            <p:ph type="sldNum"/>
          </p:nvPr>
        </p:nvSpPr>
        <p:spPr/>
        <p:txBody>
          <a:bodyPr/>
          <a:lstStyle/>
          <a:p>
            <a:pPr algn="r"/>
            <a:fld id="{C3746C8E-BC9E-4D1E-87E2-E419729F4B66}" type="slidenum">
              <a:rPr lang="en-US" sz="1400" b="0" strike="noStrike" spc="-1" smtClean="0">
                <a:latin typeface="Times New Roman"/>
              </a:rPr>
              <a:t>13</a:t>
            </a:fld>
            <a:endParaRPr lang="en-US" sz="1400" b="0" strike="noStrike" spc="-1">
              <a:latin typeface="Times New Roman"/>
            </a:endParaRPr>
          </a:p>
        </p:txBody>
      </p:sp>
    </p:spTree>
    <p:extLst>
      <p:ext uri="{BB962C8B-B14F-4D97-AF65-F5344CB8AC3E}">
        <p14:creationId xmlns:p14="http://schemas.microsoft.com/office/powerpoint/2010/main" val="41793465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 name="PlaceHolder 1"/>
          <p:cNvSpPr>
            <a:spLocks noGrp="1" noRot="1" noChangeAspect="1"/>
          </p:cNvSpPr>
          <p:nvPr>
            <p:ph type="sldImg"/>
          </p:nvPr>
        </p:nvSpPr>
        <p:spPr>
          <a:xfrm>
            <a:off x="536575" y="763588"/>
            <a:ext cx="6694488" cy="3768725"/>
          </a:xfrm>
          <a:prstGeom prst="rect">
            <a:avLst/>
          </a:prstGeom>
        </p:spPr>
      </p:sp>
      <p:sp>
        <p:nvSpPr>
          <p:cNvPr id="346" name="PlaceHolder 2"/>
          <p:cNvSpPr>
            <a:spLocks noGrp="1"/>
          </p:cNvSpPr>
          <p:nvPr>
            <p:ph type="body"/>
          </p:nvPr>
        </p:nvSpPr>
        <p:spPr>
          <a:xfrm>
            <a:off x="777240" y="4777560"/>
            <a:ext cx="6214320" cy="4522680"/>
          </a:xfrm>
          <a:prstGeom prst="rect">
            <a:avLst/>
          </a:prstGeom>
        </p:spPr>
        <p:txBody>
          <a:bodyPr lIns="0" tIns="0" rIns="0" bIns="0">
            <a:noAutofit/>
          </a:bodyPr>
          <a:lstStyle/>
          <a:p>
            <a:pPr marL="216000" indent="-213120">
              <a:lnSpc>
                <a:spcPct val="100000"/>
              </a:lnSpc>
              <a:tabLst>
                <a:tab pos="0" algn="l"/>
              </a:tabLst>
            </a:pPr>
            <a:r>
              <a:rPr lang="en-US" sz="2000" b="0" strike="noStrike" spc="-1" dirty="0">
                <a:latin typeface="Arial"/>
              </a:rPr>
              <a:t>it’s an important modulator of the immune response. ADAR1 usually binds to whatever dsRNA that is close to it, and deaminates A (adonize) to I (inosine), this is called A-to-I RNA editing. The host considers the deaminated dsRNA as self. However, the ADAR1 is deficient, there won’t be any “self” “non-self” discrimination, eventually this will trigger IFN response and cell death. </a:t>
            </a:r>
          </a:p>
        </p:txBody>
      </p:sp>
      <p:sp>
        <p:nvSpPr>
          <p:cNvPr id="347" name="CustomShape 3"/>
          <p:cNvSpPr/>
          <p:nvPr/>
        </p:nvSpPr>
        <p:spPr>
          <a:xfrm>
            <a:off x="4399200" y="9555480"/>
            <a:ext cx="3369600" cy="499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pPr>
            <a:fld id="{03DD260A-55A9-4A7B-8834-76F59B01F673}" type="slidenum">
              <a:rPr lang="en-US" sz="1400" b="0" strike="noStrike" spc="-1">
                <a:solidFill>
                  <a:srgbClr val="000000"/>
                </a:solidFill>
                <a:latin typeface="Times New Roman"/>
                <a:ea typeface="+mn-ea"/>
              </a:rPr>
              <a:t>15</a:t>
            </a:fld>
            <a:endParaRPr lang="en-US" sz="1400" b="0" strike="noStrike" spc="-1">
              <a:latin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4988" y="763588"/>
            <a:ext cx="6700837" cy="3771900"/>
          </a:xfrm>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p:nvPr>
        </p:nvSpPr>
        <p:spPr/>
        <p:txBody>
          <a:bodyPr/>
          <a:lstStyle/>
          <a:p>
            <a:pPr algn="r"/>
            <a:fld id="{C3746C8E-BC9E-4D1E-87E2-E419729F4B66}" type="slidenum">
              <a:rPr lang="en-US" sz="1400" b="0" strike="noStrike" spc="-1" smtClean="0">
                <a:latin typeface="Times New Roman"/>
              </a:rPr>
              <a:t>16</a:t>
            </a:fld>
            <a:endParaRPr lang="en-US" sz="1400" b="0" strike="noStrike" spc="-1">
              <a:latin typeface="Times New Roman"/>
            </a:endParaRPr>
          </a:p>
        </p:txBody>
      </p:sp>
    </p:spTree>
    <p:extLst>
      <p:ext uri="{BB962C8B-B14F-4D97-AF65-F5344CB8AC3E}">
        <p14:creationId xmlns:p14="http://schemas.microsoft.com/office/powerpoint/2010/main" val="25914956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4988" y="763588"/>
            <a:ext cx="6700837" cy="3771900"/>
          </a:xfrm>
        </p:spPr>
      </p:sp>
      <p:sp>
        <p:nvSpPr>
          <p:cNvPr id="3" name="Notes Placeholder 2"/>
          <p:cNvSpPr>
            <a:spLocks noGrp="1"/>
          </p:cNvSpPr>
          <p:nvPr>
            <p:ph type="body" idx="1"/>
          </p:nvPr>
        </p:nvSpPr>
        <p:spPr/>
        <p:txBody>
          <a:bodyPr/>
          <a:lstStyle/>
          <a:p>
            <a:r>
              <a:rPr lang="en-CN" dirty="0"/>
              <a:t>The A to I editing pattern is representative of all the overall transcriptome. </a:t>
            </a:r>
            <a:r>
              <a:rPr lang="en-GB" dirty="0"/>
              <a:t>S</a:t>
            </a:r>
            <a:r>
              <a:rPr lang="en-CN" dirty="0"/>
              <a:t>ince we are Studying growing cells, we expect to find sizing cell preparation. CL becomes encourages the interferon response, and we see editing of interferon response genes. </a:t>
            </a:r>
            <a:r>
              <a:rPr lang="en-GB" dirty="0"/>
              <a:t>B</a:t>
            </a:r>
            <a:r>
              <a:rPr lang="en-CN" dirty="0"/>
              <a:t>ut splicing signal was surprising.</a:t>
            </a:r>
          </a:p>
        </p:txBody>
      </p:sp>
      <p:sp>
        <p:nvSpPr>
          <p:cNvPr id="4" name="Slide Number Placeholder 3"/>
          <p:cNvSpPr>
            <a:spLocks noGrp="1"/>
          </p:cNvSpPr>
          <p:nvPr>
            <p:ph type="sldNum"/>
          </p:nvPr>
        </p:nvSpPr>
        <p:spPr/>
        <p:txBody>
          <a:bodyPr/>
          <a:lstStyle/>
          <a:p>
            <a:pPr algn="r"/>
            <a:fld id="{C3746C8E-BC9E-4D1E-87E2-E419729F4B66}" type="slidenum">
              <a:rPr lang="en-US" sz="1400" b="0" strike="noStrike" spc="-1" smtClean="0">
                <a:latin typeface="Times New Roman"/>
              </a:rPr>
              <a:t>17</a:t>
            </a:fld>
            <a:endParaRPr lang="en-US" sz="1400" b="0" strike="noStrike" spc="-1">
              <a:latin typeface="Times New Roman"/>
            </a:endParaRPr>
          </a:p>
        </p:txBody>
      </p:sp>
    </p:spTree>
    <p:extLst>
      <p:ext uri="{BB962C8B-B14F-4D97-AF65-F5344CB8AC3E}">
        <p14:creationId xmlns:p14="http://schemas.microsoft.com/office/powerpoint/2010/main" val="35021537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4988" y="763588"/>
            <a:ext cx="6700837" cy="3771900"/>
          </a:xfrm>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p:nvPr>
        </p:nvSpPr>
        <p:spPr/>
        <p:txBody>
          <a:bodyPr/>
          <a:lstStyle/>
          <a:p>
            <a:pPr algn="r"/>
            <a:fld id="{C3746C8E-BC9E-4D1E-87E2-E419729F4B66}" type="slidenum">
              <a:rPr lang="en-US" sz="1400" b="0" strike="noStrike" spc="-1" smtClean="0">
                <a:latin typeface="Times New Roman"/>
              </a:rPr>
              <a:t>20</a:t>
            </a:fld>
            <a:endParaRPr lang="en-US" sz="1400" b="0" strike="noStrike" spc="-1">
              <a:latin typeface="Times New Roman"/>
            </a:endParaRPr>
          </a:p>
        </p:txBody>
      </p:sp>
    </p:spTree>
    <p:extLst>
      <p:ext uri="{BB962C8B-B14F-4D97-AF65-F5344CB8AC3E}">
        <p14:creationId xmlns:p14="http://schemas.microsoft.com/office/powerpoint/2010/main" val="37682127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4988" y="763588"/>
            <a:ext cx="6700837" cy="3771900"/>
          </a:xfrm>
        </p:spPr>
      </p:sp>
      <p:sp>
        <p:nvSpPr>
          <p:cNvPr id="3" name="Notes Placeholder 2"/>
          <p:cNvSpPr>
            <a:spLocks noGrp="1"/>
          </p:cNvSpPr>
          <p:nvPr>
            <p:ph type="body" idx="1"/>
          </p:nvPr>
        </p:nvSpPr>
        <p:spPr/>
        <p:txBody>
          <a:bodyPr/>
          <a:lstStyle/>
          <a:p>
            <a:r>
              <a:rPr lang="en-CN" dirty="0"/>
              <a:t>When studying host-pathogen interactions, one of the most interesting topics is how fungi deliver signals to the host, and how host sense the signals and trigger immune response.</a:t>
            </a:r>
            <a:r>
              <a:rPr lang="zh-CN" altLang="en-US" dirty="0"/>
              <a:t> </a:t>
            </a:r>
            <a:r>
              <a:rPr lang="en-CN" altLang="zh-CN" dirty="0"/>
              <a:t>In the host, there’s a type of proteins called pathogen recognition receptor. They can recognize when a pathogen invades.NLRC5 belongs to this family and is localized in cytoplasm.</a:t>
            </a:r>
            <a:endParaRPr lang="en-CN" dirty="0"/>
          </a:p>
        </p:txBody>
      </p:sp>
      <p:sp>
        <p:nvSpPr>
          <p:cNvPr id="4" name="Slide Number Placeholder 3"/>
          <p:cNvSpPr>
            <a:spLocks noGrp="1"/>
          </p:cNvSpPr>
          <p:nvPr>
            <p:ph type="sldNum"/>
          </p:nvPr>
        </p:nvSpPr>
        <p:spPr/>
        <p:txBody>
          <a:bodyPr/>
          <a:lstStyle/>
          <a:p>
            <a:pPr algn="r"/>
            <a:fld id="{C3746C8E-BC9E-4D1E-87E2-E419729F4B66}" type="slidenum">
              <a:rPr lang="en-US" sz="1400" b="0" strike="noStrike" spc="-1" smtClean="0">
                <a:latin typeface="Times New Roman"/>
              </a:rPr>
              <a:t>22</a:t>
            </a:fld>
            <a:endParaRPr lang="en-US" sz="1400" b="0" strike="noStrike" spc="-1">
              <a:latin typeface="Times New Roman"/>
            </a:endParaRPr>
          </a:p>
        </p:txBody>
      </p:sp>
    </p:spTree>
    <p:extLst>
      <p:ext uri="{BB962C8B-B14F-4D97-AF65-F5344CB8AC3E}">
        <p14:creationId xmlns:p14="http://schemas.microsoft.com/office/powerpoint/2010/main" val="30459489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4" name="PlaceHolder 2"/>
          <p:cNvSpPr>
            <a:spLocks noGrp="1"/>
          </p:cNvSpPr>
          <p:nvPr>
            <p:ph type="subTitle"/>
          </p:nvPr>
        </p:nvSpPr>
        <p:spPr>
          <a:xfrm>
            <a:off x="457200" y="1204560"/>
            <a:ext cx="8229240" cy="29854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6" name="PlaceHolder 2"/>
          <p:cNvSpPr>
            <a:spLocks noGrp="1"/>
          </p:cNvSpPr>
          <p:nvPr>
            <p:ph type="body"/>
          </p:nvPr>
        </p:nvSpPr>
        <p:spPr>
          <a:xfrm>
            <a:off x="457200" y="1204560"/>
            <a:ext cx="8229240" cy="298548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8" name="PlaceHolder 2"/>
          <p:cNvSpPr>
            <a:spLocks noGrp="1"/>
          </p:cNvSpPr>
          <p:nvPr>
            <p:ph type="body"/>
          </p:nvPr>
        </p:nvSpPr>
        <p:spPr>
          <a:xfrm>
            <a:off x="457200" y="1204560"/>
            <a:ext cx="4015800" cy="298548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9" name="PlaceHolder 3"/>
          <p:cNvSpPr>
            <a:spLocks noGrp="1"/>
          </p:cNvSpPr>
          <p:nvPr>
            <p:ph type="body"/>
          </p:nvPr>
        </p:nvSpPr>
        <p:spPr>
          <a:xfrm>
            <a:off x="4674240" y="1204560"/>
            <a:ext cx="4015800" cy="298548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205200"/>
            <a:ext cx="8229240" cy="39844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3" name="PlaceHolder 2"/>
          <p:cNvSpPr>
            <a:spLocks noGrp="1"/>
          </p:cNvSpPr>
          <p:nvPr>
            <p:ph type="body"/>
          </p:nvPr>
        </p:nvSpPr>
        <p:spPr>
          <a:xfrm>
            <a:off x="45720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4" name="PlaceHolder 3"/>
          <p:cNvSpPr>
            <a:spLocks noGrp="1"/>
          </p:cNvSpPr>
          <p:nvPr>
            <p:ph type="body"/>
          </p:nvPr>
        </p:nvSpPr>
        <p:spPr>
          <a:xfrm>
            <a:off x="4674240" y="1204560"/>
            <a:ext cx="4015800" cy="298548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5" name="PlaceHolder 4"/>
          <p:cNvSpPr>
            <a:spLocks noGrp="1"/>
          </p:cNvSpPr>
          <p:nvPr>
            <p:ph type="body"/>
          </p:nvPr>
        </p:nvSpPr>
        <p:spPr>
          <a:xfrm>
            <a:off x="457200" y="276408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7" name="PlaceHolder 2"/>
          <p:cNvSpPr>
            <a:spLocks noGrp="1"/>
          </p:cNvSpPr>
          <p:nvPr>
            <p:ph type="body"/>
          </p:nvPr>
        </p:nvSpPr>
        <p:spPr>
          <a:xfrm>
            <a:off x="457200" y="1204560"/>
            <a:ext cx="4015800" cy="298548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8" name="PlaceHolder 3"/>
          <p:cNvSpPr>
            <a:spLocks noGrp="1"/>
          </p:cNvSpPr>
          <p:nvPr>
            <p:ph type="body"/>
          </p:nvPr>
        </p:nvSpPr>
        <p:spPr>
          <a:xfrm>
            <a:off x="467424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9" name="PlaceHolder 4"/>
          <p:cNvSpPr>
            <a:spLocks noGrp="1"/>
          </p:cNvSpPr>
          <p:nvPr>
            <p:ph type="body"/>
          </p:nvPr>
        </p:nvSpPr>
        <p:spPr>
          <a:xfrm>
            <a:off x="4674240" y="276408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21" name="PlaceHolder 2"/>
          <p:cNvSpPr>
            <a:spLocks noGrp="1"/>
          </p:cNvSpPr>
          <p:nvPr>
            <p:ph type="body"/>
          </p:nvPr>
        </p:nvSpPr>
        <p:spPr>
          <a:xfrm>
            <a:off x="45720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22" name="PlaceHolder 3"/>
          <p:cNvSpPr>
            <a:spLocks noGrp="1"/>
          </p:cNvSpPr>
          <p:nvPr>
            <p:ph type="body"/>
          </p:nvPr>
        </p:nvSpPr>
        <p:spPr>
          <a:xfrm>
            <a:off x="467424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23" name="PlaceHolder 4"/>
          <p:cNvSpPr>
            <a:spLocks noGrp="1"/>
          </p:cNvSpPr>
          <p:nvPr>
            <p:ph type="body"/>
          </p:nvPr>
        </p:nvSpPr>
        <p:spPr>
          <a:xfrm>
            <a:off x="457200" y="2764080"/>
            <a:ext cx="822924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25" name="PlaceHolder 2"/>
          <p:cNvSpPr>
            <a:spLocks noGrp="1"/>
          </p:cNvSpPr>
          <p:nvPr>
            <p:ph type="body"/>
          </p:nvPr>
        </p:nvSpPr>
        <p:spPr>
          <a:xfrm>
            <a:off x="457200" y="1204560"/>
            <a:ext cx="822924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26" name="PlaceHolder 3"/>
          <p:cNvSpPr>
            <a:spLocks noGrp="1"/>
          </p:cNvSpPr>
          <p:nvPr>
            <p:ph type="body"/>
          </p:nvPr>
        </p:nvSpPr>
        <p:spPr>
          <a:xfrm>
            <a:off x="457200" y="2764080"/>
            <a:ext cx="822924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28" name="PlaceHolder 2"/>
          <p:cNvSpPr>
            <a:spLocks noGrp="1"/>
          </p:cNvSpPr>
          <p:nvPr>
            <p:ph type="body"/>
          </p:nvPr>
        </p:nvSpPr>
        <p:spPr>
          <a:xfrm>
            <a:off x="45720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29" name="PlaceHolder 3"/>
          <p:cNvSpPr>
            <a:spLocks noGrp="1"/>
          </p:cNvSpPr>
          <p:nvPr>
            <p:ph type="body"/>
          </p:nvPr>
        </p:nvSpPr>
        <p:spPr>
          <a:xfrm>
            <a:off x="467424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30" name="PlaceHolder 4"/>
          <p:cNvSpPr>
            <a:spLocks noGrp="1"/>
          </p:cNvSpPr>
          <p:nvPr>
            <p:ph type="body"/>
          </p:nvPr>
        </p:nvSpPr>
        <p:spPr>
          <a:xfrm>
            <a:off x="457200" y="276408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31" name="PlaceHolder 5"/>
          <p:cNvSpPr>
            <a:spLocks noGrp="1"/>
          </p:cNvSpPr>
          <p:nvPr>
            <p:ph type="body"/>
          </p:nvPr>
        </p:nvSpPr>
        <p:spPr>
          <a:xfrm>
            <a:off x="4674240" y="276408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33" name="PlaceHolder 2"/>
          <p:cNvSpPr>
            <a:spLocks noGrp="1"/>
          </p:cNvSpPr>
          <p:nvPr>
            <p:ph type="body"/>
          </p:nvPr>
        </p:nvSpPr>
        <p:spPr>
          <a:xfrm>
            <a:off x="457200" y="120456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34" name="PlaceHolder 3"/>
          <p:cNvSpPr>
            <a:spLocks noGrp="1"/>
          </p:cNvSpPr>
          <p:nvPr>
            <p:ph type="body"/>
          </p:nvPr>
        </p:nvSpPr>
        <p:spPr>
          <a:xfrm>
            <a:off x="3239640" y="120456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35" name="PlaceHolder 4"/>
          <p:cNvSpPr>
            <a:spLocks noGrp="1"/>
          </p:cNvSpPr>
          <p:nvPr>
            <p:ph type="body"/>
          </p:nvPr>
        </p:nvSpPr>
        <p:spPr>
          <a:xfrm>
            <a:off x="6022080" y="120456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36" name="PlaceHolder 5"/>
          <p:cNvSpPr>
            <a:spLocks noGrp="1"/>
          </p:cNvSpPr>
          <p:nvPr>
            <p:ph type="body"/>
          </p:nvPr>
        </p:nvSpPr>
        <p:spPr>
          <a:xfrm>
            <a:off x="457200" y="276408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37" name="PlaceHolder 6"/>
          <p:cNvSpPr>
            <a:spLocks noGrp="1"/>
          </p:cNvSpPr>
          <p:nvPr>
            <p:ph type="body"/>
          </p:nvPr>
        </p:nvSpPr>
        <p:spPr>
          <a:xfrm>
            <a:off x="3239640" y="276408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38" name="PlaceHolder 7"/>
          <p:cNvSpPr>
            <a:spLocks noGrp="1"/>
          </p:cNvSpPr>
          <p:nvPr>
            <p:ph type="body"/>
          </p:nvPr>
        </p:nvSpPr>
        <p:spPr>
          <a:xfrm>
            <a:off x="6022080" y="276408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83" name="PlaceHolder 2"/>
          <p:cNvSpPr>
            <a:spLocks noGrp="1"/>
          </p:cNvSpPr>
          <p:nvPr>
            <p:ph type="subTitle"/>
          </p:nvPr>
        </p:nvSpPr>
        <p:spPr>
          <a:xfrm>
            <a:off x="457200" y="1204560"/>
            <a:ext cx="8229240" cy="29854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85" name="PlaceHolder 2"/>
          <p:cNvSpPr>
            <a:spLocks noGrp="1"/>
          </p:cNvSpPr>
          <p:nvPr>
            <p:ph type="body"/>
          </p:nvPr>
        </p:nvSpPr>
        <p:spPr>
          <a:xfrm>
            <a:off x="457200" y="1204560"/>
            <a:ext cx="8229240" cy="298548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87" name="PlaceHolder 2"/>
          <p:cNvSpPr>
            <a:spLocks noGrp="1"/>
          </p:cNvSpPr>
          <p:nvPr>
            <p:ph type="body"/>
          </p:nvPr>
        </p:nvSpPr>
        <p:spPr>
          <a:xfrm>
            <a:off x="457200" y="1204560"/>
            <a:ext cx="4015800" cy="298548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88" name="PlaceHolder 3"/>
          <p:cNvSpPr>
            <a:spLocks noGrp="1"/>
          </p:cNvSpPr>
          <p:nvPr>
            <p:ph type="body"/>
          </p:nvPr>
        </p:nvSpPr>
        <p:spPr>
          <a:xfrm>
            <a:off x="4674240" y="1204560"/>
            <a:ext cx="4015800" cy="298548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9"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0" name="PlaceHolder 1"/>
          <p:cNvSpPr>
            <a:spLocks noGrp="1"/>
          </p:cNvSpPr>
          <p:nvPr>
            <p:ph type="subTitle"/>
          </p:nvPr>
        </p:nvSpPr>
        <p:spPr>
          <a:xfrm>
            <a:off x="457200" y="205200"/>
            <a:ext cx="8229240" cy="39844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92" name="PlaceHolder 2"/>
          <p:cNvSpPr>
            <a:spLocks noGrp="1"/>
          </p:cNvSpPr>
          <p:nvPr>
            <p:ph type="body"/>
          </p:nvPr>
        </p:nvSpPr>
        <p:spPr>
          <a:xfrm>
            <a:off x="45720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93" name="PlaceHolder 3"/>
          <p:cNvSpPr>
            <a:spLocks noGrp="1"/>
          </p:cNvSpPr>
          <p:nvPr>
            <p:ph type="body"/>
          </p:nvPr>
        </p:nvSpPr>
        <p:spPr>
          <a:xfrm>
            <a:off x="4674240" y="1204560"/>
            <a:ext cx="4015800" cy="298548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94" name="PlaceHolder 4"/>
          <p:cNvSpPr>
            <a:spLocks noGrp="1"/>
          </p:cNvSpPr>
          <p:nvPr>
            <p:ph type="body"/>
          </p:nvPr>
        </p:nvSpPr>
        <p:spPr>
          <a:xfrm>
            <a:off x="457200" y="276408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96" name="PlaceHolder 2"/>
          <p:cNvSpPr>
            <a:spLocks noGrp="1"/>
          </p:cNvSpPr>
          <p:nvPr>
            <p:ph type="body"/>
          </p:nvPr>
        </p:nvSpPr>
        <p:spPr>
          <a:xfrm>
            <a:off x="457200" y="1204560"/>
            <a:ext cx="4015800" cy="298548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97" name="PlaceHolder 3"/>
          <p:cNvSpPr>
            <a:spLocks noGrp="1"/>
          </p:cNvSpPr>
          <p:nvPr>
            <p:ph type="body"/>
          </p:nvPr>
        </p:nvSpPr>
        <p:spPr>
          <a:xfrm>
            <a:off x="467424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98" name="PlaceHolder 4"/>
          <p:cNvSpPr>
            <a:spLocks noGrp="1"/>
          </p:cNvSpPr>
          <p:nvPr>
            <p:ph type="body"/>
          </p:nvPr>
        </p:nvSpPr>
        <p:spPr>
          <a:xfrm>
            <a:off x="4674240" y="276408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00" name="PlaceHolder 2"/>
          <p:cNvSpPr>
            <a:spLocks noGrp="1"/>
          </p:cNvSpPr>
          <p:nvPr>
            <p:ph type="body"/>
          </p:nvPr>
        </p:nvSpPr>
        <p:spPr>
          <a:xfrm>
            <a:off x="45720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01" name="PlaceHolder 3"/>
          <p:cNvSpPr>
            <a:spLocks noGrp="1"/>
          </p:cNvSpPr>
          <p:nvPr>
            <p:ph type="body"/>
          </p:nvPr>
        </p:nvSpPr>
        <p:spPr>
          <a:xfrm>
            <a:off x="467424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02" name="PlaceHolder 4"/>
          <p:cNvSpPr>
            <a:spLocks noGrp="1"/>
          </p:cNvSpPr>
          <p:nvPr>
            <p:ph type="body"/>
          </p:nvPr>
        </p:nvSpPr>
        <p:spPr>
          <a:xfrm>
            <a:off x="457200" y="2764080"/>
            <a:ext cx="822924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04" name="PlaceHolder 2"/>
          <p:cNvSpPr>
            <a:spLocks noGrp="1"/>
          </p:cNvSpPr>
          <p:nvPr>
            <p:ph type="body"/>
          </p:nvPr>
        </p:nvSpPr>
        <p:spPr>
          <a:xfrm>
            <a:off x="457200" y="1204560"/>
            <a:ext cx="822924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05" name="PlaceHolder 3"/>
          <p:cNvSpPr>
            <a:spLocks noGrp="1"/>
          </p:cNvSpPr>
          <p:nvPr>
            <p:ph type="body"/>
          </p:nvPr>
        </p:nvSpPr>
        <p:spPr>
          <a:xfrm>
            <a:off x="457200" y="2764080"/>
            <a:ext cx="822924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07" name="PlaceHolder 2"/>
          <p:cNvSpPr>
            <a:spLocks noGrp="1"/>
          </p:cNvSpPr>
          <p:nvPr>
            <p:ph type="body"/>
          </p:nvPr>
        </p:nvSpPr>
        <p:spPr>
          <a:xfrm>
            <a:off x="45720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08" name="PlaceHolder 3"/>
          <p:cNvSpPr>
            <a:spLocks noGrp="1"/>
          </p:cNvSpPr>
          <p:nvPr>
            <p:ph type="body"/>
          </p:nvPr>
        </p:nvSpPr>
        <p:spPr>
          <a:xfrm>
            <a:off x="467424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09" name="PlaceHolder 4"/>
          <p:cNvSpPr>
            <a:spLocks noGrp="1"/>
          </p:cNvSpPr>
          <p:nvPr>
            <p:ph type="body"/>
          </p:nvPr>
        </p:nvSpPr>
        <p:spPr>
          <a:xfrm>
            <a:off x="457200" y="276408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10" name="PlaceHolder 5"/>
          <p:cNvSpPr>
            <a:spLocks noGrp="1"/>
          </p:cNvSpPr>
          <p:nvPr>
            <p:ph type="body"/>
          </p:nvPr>
        </p:nvSpPr>
        <p:spPr>
          <a:xfrm>
            <a:off x="4674240" y="276408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12" name="PlaceHolder 2"/>
          <p:cNvSpPr>
            <a:spLocks noGrp="1"/>
          </p:cNvSpPr>
          <p:nvPr>
            <p:ph type="body"/>
          </p:nvPr>
        </p:nvSpPr>
        <p:spPr>
          <a:xfrm>
            <a:off x="457200" y="120456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13" name="PlaceHolder 3"/>
          <p:cNvSpPr>
            <a:spLocks noGrp="1"/>
          </p:cNvSpPr>
          <p:nvPr>
            <p:ph type="body"/>
          </p:nvPr>
        </p:nvSpPr>
        <p:spPr>
          <a:xfrm>
            <a:off x="3239640" y="120456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14" name="PlaceHolder 4"/>
          <p:cNvSpPr>
            <a:spLocks noGrp="1"/>
          </p:cNvSpPr>
          <p:nvPr>
            <p:ph type="body"/>
          </p:nvPr>
        </p:nvSpPr>
        <p:spPr>
          <a:xfrm>
            <a:off x="6022080" y="120456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15" name="PlaceHolder 5"/>
          <p:cNvSpPr>
            <a:spLocks noGrp="1"/>
          </p:cNvSpPr>
          <p:nvPr>
            <p:ph type="body"/>
          </p:nvPr>
        </p:nvSpPr>
        <p:spPr>
          <a:xfrm>
            <a:off x="457200" y="276408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16" name="PlaceHolder 6"/>
          <p:cNvSpPr>
            <a:spLocks noGrp="1"/>
          </p:cNvSpPr>
          <p:nvPr>
            <p:ph type="body"/>
          </p:nvPr>
        </p:nvSpPr>
        <p:spPr>
          <a:xfrm>
            <a:off x="3239640" y="276408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17" name="PlaceHolder 7"/>
          <p:cNvSpPr>
            <a:spLocks noGrp="1"/>
          </p:cNvSpPr>
          <p:nvPr>
            <p:ph type="body"/>
          </p:nvPr>
        </p:nvSpPr>
        <p:spPr>
          <a:xfrm>
            <a:off x="6022080" y="276408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22" name="PlaceHolder 2"/>
          <p:cNvSpPr>
            <a:spLocks noGrp="1"/>
          </p:cNvSpPr>
          <p:nvPr>
            <p:ph type="subTitle"/>
          </p:nvPr>
        </p:nvSpPr>
        <p:spPr>
          <a:xfrm>
            <a:off x="457200" y="1204560"/>
            <a:ext cx="8229240" cy="29854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24" name="PlaceHolder 2"/>
          <p:cNvSpPr>
            <a:spLocks noGrp="1"/>
          </p:cNvSpPr>
          <p:nvPr>
            <p:ph type="body"/>
          </p:nvPr>
        </p:nvSpPr>
        <p:spPr>
          <a:xfrm>
            <a:off x="457200" y="1204560"/>
            <a:ext cx="8229240" cy="298548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5"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26" name="PlaceHolder 2"/>
          <p:cNvSpPr>
            <a:spLocks noGrp="1"/>
          </p:cNvSpPr>
          <p:nvPr>
            <p:ph type="body"/>
          </p:nvPr>
        </p:nvSpPr>
        <p:spPr>
          <a:xfrm>
            <a:off x="457200" y="1204560"/>
            <a:ext cx="4015800" cy="298548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27" name="PlaceHolder 3"/>
          <p:cNvSpPr>
            <a:spLocks noGrp="1"/>
          </p:cNvSpPr>
          <p:nvPr>
            <p:ph type="body"/>
          </p:nvPr>
        </p:nvSpPr>
        <p:spPr>
          <a:xfrm>
            <a:off x="4674240" y="1204560"/>
            <a:ext cx="4015800" cy="298548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8"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9" name="PlaceHolder 1"/>
          <p:cNvSpPr>
            <a:spLocks noGrp="1"/>
          </p:cNvSpPr>
          <p:nvPr>
            <p:ph type="subTitle"/>
          </p:nvPr>
        </p:nvSpPr>
        <p:spPr>
          <a:xfrm>
            <a:off x="457200" y="205200"/>
            <a:ext cx="8229240" cy="39844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31" name="PlaceHolder 2"/>
          <p:cNvSpPr>
            <a:spLocks noGrp="1"/>
          </p:cNvSpPr>
          <p:nvPr>
            <p:ph type="body"/>
          </p:nvPr>
        </p:nvSpPr>
        <p:spPr>
          <a:xfrm>
            <a:off x="45720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32" name="PlaceHolder 3"/>
          <p:cNvSpPr>
            <a:spLocks noGrp="1"/>
          </p:cNvSpPr>
          <p:nvPr>
            <p:ph type="body"/>
          </p:nvPr>
        </p:nvSpPr>
        <p:spPr>
          <a:xfrm>
            <a:off x="4674240" y="1204560"/>
            <a:ext cx="4015800" cy="298548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33" name="PlaceHolder 4"/>
          <p:cNvSpPr>
            <a:spLocks noGrp="1"/>
          </p:cNvSpPr>
          <p:nvPr>
            <p:ph type="body"/>
          </p:nvPr>
        </p:nvSpPr>
        <p:spPr>
          <a:xfrm>
            <a:off x="457200" y="276408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34"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35" name="PlaceHolder 2"/>
          <p:cNvSpPr>
            <a:spLocks noGrp="1"/>
          </p:cNvSpPr>
          <p:nvPr>
            <p:ph type="body"/>
          </p:nvPr>
        </p:nvSpPr>
        <p:spPr>
          <a:xfrm>
            <a:off x="457200" y="1204560"/>
            <a:ext cx="4015800" cy="298548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36" name="PlaceHolder 3"/>
          <p:cNvSpPr>
            <a:spLocks noGrp="1"/>
          </p:cNvSpPr>
          <p:nvPr>
            <p:ph type="body"/>
          </p:nvPr>
        </p:nvSpPr>
        <p:spPr>
          <a:xfrm>
            <a:off x="467424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37" name="PlaceHolder 4"/>
          <p:cNvSpPr>
            <a:spLocks noGrp="1"/>
          </p:cNvSpPr>
          <p:nvPr>
            <p:ph type="body"/>
          </p:nvPr>
        </p:nvSpPr>
        <p:spPr>
          <a:xfrm>
            <a:off x="4674240" y="276408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39" name="PlaceHolder 2"/>
          <p:cNvSpPr>
            <a:spLocks noGrp="1"/>
          </p:cNvSpPr>
          <p:nvPr>
            <p:ph type="body"/>
          </p:nvPr>
        </p:nvSpPr>
        <p:spPr>
          <a:xfrm>
            <a:off x="45720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40" name="PlaceHolder 3"/>
          <p:cNvSpPr>
            <a:spLocks noGrp="1"/>
          </p:cNvSpPr>
          <p:nvPr>
            <p:ph type="body"/>
          </p:nvPr>
        </p:nvSpPr>
        <p:spPr>
          <a:xfrm>
            <a:off x="467424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41" name="PlaceHolder 4"/>
          <p:cNvSpPr>
            <a:spLocks noGrp="1"/>
          </p:cNvSpPr>
          <p:nvPr>
            <p:ph type="body"/>
          </p:nvPr>
        </p:nvSpPr>
        <p:spPr>
          <a:xfrm>
            <a:off x="457200" y="2764080"/>
            <a:ext cx="822924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2"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43" name="PlaceHolder 2"/>
          <p:cNvSpPr>
            <a:spLocks noGrp="1"/>
          </p:cNvSpPr>
          <p:nvPr>
            <p:ph type="body"/>
          </p:nvPr>
        </p:nvSpPr>
        <p:spPr>
          <a:xfrm>
            <a:off x="457200" y="1204560"/>
            <a:ext cx="822924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44" name="PlaceHolder 3"/>
          <p:cNvSpPr>
            <a:spLocks noGrp="1"/>
          </p:cNvSpPr>
          <p:nvPr>
            <p:ph type="body"/>
          </p:nvPr>
        </p:nvSpPr>
        <p:spPr>
          <a:xfrm>
            <a:off x="457200" y="2764080"/>
            <a:ext cx="822924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46" name="PlaceHolder 2"/>
          <p:cNvSpPr>
            <a:spLocks noGrp="1"/>
          </p:cNvSpPr>
          <p:nvPr>
            <p:ph type="body"/>
          </p:nvPr>
        </p:nvSpPr>
        <p:spPr>
          <a:xfrm>
            <a:off x="45720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47" name="PlaceHolder 3"/>
          <p:cNvSpPr>
            <a:spLocks noGrp="1"/>
          </p:cNvSpPr>
          <p:nvPr>
            <p:ph type="body"/>
          </p:nvPr>
        </p:nvSpPr>
        <p:spPr>
          <a:xfrm>
            <a:off x="4674240" y="120456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48" name="PlaceHolder 4"/>
          <p:cNvSpPr>
            <a:spLocks noGrp="1"/>
          </p:cNvSpPr>
          <p:nvPr>
            <p:ph type="body"/>
          </p:nvPr>
        </p:nvSpPr>
        <p:spPr>
          <a:xfrm>
            <a:off x="457200" y="276408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49" name="PlaceHolder 5"/>
          <p:cNvSpPr>
            <a:spLocks noGrp="1"/>
          </p:cNvSpPr>
          <p:nvPr>
            <p:ph type="body"/>
          </p:nvPr>
        </p:nvSpPr>
        <p:spPr>
          <a:xfrm>
            <a:off x="4674240" y="2764080"/>
            <a:ext cx="401580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50" name="PlaceHolder 1"/>
          <p:cNvSpPr>
            <a:spLocks noGrp="1"/>
          </p:cNvSpPr>
          <p:nvPr>
            <p:ph type="title"/>
          </p:nvPr>
        </p:nvSpPr>
        <p:spPr>
          <a:xfrm>
            <a:off x="457200" y="205200"/>
            <a:ext cx="8229240" cy="859320"/>
          </a:xfrm>
          <a:prstGeom prst="rect">
            <a:avLst/>
          </a:prstGeom>
        </p:spPr>
        <p:txBody>
          <a:bodyPr lIns="0" tIns="0" rIns="0" bIns="0" anchor="ctr">
            <a:noAutofit/>
          </a:bodyPr>
          <a:lstStyle/>
          <a:p>
            <a:endParaRPr lang="en-CN" sz="1800" b="0" strike="noStrike" spc="-1">
              <a:solidFill>
                <a:srgbClr val="000000"/>
              </a:solidFill>
              <a:latin typeface="Arial"/>
            </a:endParaRPr>
          </a:p>
        </p:txBody>
      </p:sp>
      <p:sp>
        <p:nvSpPr>
          <p:cNvPr id="151" name="PlaceHolder 2"/>
          <p:cNvSpPr>
            <a:spLocks noGrp="1"/>
          </p:cNvSpPr>
          <p:nvPr>
            <p:ph type="body"/>
          </p:nvPr>
        </p:nvSpPr>
        <p:spPr>
          <a:xfrm>
            <a:off x="457200" y="120456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52" name="PlaceHolder 3"/>
          <p:cNvSpPr>
            <a:spLocks noGrp="1"/>
          </p:cNvSpPr>
          <p:nvPr>
            <p:ph type="body"/>
          </p:nvPr>
        </p:nvSpPr>
        <p:spPr>
          <a:xfrm>
            <a:off x="3239640" y="120456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53" name="PlaceHolder 4"/>
          <p:cNvSpPr>
            <a:spLocks noGrp="1"/>
          </p:cNvSpPr>
          <p:nvPr>
            <p:ph type="body"/>
          </p:nvPr>
        </p:nvSpPr>
        <p:spPr>
          <a:xfrm>
            <a:off x="6022080" y="120456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54" name="PlaceHolder 5"/>
          <p:cNvSpPr>
            <a:spLocks noGrp="1"/>
          </p:cNvSpPr>
          <p:nvPr>
            <p:ph type="body"/>
          </p:nvPr>
        </p:nvSpPr>
        <p:spPr>
          <a:xfrm>
            <a:off x="457200" y="276408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55" name="PlaceHolder 6"/>
          <p:cNvSpPr>
            <a:spLocks noGrp="1"/>
          </p:cNvSpPr>
          <p:nvPr>
            <p:ph type="body"/>
          </p:nvPr>
        </p:nvSpPr>
        <p:spPr>
          <a:xfrm>
            <a:off x="3239640" y="276408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
        <p:nvSpPr>
          <p:cNvPr id="156" name="PlaceHolder 7"/>
          <p:cNvSpPr>
            <a:spLocks noGrp="1"/>
          </p:cNvSpPr>
          <p:nvPr>
            <p:ph type="body"/>
          </p:nvPr>
        </p:nvSpPr>
        <p:spPr>
          <a:xfrm>
            <a:off x="6022080" y="2764080"/>
            <a:ext cx="2649600" cy="1423800"/>
          </a:xfrm>
          <a:prstGeom prst="rect">
            <a:avLst/>
          </a:prstGeom>
        </p:spPr>
        <p:txBody>
          <a:bodyPr lIns="0" tIns="0" rIns="0" bIns="0">
            <a:normAutofit/>
          </a:bodyPr>
          <a:lstStyle/>
          <a:p>
            <a:endParaRPr lang="en-CN" sz="2800" b="0" strike="noStrike" spc="-1">
              <a:solidFill>
                <a:srgbClr val="000000"/>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descr="C:\Users\mkirsch\Desktop\01_Logo_LEIBNIZ-HKI\Leibniz-HKI_blue.png"/>
          <p:cNvPicPr/>
          <p:nvPr/>
        </p:nvPicPr>
        <p:blipFill>
          <a:blip r:embed="rId14"/>
          <a:stretch/>
        </p:blipFill>
        <p:spPr>
          <a:xfrm>
            <a:off x="8100360" y="137520"/>
            <a:ext cx="873000" cy="607680"/>
          </a:xfrm>
          <a:prstGeom prst="rect">
            <a:avLst/>
          </a:prstGeom>
          <a:ln>
            <a:noFill/>
          </a:ln>
        </p:spPr>
      </p:pic>
      <p:sp>
        <p:nvSpPr>
          <p:cNvPr id="4" name="PlaceHolder 1"/>
          <p:cNvSpPr>
            <a:spLocks noGrp="1"/>
          </p:cNvSpPr>
          <p:nvPr>
            <p:ph type="title"/>
          </p:nvPr>
        </p:nvSpPr>
        <p:spPr>
          <a:xfrm>
            <a:off x="457200" y="205200"/>
            <a:ext cx="8229240" cy="859320"/>
          </a:xfrm>
          <a:prstGeom prst="rect">
            <a:avLst/>
          </a:prstGeom>
        </p:spPr>
        <p:txBody>
          <a:bodyPr lIns="0" tIns="0" rIns="0" bIns="0" anchor="ctr">
            <a:noAutofit/>
          </a:bodyPr>
          <a:lstStyle/>
          <a:p>
            <a:r>
              <a:rPr lang="en-CN" sz="1800" b="0" strike="noStrike" spc="-1">
                <a:solidFill>
                  <a:srgbClr val="000000"/>
                </a:solidFill>
                <a:latin typeface="Arial"/>
              </a:rPr>
              <a:t>Click to edit the title text format</a:t>
            </a:r>
          </a:p>
        </p:txBody>
      </p:sp>
      <p:sp>
        <p:nvSpPr>
          <p:cNvPr id="2" name="PlaceHolder 2"/>
          <p:cNvSpPr>
            <a:spLocks noGrp="1"/>
          </p:cNvSpPr>
          <p:nvPr>
            <p:ph type="body"/>
          </p:nvPr>
        </p:nvSpPr>
        <p:spPr>
          <a:xfrm>
            <a:off x="457200" y="1204560"/>
            <a:ext cx="8229240" cy="29854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CN" sz="2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CN" sz="20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CN"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CN"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C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C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C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9" name="Picture 2" descr="C:\Users\mkirsch\Desktop\01_Logo_LEIBNIZ-HKI\Leibniz-HKI_blue.png"/>
          <p:cNvPicPr/>
          <p:nvPr/>
        </p:nvPicPr>
        <p:blipFill>
          <a:blip r:embed="rId14"/>
          <a:stretch/>
        </p:blipFill>
        <p:spPr>
          <a:xfrm>
            <a:off x="8100360" y="137520"/>
            <a:ext cx="873000" cy="607680"/>
          </a:xfrm>
          <a:prstGeom prst="rect">
            <a:avLst/>
          </a:prstGeom>
          <a:ln>
            <a:noFill/>
          </a:ln>
        </p:spPr>
      </p:pic>
      <p:sp>
        <p:nvSpPr>
          <p:cNvPr id="80" name="PlaceHolder 1"/>
          <p:cNvSpPr>
            <a:spLocks noGrp="1"/>
          </p:cNvSpPr>
          <p:nvPr>
            <p:ph type="title"/>
          </p:nvPr>
        </p:nvSpPr>
        <p:spPr>
          <a:xfrm>
            <a:off x="457200" y="205200"/>
            <a:ext cx="8229240" cy="859320"/>
          </a:xfrm>
          <a:prstGeom prst="rect">
            <a:avLst/>
          </a:prstGeom>
        </p:spPr>
        <p:txBody>
          <a:bodyPr lIns="0" tIns="0" rIns="0" bIns="0" anchor="ctr">
            <a:noAutofit/>
          </a:bodyPr>
          <a:lstStyle/>
          <a:p>
            <a:r>
              <a:rPr lang="en-CN" sz="1800" b="0" strike="noStrike" spc="-1">
                <a:solidFill>
                  <a:srgbClr val="000000"/>
                </a:solidFill>
                <a:latin typeface="Arial"/>
              </a:rPr>
              <a:t>Click to edit the title text format</a:t>
            </a:r>
          </a:p>
        </p:txBody>
      </p:sp>
      <p:sp>
        <p:nvSpPr>
          <p:cNvPr id="81" name="PlaceHolder 2"/>
          <p:cNvSpPr>
            <a:spLocks noGrp="1"/>
          </p:cNvSpPr>
          <p:nvPr>
            <p:ph type="body"/>
          </p:nvPr>
        </p:nvSpPr>
        <p:spPr>
          <a:xfrm>
            <a:off x="457200" y="1204560"/>
            <a:ext cx="8229240" cy="29854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CN" sz="2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CN" sz="20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CN"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CN"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C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C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C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8" name="Picture 2" descr="C:\Users\mkirsch\Desktop\01_Logo_LEIBNIZ-HKI\Leibniz-HKI_blue.png"/>
          <p:cNvPicPr/>
          <p:nvPr/>
        </p:nvPicPr>
        <p:blipFill>
          <a:blip r:embed="rId14"/>
          <a:stretch/>
        </p:blipFill>
        <p:spPr>
          <a:xfrm>
            <a:off x="8100360" y="137520"/>
            <a:ext cx="873000" cy="607680"/>
          </a:xfrm>
          <a:prstGeom prst="rect">
            <a:avLst/>
          </a:prstGeom>
          <a:ln>
            <a:noFill/>
          </a:ln>
        </p:spPr>
      </p:pic>
      <p:sp>
        <p:nvSpPr>
          <p:cNvPr id="119" name="PlaceHolder 1"/>
          <p:cNvSpPr>
            <a:spLocks noGrp="1"/>
          </p:cNvSpPr>
          <p:nvPr>
            <p:ph type="title"/>
          </p:nvPr>
        </p:nvSpPr>
        <p:spPr>
          <a:xfrm>
            <a:off x="457200" y="205200"/>
            <a:ext cx="8229240" cy="859320"/>
          </a:xfrm>
          <a:prstGeom prst="rect">
            <a:avLst/>
          </a:prstGeom>
        </p:spPr>
        <p:txBody>
          <a:bodyPr lIns="0" tIns="0" rIns="0" bIns="0" anchor="ctr">
            <a:noAutofit/>
          </a:bodyPr>
          <a:lstStyle/>
          <a:p>
            <a:r>
              <a:rPr lang="en-CN" sz="1800" b="0" strike="noStrike" spc="-1">
                <a:solidFill>
                  <a:srgbClr val="000000"/>
                </a:solidFill>
                <a:latin typeface="Arial"/>
              </a:rPr>
              <a:t>Click to edit the title text format</a:t>
            </a:r>
          </a:p>
        </p:txBody>
      </p:sp>
      <p:sp>
        <p:nvSpPr>
          <p:cNvPr id="120" name="PlaceHolder 2"/>
          <p:cNvSpPr>
            <a:spLocks noGrp="1"/>
          </p:cNvSpPr>
          <p:nvPr>
            <p:ph type="body"/>
          </p:nvPr>
        </p:nvSpPr>
        <p:spPr>
          <a:xfrm>
            <a:off x="457200" y="1204560"/>
            <a:ext cx="8229240" cy="29854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CN" sz="2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CN" sz="20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CN"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CN"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C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C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C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6.jpe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5.xml"/><Relationship Id="rId5" Type="http://schemas.openxmlformats.org/officeDocument/2006/relationships/image" Target="../media/image19.wmf"/><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5.xml"/><Relationship Id="rId4" Type="http://schemas.openxmlformats.org/officeDocument/2006/relationships/image" Target="../media/image23.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wmf"/><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5.xml"/><Relationship Id="rId6" Type="http://schemas.openxmlformats.org/officeDocument/2006/relationships/image" Target="../media/image29.wmf"/><Relationship Id="rId5" Type="http://schemas.openxmlformats.org/officeDocument/2006/relationships/image" Target="../media/image28.png"/><Relationship Id="rId4" Type="http://schemas.openxmlformats.org/officeDocument/2006/relationships/image" Target="../media/image16.jpeg"/></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1.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501A91-0403-9180-477E-FCB78DF26536}"/>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 y="-1"/>
            <a:ext cx="7607431" cy="5177279"/>
          </a:xfrm>
          <a:prstGeom prst="rect">
            <a:avLst/>
          </a:prstGeom>
        </p:spPr>
      </p:pic>
      <p:sp>
        <p:nvSpPr>
          <p:cNvPr id="6" name="TextBox 5">
            <a:extLst>
              <a:ext uri="{FF2B5EF4-FFF2-40B4-BE49-F238E27FC236}">
                <a16:creationId xmlns:a16="http://schemas.microsoft.com/office/drawing/2014/main" id="{6B767285-A949-8D81-6762-90B749EAD22D}"/>
              </a:ext>
            </a:extLst>
          </p:cNvPr>
          <p:cNvSpPr txBox="1"/>
          <p:nvPr/>
        </p:nvSpPr>
        <p:spPr>
          <a:xfrm>
            <a:off x="79856" y="4685158"/>
            <a:ext cx="5774338" cy="246221"/>
          </a:xfrm>
          <a:prstGeom prst="rect">
            <a:avLst/>
          </a:prstGeom>
          <a:noFill/>
        </p:spPr>
        <p:txBody>
          <a:bodyPr wrap="none" rtlCol="0">
            <a:spAutoFit/>
          </a:bodyPr>
          <a:lstStyle/>
          <a:p>
            <a:r>
              <a:rPr lang="en-CN" sz="1000" dirty="0">
                <a:solidFill>
                  <a:schemeClr val="tx1">
                    <a:alpha val="60000"/>
                  </a:schemeClr>
                </a:solidFill>
                <a:latin typeface="Calibri" panose="020F0502020204030204" pitchFamily="34" charset="0"/>
                <a:cs typeface="Calibri" panose="020F0502020204030204" pitchFamily="34" charset="0"/>
              </a:rPr>
              <a:t>Image from </a:t>
            </a:r>
            <a:r>
              <a:rPr lang="en-GB" sz="1000" dirty="0">
                <a:solidFill>
                  <a:schemeClr val="tx1">
                    <a:alpha val="60000"/>
                  </a:schemeClr>
                </a:solidFill>
                <a:latin typeface="Calibri" panose="020F0502020204030204" pitchFamily="34" charset="0"/>
                <a:cs typeface="Calibri" panose="020F0502020204030204" pitchFamily="34" charset="0"/>
              </a:rPr>
              <a:t>https://</a:t>
            </a:r>
            <a:r>
              <a:rPr lang="en-GB" sz="1000" dirty="0" err="1">
                <a:solidFill>
                  <a:schemeClr val="tx1">
                    <a:alpha val="60000"/>
                  </a:schemeClr>
                </a:solidFill>
                <a:latin typeface="Calibri" panose="020F0502020204030204" pitchFamily="34" charset="0"/>
                <a:cs typeface="Calibri" panose="020F0502020204030204" pitchFamily="34" charset="0"/>
              </a:rPr>
              <a:t>en.wikipedia.org</a:t>
            </a:r>
            <a:r>
              <a:rPr lang="en-GB" sz="1000" dirty="0">
                <a:solidFill>
                  <a:schemeClr val="tx1">
                    <a:alpha val="60000"/>
                  </a:schemeClr>
                </a:solidFill>
                <a:latin typeface="Calibri" panose="020F0502020204030204" pitchFamily="34" charset="0"/>
                <a:cs typeface="Calibri" panose="020F0502020204030204" pitchFamily="34" charset="0"/>
              </a:rPr>
              <a:t>/wiki/</a:t>
            </a:r>
            <a:r>
              <a:rPr lang="en-GB" sz="1000" dirty="0" err="1">
                <a:solidFill>
                  <a:schemeClr val="tx1">
                    <a:alpha val="60000"/>
                  </a:schemeClr>
                </a:solidFill>
                <a:latin typeface="Calibri" panose="020F0502020204030204" pitchFamily="34" charset="0"/>
                <a:cs typeface="Calibri" panose="020F0502020204030204" pitchFamily="34" charset="0"/>
              </a:rPr>
              <a:t>Aspergillus_fumigatus</a:t>
            </a:r>
            <a:r>
              <a:rPr lang="en-GB" sz="1000" dirty="0">
                <a:solidFill>
                  <a:schemeClr val="tx1">
                    <a:alpha val="60000"/>
                  </a:schemeClr>
                </a:solidFill>
                <a:latin typeface="Calibri" panose="020F0502020204030204" pitchFamily="34" charset="0"/>
                <a:cs typeface="Calibri" panose="020F0502020204030204" pitchFamily="34" charset="0"/>
              </a:rPr>
              <a:t>#/media/File:Aspergillus_fumigatus_01.jpg</a:t>
            </a:r>
            <a:endParaRPr lang="en-CN" sz="1000" dirty="0">
              <a:solidFill>
                <a:schemeClr val="tx1">
                  <a:alpha val="60000"/>
                </a:schemeClr>
              </a:solidFill>
              <a:latin typeface="Calibri" panose="020F0502020204030204" pitchFamily="34" charset="0"/>
              <a:cs typeface="Calibri" panose="020F0502020204030204" pitchFamily="34" charset="0"/>
            </a:endParaRPr>
          </a:p>
        </p:txBody>
      </p:sp>
      <p:sp>
        <p:nvSpPr>
          <p:cNvPr id="2" name="CustomShape 2">
            <a:extLst>
              <a:ext uri="{FF2B5EF4-FFF2-40B4-BE49-F238E27FC236}">
                <a16:creationId xmlns:a16="http://schemas.microsoft.com/office/drawing/2014/main" id="{DC06B1C5-7649-5B82-04CC-4A999706D51D}"/>
              </a:ext>
            </a:extLst>
          </p:cNvPr>
          <p:cNvSpPr/>
          <p:nvPr/>
        </p:nvSpPr>
        <p:spPr>
          <a:xfrm>
            <a:off x="1987036" y="3258622"/>
            <a:ext cx="6282720" cy="492120"/>
          </a:xfrm>
          <a:prstGeom prst="rect">
            <a:avLst/>
          </a:prstGeom>
          <a:noFill/>
          <a:ln>
            <a:noFill/>
          </a:ln>
        </p:spPr>
        <p:style>
          <a:lnRef idx="0">
            <a:scrgbClr r="0" g="0" b="0"/>
          </a:lnRef>
          <a:fillRef idx="0">
            <a:scrgbClr r="0" g="0" b="0"/>
          </a:fillRef>
          <a:effectRef idx="0">
            <a:scrgbClr r="0" g="0" b="0"/>
          </a:effectRef>
          <a:fontRef idx="minor"/>
        </p:style>
        <p:txBody>
          <a:bodyPr lIns="0" tIns="46800" rIns="0" bIns="0">
            <a:normAutofit/>
          </a:bodyPr>
          <a:lstStyle/>
          <a:p>
            <a:pPr>
              <a:lnSpc>
                <a:spcPct val="100000"/>
              </a:lnSpc>
              <a:spcBef>
                <a:spcPts val="400"/>
              </a:spcBef>
              <a:tabLst>
                <a:tab pos="0" algn="l"/>
              </a:tabLst>
            </a:pPr>
            <a:r>
              <a:rPr lang="de-DE" sz="2000" b="0" strike="noStrike" spc="-1" dirty="0">
                <a:solidFill>
                  <a:srgbClr val="000000"/>
                </a:solidFill>
                <a:latin typeface="+mj-lt"/>
                <a:ea typeface="DejaVu Sans"/>
              </a:rPr>
              <a:t>PAN </a:t>
            </a:r>
            <a:r>
              <a:rPr lang="de-DE" sz="2000" b="0" strike="noStrike" spc="-1" dirty="0" err="1">
                <a:solidFill>
                  <a:srgbClr val="000000"/>
                </a:solidFill>
                <a:latin typeface="+mj-lt"/>
                <a:ea typeface="DejaVu Sans"/>
              </a:rPr>
              <a:t>Xiaoqing</a:t>
            </a:r>
            <a:r>
              <a:rPr lang="de-DE" sz="2000" b="0" strike="noStrike" spc="-1" dirty="0">
                <a:solidFill>
                  <a:srgbClr val="000000"/>
                </a:solidFill>
                <a:latin typeface="+mj-lt"/>
                <a:ea typeface="DejaVu Sans"/>
              </a:rPr>
              <a:t> | Leibniz-HKI         </a:t>
            </a:r>
            <a:r>
              <a:rPr lang="en-US" altLang="zh-CN" sz="2000" spc="-1" dirty="0">
                <a:solidFill>
                  <a:srgbClr val="000000"/>
                </a:solidFill>
                <a:latin typeface="+mj-lt"/>
                <a:ea typeface="DejaVu Sans"/>
              </a:rPr>
              <a:t>10</a:t>
            </a:r>
            <a:r>
              <a:rPr lang="de-DE" sz="2000" b="0" strike="noStrike" spc="-1" dirty="0">
                <a:solidFill>
                  <a:srgbClr val="000000"/>
                </a:solidFill>
                <a:latin typeface="+mj-lt"/>
                <a:ea typeface="DejaVu Sans"/>
              </a:rPr>
              <a:t>.0</a:t>
            </a:r>
            <a:r>
              <a:rPr lang="en-US" altLang="zh-CN" sz="2000" b="0" strike="noStrike" spc="-1" dirty="0">
                <a:solidFill>
                  <a:srgbClr val="000000"/>
                </a:solidFill>
                <a:latin typeface="+mj-lt"/>
                <a:ea typeface="DejaVu Sans"/>
              </a:rPr>
              <a:t>8</a:t>
            </a:r>
            <a:r>
              <a:rPr lang="de-DE" sz="2000" b="0" strike="noStrike" spc="-1" dirty="0">
                <a:solidFill>
                  <a:srgbClr val="000000"/>
                </a:solidFill>
                <a:latin typeface="+mj-lt"/>
                <a:ea typeface="DejaVu Sans"/>
              </a:rPr>
              <a:t>.2026</a:t>
            </a:r>
            <a:endParaRPr lang="en-US" sz="2000" b="0" strike="noStrike" spc="-1" dirty="0">
              <a:latin typeface="+mj-lt"/>
            </a:endParaRPr>
          </a:p>
        </p:txBody>
      </p:sp>
      <p:sp>
        <p:nvSpPr>
          <p:cNvPr id="7" name="TextBox 6">
            <a:extLst>
              <a:ext uri="{FF2B5EF4-FFF2-40B4-BE49-F238E27FC236}">
                <a16:creationId xmlns:a16="http://schemas.microsoft.com/office/drawing/2014/main" id="{70FD9817-2660-62FB-D251-42C671D5C64D}"/>
              </a:ext>
            </a:extLst>
          </p:cNvPr>
          <p:cNvSpPr txBox="1"/>
          <p:nvPr/>
        </p:nvSpPr>
        <p:spPr>
          <a:xfrm>
            <a:off x="79856" y="1530608"/>
            <a:ext cx="7622770" cy="1200329"/>
          </a:xfrm>
          <a:prstGeom prst="rect">
            <a:avLst/>
          </a:prstGeom>
          <a:noFill/>
        </p:spPr>
        <p:txBody>
          <a:bodyPr wrap="square" rtlCol="0">
            <a:spAutoFit/>
          </a:bodyPr>
          <a:lstStyle/>
          <a:p>
            <a:pPr algn="ctr"/>
            <a:r>
              <a:rPr lang="en-CN" sz="2400" b="1" dirty="0"/>
              <a:t>RNA regulation in host-fungal interactions:</a:t>
            </a:r>
          </a:p>
          <a:p>
            <a:pPr algn="ctr"/>
            <a:r>
              <a:rPr lang="en-GB" sz="2400" b="1" dirty="0"/>
              <a:t>I</a:t>
            </a:r>
            <a:r>
              <a:rPr lang="en-CN" sz="2400" b="1" dirty="0"/>
              <a:t>nvestigation of the host epitranscriptome and fungal small RNAs</a:t>
            </a:r>
          </a:p>
        </p:txBody>
      </p:sp>
    </p:spTree>
    <p:extLst>
      <p:ext uri="{BB962C8B-B14F-4D97-AF65-F5344CB8AC3E}">
        <p14:creationId xmlns:p14="http://schemas.microsoft.com/office/powerpoint/2010/main" val="13794678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11102D2-CD07-5898-CC76-756B2A15F3D3}"/>
              </a:ext>
            </a:extLst>
          </p:cNvPr>
          <p:cNvPicPr>
            <a:picLocks noChangeAspect="1"/>
          </p:cNvPicPr>
          <p:nvPr/>
        </p:nvPicPr>
        <p:blipFill rotWithShape="1">
          <a:blip r:embed="rId2"/>
          <a:srcRect r="27055"/>
          <a:stretch/>
        </p:blipFill>
        <p:spPr>
          <a:xfrm>
            <a:off x="1" y="0"/>
            <a:ext cx="5437762" cy="5148263"/>
          </a:xfrm>
          <a:prstGeom prst="rect">
            <a:avLst/>
          </a:prstGeom>
        </p:spPr>
      </p:pic>
      <p:cxnSp>
        <p:nvCxnSpPr>
          <p:cNvPr id="8" name="Straight Arrow Connector 7">
            <a:extLst>
              <a:ext uri="{FF2B5EF4-FFF2-40B4-BE49-F238E27FC236}">
                <a16:creationId xmlns:a16="http://schemas.microsoft.com/office/drawing/2014/main" id="{6190919B-3F04-0015-40AB-14A31067F713}"/>
              </a:ext>
            </a:extLst>
          </p:cNvPr>
          <p:cNvCxnSpPr/>
          <p:nvPr/>
        </p:nvCxnSpPr>
        <p:spPr>
          <a:xfrm flipV="1">
            <a:off x="2928026" y="1138136"/>
            <a:ext cx="3044757" cy="2052536"/>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9" name="TextBox 8">
            <a:extLst>
              <a:ext uri="{FF2B5EF4-FFF2-40B4-BE49-F238E27FC236}">
                <a16:creationId xmlns:a16="http://schemas.microsoft.com/office/drawing/2014/main" id="{24895380-C9E1-906D-7859-4AD1B440D480}"/>
              </a:ext>
            </a:extLst>
          </p:cNvPr>
          <p:cNvSpPr txBox="1"/>
          <p:nvPr/>
        </p:nvSpPr>
        <p:spPr>
          <a:xfrm>
            <a:off x="5971801" y="814970"/>
            <a:ext cx="3172198" cy="1569660"/>
          </a:xfrm>
          <a:prstGeom prst="rect">
            <a:avLst/>
          </a:prstGeom>
          <a:noFill/>
        </p:spPr>
        <p:txBody>
          <a:bodyPr wrap="square" rtlCol="0">
            <a:spAutoFit/>
          </a:bodyPr>
          <a:lstStyle/>
          <a:p>
            <a:r>
              <a:rPr lang="en-US" altLang="zh-CN" sz="1600" dirty="0"/>
              <a:t>Jena,</a:t>
            </a:r>
            <a:r>
              <a:rPr lang="zh-CN" altLang="en-US" sz="1600" dirty="0"/>
              <a:t> </a:t>
            </a:r>
            <a:r>
              <a:rPr lang="en-US" altLang="zh-CN" sz="1600" dirty="0"/>
              <a:t>Germany</a:t>
            </a:r>
          </a:p>
          <a:p>
            <a:r>
              <a:rPr lang="en-US" altLang="zh-CN" sz="1600" dirty="0"/>
              <a:t>Leibniz</a:t>
            </a:r>
            <a:r>
              <a:rPr lang="zh-CN" altLang="en-US" sz="1600" dirty="0"/>
              <a:t> </a:t>
            </a:r>
            <a:r>
              <a:rPr lang="en-US" altLang="zh-CN" sz="1600" dirty="0"/>
              <a:t>Institute</a:t>
            </a:r>
            <a:r>
              <a:rPr lang="zh-CN" altLang="en-US" sz="1600" dirty="0"/>
              <a:t> </a:t>
            </a:r>
            <a:r>
              <a:rPr lang="en-US" altLang="zh-CN" sz="1600" dirty="0"/>
              <a:t>for</a:t>
            </a:r>
            <a:r>
              <a:rPr lang="zh-CN" altLang="en-US" sz="1600" dirty="0"/>
              <a:t> </a:t>
            </a:r>
            <a:r>
              <a:rPr lang="en-US" altLang="zh-CN" sz="1600" dirty="0"/>
              <a:t>Natural</a:t>
            </a:r>
            <a:r>
              <a:rPr lang="zh-CN" altLang="en-US" sz="1600" dirty="0"/>
              <a:t> </a:t>
            </a:r>
            <a:r>
              <a:rPr lang="en-US" altLang="zh-CN" sz="1600" dirty="0"/>
              <a:t>Product</a:t>
            </a:r>
            <a:r>
              <a:rPr lang="zh-CN" altLang="en-US" sz="1600" dirty="0"/>
              <a:t> </a:t>
            </a:r>
            <a:r>
              <a:rPr lang="en-US" altLang="zh-CN" sz="1600" dirty="0"/>
              <a:t>Research</a:t>
            </a:r>
            <a:r>
              <a:rPr lang="zh-CN" altLang="en-US" sz="1600" dirty="0"/>
              <a:t> </a:t>
            </a:r>
            <a:r>
              <a:rPr lang="en-US" altLang="zh-CN" sz="1600" dirty="0"/>
              <a:t>and</a:t>
            </a:r>
            <a:r>
              <a:rPr lang="zh-CN" altLang="en-US" sz="1600" dirty="0"/>
              <a:t> </a:t>
            </a:r>
            <a:r>
              <a:rPr lang="en-US" altLang="zh-CN" sz="1600" dirty="0"/>
              <a:t>Infection</a:t>
            </a:r>
            <a:r>
              <a:rPr lang="zh-CN" altLang="en-US" sz="1600" dirty="0"/>
              <a:t> </a:t>
            </a:r>
            <a:r>
              <a:rPr lang="en-US" altLang="zh-CN" sz="1600" dirty="0"/>
              <a:t>Biology</a:t>
            </a:r>
          </a:p>
          <a:p>
            <a:endParaRPr lang="en-US" sz="1600" dirty="0"/>
          </a:p>
          <a:p>
            <a:endParaRPr lang="en-CN" sz="1600" dirty="0"/>
          </a:p>
        </p:txBody>
      </p:sp>
      <p:pic>
        <p:nvPicPr>
          <p:cNvPr id="1026" name="Picture 2">
            <a:extLst>
              <a:ext uri="{FF2B5EF4-FFF2-40B4-BE49-F238E27FC236}">
                <a16:creationId xmlns:a16="http://schemas.microsoft.com/office/drawing/2014/main" id="{036E5405-3E22-96E1-4205-41555809925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298"/>
          <a:stretch/>
        </p:blipFill>
        <p:spPr bwMode="auto">
          <a:xfrm>
            <a:off x="5437763" y="2574131"/>
            <a:ext cx="3653406" cy="1676856"/>
          </a:xfrm>
          <a:prstGeom prst="rect">
            <a:avLst/>
          </a:prstGeom>
          <a:noFill/>
          <a:extLst>
            <a:ext uri="{909E8E84-426E-40DD-AFC4-6F175D3DCCD1}">
              <a14:hiddenFill xmlns:a14="http://schemas.microsoft.com/office/drawing/2010/main">
                <a:solidFill>
                  <a:srgbClr val="FFFFFF"/>
                </a:solidFill>
              </a14:hiddenFill>
            </a:ext>
          </a:extLst>
        </p:spPr>
      </p:pic>
      <p:sp>
        <p:nvSpPr>
          <p:cNvPr id="12" name="Oval 11">
            <a:extLst>
              <a:ext uri="{FF2B5EF4-FFF2-40B4-BE49-F238E27FC236}">
                <a16:creationId xmlns:a16="http://schemas.microsoft.com/office/drawing/2014/main" id="{6877E090-4B12-6799-87BC-D59CCFD59AEB}"/>
              </a:ext>
            </a:extLst>
          </p:cNvPr>
          <p:cNvSpPr/>
          <p:nvPr/>
        </p:nvSpPr>
        <p:spPr>
          <a:xfrm>
            <a:off x="2779776" y="3053512"/>
            <a:ext cx="232961" cy="21089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2717903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stomShape 1">
            <a:extLst>
              <a:ext uri="{FF2B5EF4-FFF2-40B4-BE49-F238E27FC236}">
                <a16:creationId xmlns:a16="http://schemas.microsoft.com/office/drawing/2014/main" id="{FFFA3240-E330-A2BC-375D-2C8C8B431BE7}"/>
              </a:ext>
            </a:extLst>
          </p:cNvPr>
          <p:cNvSpPr/>
          <p:nvPr/>
        </p:nvSpPr>
        <p:spPr>
          <a:xfrm>
            <a:off x="291240" y="235440"/>
            <a:ext cx="7806240" cy="8953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90000"/>
              </a:lnSpc>
            </a:pPr>
            <a:r>
              <a:rPr lang="de-DE" sz="1800" b="1" strike="noStrike" spc="-1" dirty="0">
                <a:solidFill>
                  <a:srgbClr val="000000"/>
                </a:solidFill>
                <a:latin typeface="Arial"/>
                <a:ea typeface="DejaVu Sans"/>
              </a:rPr>
              <a:t>WHO </a:t>
            </a:r>
            <a:r>
              <a:rPr lang="de-DE" sz="1800" b="1" strike="noStrike" spc="-1" dirty="0" err="1">
                <a:solidFill>
                  <a:srgbClr val="000000"/>
                </a:solidFill>
                <a:latin typeface="Arial"/>
                <a:ea typeface="DejaVu Sans"/>
              </a:rPr>
              <a:t>released</a:t>
            </a:r>
            <a:r>
              <a:rPr lang="de-DE" sz="1800" b="1" strike="noStrike" spc="-1" dirty="0">
                <a:solidFill>
                  <a:srgbClr val="000000"/>
                </a:solidFill>
                <a:latin typeface="Arial"/>
                <a:ea typeface="DejaVu Sans"/>
              </a:rPr>
              <a:t> a </a:t>
            </a:r>
            <a:r>
              <a:rPr lang="de-DE" sz="1800" b="1" strike="noStrike" spc="-1" dirty="0" err="1">
                <a:solidFill>
                  <a:srgbClr val="000000"/>
                </a:solidFill>
                <a:latin typeface="Arial"/>
                <a:ea typeface="DejaVu Sans"/>
              </a:rPr>
              <a:t>list</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of</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threatening</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fungi</a:t>
            </a:r>
            <a:r>
              <a:rPr lang="de-DE" sz="1800" b="1" strike="noStrike" spc="-1" dirty="0">
                <a:solidFill>
                  <a:srgbClr val="000000"/>
                </a:solidFill>
                <a:latin typeface="Arial"/>
                <a:ea typeface="DejaVu Sans"/>
              </a:rPr>
              <a:t> in 2022</a:t>
            </a:r>
            <a:endParaRPr lang="en-US" sz="1800" b="0" strike="noStrike" spc="-1" dirty="0">
              <a:latin typeface="Arial"/>
            </a:endParaRPr>
          </a:p>
        </p:txBody>
      </p:sp>
      <p:sp>
        <p:nvSpPr>
          <p:cNvPr id="11" name="CustomShape 8">
            <a:extLst>
              <a:ext uri="{FF2B5EF4-FFF2-40B4-BE49-F238E27FC236}">
                <a16:creationId xmlns:a16="http://schemas.microsoft.com/office/drawing/2014/main" id="{F9297487-CD41-1ED9-D813-BD7D942FB905}"/>
              </a:ext>
            </a:extLst>
          </p:cNvPr>
          <p:cNvSpPr/>
          <p:nvPr/>
        </p:nvSpPr>
        <p:spPr>
          <a:xfrm>
            <a:off x="8258760" y="4807800"/>
            <a:ext cx="565200" cy="113335"/>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C3CACEEB-972B-460B-A856-FC5E7152F28E}" type="slidenum">
              <a:rPr lang="de-DE" sz="1000" b="0" strike="noStrike" spc="-1">
                <a:solidFill>
                  <a:srgbClr val="0949A7"/>
                </a:solidFill>
                <a:ea typeface="DejaVu Sans"/>
              </a:rPr>
              <a:t>3</a:t>
            </a:fld>
            <a:endParaRPr lang="en-US" sz="1000" b="0" strike="noStrike" spc="-1" dirty="0"/>
          </a:p>
        </p:txBody>
      </p:sp>
      <p:sp>
        <p:nvSpPr>
          <p:cNvPr id="4" name="TextBox 3">
            <a:extLst>
              <a:ext uri="{FF2B5EF4-FFF2-40B4-BE49-F238E27FC236}">
                <a16:creationId xmlns:a16="http://schemas.microsoft.com/office/drawing/2014/main" id="{E89881E4-81B2-1FF1-FC3C-3FEAFF3A3320}"/>
              </a:ext>
            </a:extLst>
          </p:cNvPr>
          <p:cNvSpPr txBox="1"/>
          <p:nvPr/>
        </p:nvSpPr>
        <p:spPr>
          <a:xfrm>
            <a:off x="291240" y="1591356"/>
            <a:ext cx="2319866" cy="1200329"/>
          </a:xfrm>
          <a:prstGeom prst="rect">
            <a:avLst/>
          </a:prstGeom>
          <a:noFill/>
        </p:spPr>
        <p:txBody>
          <a:bodyPr wrap="none" rtlCol="0">
            <a:spAutoFit/>
          </a:bodyPr>
          <a:lstStyle/>
          <a:p>
            <a:r>
              <a:rPr lang="en-GB" dirty="0"/>
              <a:t>Each year</a:t>
            </a:r>
          </a:p>
          <a:p>
            <a:pPr marL="285750" indent="-285750">
              <a:buFont typeface="Arial" panose="020B0604020202020204" pitchFamily="34" charset="0"/>
              <a:buChar char="•"/>
            </a:pPr>
            <a:r>
              <a:rPr lang="en-GB" dirty="0"/>
              <a:t>1 Billion infections</a:t>
            </a:r>
          </a:p>
          <a:p>
            <a:pPr marL="285750" indent="-285750">
              <a:buFont typeface="Arial" panose="020B0604020202020204" pitchFamily="34" charset="0"/>
              <a:buChar char="•"/>
            </a:pPr>
            <a:r>
              <a:rPr lang="en-US" altLang="zh-CN" dirty="0"/>
              <a:t>3.8</a:t>
            </a:r>
            <a:r>
              <a:rPr lang="zh-CN" altLang="en-US" dirty="0"/>
              <a:t> </a:t>
            </a:r>
            <a:r>
              <a:rPr lang="en-US" altLang="zh-CN" dirty="0"/>
              <a:t>Million death</a:t>
            </a:r>
            <a:r>
              <a:rPr lang="zh-CN" altLang="en-US" dirty="0"/>
              <a:t> </a:t>
            </a:r>
            <a:endParaRPr lang="en-GB" dirty="0"/>
          </a:p>
          <a:p>
            <a:pPr marL="285750" indent="-285750">
              <a:buFont typeface="Arial" panose="020B0604020202020204" pitchFamily="34" charset="0"/>
              <a:buChar char="•"/>
            </a:pPr>
            <a:endParaRPr lang="en-CN" dirty="0"/>
          </a:p>
        </p:txBody>
      </p:sp>
      <p:sp>
        <p:nvSpPr>
          <p:cNvPr id="7" name="CustomShape 6">
            <a:extLst>
              <a:ext uri="{FF2B5EF4-FFF2-40B4-BE49-F238E27FC236}">
                <a16:creationId xmlns:a16="http://schemas.microsoft.com/office/drawing/2014/main" id="{150FDFFE-E96E-4291-4633-5121EA1F0D6C}"/>
              </a:ext>
            </a:extLst>
          </p:cNvPr>
          <p:cNvSpPr/>
          <p:nvPr/>
        </p:nvSpPr>
        <p:spPr>
          <a:xfrm>
            <a:off x="423270" y="4452612"/>
            <a:ext cx="2638907" cy="46021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1200" b="0" strike="noStrike" spc="-1" dirty="0">
                <a:solidFill>
                  <a:srgbClr val="000000"/>
                </a:solidFill>
                <a:latin typeface="Arial"/>
                <a:ea typeface="DejaVu Sans"/>
              </a:rPr>
              <a:t>WHO</a:t>
            </a:r>
            <a:r>
              <a:rPr lang="zh-CN" altLang="en-US" sz="1200" b="0" strike="noStrike" spc="-1" dirty="0">
                <a:solidFill>
                  <a:srgbClr val="000000"/>
                </a:solidFill>
                <a:latin typeface="Arial"/>
                <a:ea typeface="DejaVu Sans"/>
              </a:rPr>
              <a:t> </a:t>
            </a:r>
            <a:r>
              <a:rPr lang="en-US" altLang="zh-CN" sz="1200" b="0" strike="noStrike" spc="-1" dirty="0">
                <a:solidFill>
                  <a:srgbClr val="000000"/>
                </a:solidFill>
                <a:latin typeface="Arial"/>
                <a:ea typeface="DejaVu Sans"/>
              </a:rPr>
              <a:t>Report.</a:t>
            </a:r>
            <a:r>
              <a:rPr lang="zh-CN" altLang="en-US" sz="1200" b="0" strike="noStrike" spc="-1" dirty="0">
                <a:solidFill>
                  <a:srgbClr val="000000"/>
                </a:solidFill>
                <a:latin typeface="Arial"/>
                <a:ea typeface="DejaVu Sans"/>
              </a:rPr>
              <a:t> </a:t>
            </a:r>
            <a:r>
              <a:rPr lang="en-US" altLang="zh-CN" sz="1200" b="0" strike="noStrike" spc="-1" dirty="0">
                <a:solidFill>
                  <a:srgbClr val="000000"/>
                </a:solidFill>
                <a:latin typeface="Arial"/>
                <a:ea typeface="DejaVu Sans"/>
              </a:rPr>
              <a:t>2022</a:t>
            </a:r>
            <a:r>
              <a:rPr lang="en-US" sz="1200" spc="-1" dirty="0">
                <a:solidFill>
                  <a:srgbClr val="000000"/>
                </a:solidFill>
              </a:rPr>
              <a:t>.</a:t>
            </a:r>
            <a:endParaRPr lang="en-US" sz="1200" b="0" strike="noStrike" spc="-1" dirty="0">
              <a:solidFill>
                <a:srgbClr val="000000"/>
              </a:solidFill>
              <a:latin typeface="Arial"/>
              <a:ea typeface="DejaVu Sans"/>
            </a:endParaRPr>
          </a:p>
          <a:p>
            <a:r>
              <a:rPr lang="en-US" sz="1200" b="0" strike="noStrike" spc="-1" dirty="0">
                <a:solidFill>
                  <a:srgbClr val="000000"/>
                </a:solidFill>
                <a:latin typeface="Arial"/>
                <a:ea typeface="DejaVu Sans"/>
              </a:rPr>
              <a:t>Denning. </a:t>
            </a:r>
            <a:r>
              <a:rPr lang="en-GB" sz="1200" spc="-1" dirty="0">
                <a:solidFill>
                  <a:srgbClr val="000000"/>
                </a:solidFill>
              </a:rPr>
              <a:t>Lancet Infect Dis</a:t>
            </a:r>
            <a:r>
              <a:rPr lang="en-GB" sz="1200" b="0" i="0" dirty="0">
                <a:solidFill>
                  <a:srgbClr val="0071BC"/>
                </a:solidFill>
                <a:effectLst/>
                <a:latin typeface="system-ui"/>
              </a:rPr>
              <a:t>. </a:t>
            </a:r>
            <a:r>
              <a:rPr lang="en-US" sz="1200" b="0" strike="noStrike" spc="-1" dirty="0">
                <a:solidFill>
                  <a:srgbClr val="000000"/>
                </a:solidFill>
                <a:latin typeface="Arial"/>
                <a:ea typeface="DejaVu Sans"/>
              </a:rPr>
              <a:t>2024.</a:t>
            </a:r>
            <a:r>
              <a:rPr lang="en-GB" sz="1200" spc="-1" dirty="0">
                <a:solidFill>
                  <a:srgbClr val="000000"/>
                </a:solidFill>
              </a:rPr>
              <a:t> </a:t>
            </a:r>
            <a:endParaRPr lang="en-US" sz="1200" b="0" strike="noStrike" spc="-1" dirty="0">
              <a:solidFill>
                <a:srgbClr val="000000"/>
              </a:solidFill>
              <a:latin typeface="Arial"/>
              <a:ea typeface="DejaVu Sans"/>
            </a:endParaRPr>
          </a:p>
        </p:txBody>
      </p:sp>
      <p:pic>
        <p:nvPicPr>
          <p:cNvPr id="10" name="Picture 9">
            <a:extLst>
              <a:ext uri="{FF2B5EF4-FFF2-40B4-BE49-F238E27FC236}">
                <a16:creationId xmlns:a16="http://schemas.microsoft.com/office/drawing/2014/main" id="{C7AABF39-A7A3-B476-79BE-C39FD70D28A1}"/>
              </a:ext>
            </a:extLst>
          </p:cNvPr>
          <p:cNvPicPr>
            <a:picLocks noChangeAspect="1"/>
          </p:cNvPicPr>
          <p:nvPr/>
        </p:nvPicPr>
        <p:blipFill>
          <a:blip r:embed="rId3"/>
          <a:stretch>
            <a:fillRect/>
          </a:stretch>
        </p:blipFill>
        <p:spPr>
          <a:xfrm>
            <a:off x="2841335" y="573938"/>
            <a:ext cx="5789560" cy="4233862"/>
          </a:xfrm>
          <a:prstGeom prst="rect">
            <a:avLst/>
          </a:prstGeom>
        </p:spPr>
      </p:pic>
      <p:sp>
        <p:nvSpPr>
          <p:cNvPr id="12" name="Rectangle 11">
            <a:extLst>
              <a:ext uri="{FF2B5EF4-FFF2-40B4-BE49-F238E27FC236}">
                <a16:creationId xmlns:a16="http://schemas.microsoft.com/office/drawing/2014/main" id="{0D06920D-B7E4-17B4-8C15-F0A9FEA68FE7}"/>
              </a:ext>
            </a:extLst>
          </p:cNvPr>
          <p:cNvSpPr/>
          <p:nvPr/>
        </p:nvSpPr>
        <p:spPr>
          <a:xfrm>
            <a:off x="2841335" y="1892204"/>
            <a:ext cx="1899245" cy="107707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3" name="Rectangle 12">
            <a:extLst>
              <a:ext uri="{FF2B5EF4-FFF2-40B4-BE49-F238E27FC236}">
                <a16:creationId xmlns:a16="http://schemas.microsoft.com/office/drawing/2014/main" id="{F2EB94B9-D82C-B4AE-A8B2-B44520A4DCED}"/>
              </a:ext>
            </a:extLst>
          </p:cNvPr>
          <p:cNvSpPr/>
          <p:nvPr/>
        </p:nvSpPr>
        <p:spPr>
          <a:xfrm>
            <a:off x="4807709" y="2377894"/>
            <a:ext cx="1899245" cy="5090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1420548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stomShape 8">
            <a:extLst>
              <a:ext uri="{FF2B5EF4-FFF2-40B4-BE49-F238E27FC236}">
                <a16:creationId xmlns:a16="http://schemas.microsoft.com/office/drawing/2014/main" id="{F9297487-CD41-1ED9-D813-BD7D942FB905}"/>
              </a:ext>
            </a:extLst>
          </p:cNvPr>
          <p:cNvSpPr/>
          <p:nvPr/>
        </p:nvSpPr>
        <p:spPr>
          <a:xfrm>
            <a:off x="8258760" y="4807800"/>
            <a:ext cx="565200" cy="1263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C3CACEEB-972B-460B-A856-FC5E7152F28E}" type="slidenum">
              <a:rPr lang="de-DE" sz="1000" b="0" strike="noStrike" spc="-1">
                <a:solidFill>
                  <a:srgbClr val="0949A7"/>
                </a:solidFill>
                <a:ea typeface="DejaVu Sans"/>
              </a:rPr>
              <a:t>4</a:t>
            </a:fld>
            <a:endParaRPr lang="en-US" sz="1000" b="0" strike="noStrike" spc="-1" dirty="0"/>
          </a:p>
        </p:txBody>
      </p:sp>
      <p:sp>
        <p:nvSpPr>
          <p:cNvPr id="15" name="CustomShape 7">
            <a:extLst>
              <a:ext uri="{FF2B5EF4-FFF2-40B4-BE49-F238E27FC236}">
                <a16:creationId xmlns:a16="http://schemas.microsoft.com/office/drawing/2014/main" id="{9C28A3FD-6069-A6FE-6FCB-CC39748AC26A}"/>
              </a:ext>
            </a:extLst>
          </p:cNvPr>
          <p:cNvSpPr/>
          <p:nvPr/>
        </p:nvSpPr>
        <p:spPr>
          <a:xfrm>
            <a:off x="322920" y="497361"/>
            <a:ext cx="6926400" cy="36787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de-DE" sz="1800" b="1" strike="noStrike" spc="-1" dirty="0">
                <a:solidFill>
                  <a:srgbClr val="953735"/>
                </a:solidFill>
                <a:latin typeface="Arial"/>
                <a:ea typeface="DejaVu Sans"/>
              </a:rPr>
              <a:t>And kill ~3.8 </a:t>
            </a:r>
            <a:r>
              <a:rPr lang="de-DE" sz="1800" b="1" strike="noStrike" spc="-1" dirty="0" err="1">
                <a:solidFill>
                  <a:srgbClr val="953735"/>
                </a:solidFill>
                <a:latin typeface="Arial"/>
                <a:ea typeface="DejaVu Sans"/>
              </a:rPr>
              <a:t>million</a:t>
            </a:r>
            <a:r>
              <a:rPr lang="de-DE" sz="1800" b="1" strike="noStrike" spc="-1" dirty="0">
                <a:solidFill>
                  <a:srgbClr val="953735"/>
                </a:solidFill>
                <a:latin typeface="Arial"/>
                <a:ea typeface="DejaVu Sans"/>
              </a:rPr>
              <a:t>/</a:t>
            </a:r>
            <a:r>
              <a:rPr lang="de-DE" sz="1800" b="1" strike="noStrike" spc="-1" dirty="0" err="1">
                <a:solidFill>
                  <a:srgbClr val="953735"/>
                </a:solidFill>
                <a:latin typeface="Arial"/>
                <a:ea typeface="DejaVu Sans"/>
              </a:rPr>
              <a:t>year</a:t>
            </a:r>
            <a:r>
              <a:rPr lang="de-DE" sz="1800" b="1" strike="noStrike" spc="-1" dirty="0">
                <a:solidFill>
                  <a:srgbClr val="953735"/>
                </a:solidFill>
                <a:latin typeface="Arial"/>
                <a:ea typeface="DejaVu Sans"/>
              </a:rPr>
              <a:t> </a:t>
            </a:r>
            <a:endParaRPr lang="en-US" sz="1800" b="0" strike="noStrike" spc="-1" dirty="0">
              <a:latin typeface="Arial"/>
            </a:endParaRPr>
          </a:p>
        </p:txBody>
      </p:sp>
      <p:pic>
        <p:nvPicPr>
          <p:cNvPr id="6" name="Picture 5">
            <a:extLst>
              <a:ext uri="{FF2B5EF4-FFF2-40B4-BE49-F238E27FC236}">
                <a16:creationId xmlns:a16="http://schemas.microsoft.com/office/drawing/2014/main" id="{48E98EBC-0D32-E40F-FBF7-05C0AB50E886}"/>
              </a:ext>
            </a:extLst>
          </p:cNvPr>
          <p:cNvPicPr>
            <a:picLocks noChangeAspect="1"/>
          </p:cNvPicPr>
          <p:nvPr/>
        </p:nvPicPr>
        <p:blipFill rotWithShape="1">
          <a:blip r:embed="rId3">
            <a:extLst>
              <a:ext uri="{28A0092B-C50C-407E-A947-70E740481C1C}">
                <a14:useLocalDpi xmlns:a14="http://schemas.microsoft.com/office/drawing/2010/main" val="0"/>
              </a:ext>
            </a:extLst>
          </a:blip>
          <a:srcRect l="31617" r="30603" b="29724"/>
          <a:stretch/>
        </p:blipFill>
        <p:spPr>
          <a:xfrm>
            <a:off x="5433064" y="723376"/>
            <a:ext cx="1678193" cy="4084424"/>
          </a:xfrm>
          <a:prstGeom prst="rect">
            <a:avLst/>
          </a:prstGeom>
        </p:spPr>
      </p:pic>
      <p:sp>
        <p:nvSpPr>
          <p:cNvPr id="10" name="CustomShape 1">
            <a:extLst>
              <a:ext uri="{FF2B5EF4-FFF2-40B4-BE49-F238E27FC236}">
                <a16:creationId xmlns:a16="http://schemas.microsoft.com/office/drawing/2014/main" id="{80ECE029-A879-ADA3-36A2-0D878754E508}"/>
              </a:ext>
            </a:extLst>
          </p:cNvPr>
          <p:cNvSpPr/>
          <p:nvPr/>
        </p:nvSpPr>
        <p:spPr>
          <a:xfrm>
            <a:off x="385200" y="233280"/>
            <a:ext cx="7567920" cy="8960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90000"/>
              </a:lnSpc>
            </a:pPr>
            <a:r>
              <a:rPr lang="de-DE" sz="1800" b="1" strike="noStrike" spc="-1" dirty="0">
                <a:solidFill>
                  <a:srgbClr val="000000"/>
                </a:solidFill>
                <a:latin typeface="Arial"/>
                <a:ea typeface="DejaVu Sans"/>
              </a:rPr>
              <a:t>Fungi </a:t>
            </a:r>
            <a:r>
              <a:rPr lang="de-DE" sz="1800" b="1" strike="noStrike" spc="-1" dirty="0" err="1">
                <a:solidFill>
                  <a:srgbClr val="000000"/>
                </a:solidFill>
                <a:latin typeface="Arial"/>
                <a:ea typeface="DejaVu Sans"/>
              </a:rPr>
              <a:t>infect</a:t>
            </a:r>
            <a:r>
              <a:rPr lang="de-DE" sz="1800" b="1" strike="noStrike" spc="-1" dirty="0">
                <a:solidFill>
                  <a:srgbClr val="000000"/>
                </a:solidFill>
                <a:latin typeface="Arial"/>
                <a:ea typeface="DejaVu Sans"/>
              </a:rPr>
              <a:t> &gt;1 </a:t>
            </a:r>
            <a:r>
              <a:rPr lang="de-DE" sz="1800" b="1" strike="noStrike" spc="-1" dirty="0" err="1">
                <a:solidFill>
                  <a:srgbClr val="000000"/>
                </a:solidFill>
                <a:latin typeface="Arial"/>
                <a:ea typeface="DejaVu Sans"/>
              </a:rPr>
              <a:t>billion</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people</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each</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year</a:t>
            </a:r>
            <a:endParaRPr lang="en-US" sz="1800" b="0" strike="noStrike" spc="-1" dirty="0">
              <a:latin typeface="Arial"/>
            </a:endParaRPr>
          </a:p>
        </p:txBody>
      </p:sp>
      <p:pic>
        <p:nvPicPr>
          <p:cNvPr id="2" name="Picture 1">
            <a:extLst>
              <a:ext uri="{FF2B5EF4-FFF2-40B4-BE49-F238E27FC236}">
                <a16:creationId xmlns:a16="http://schemas.microsoft.com/office/drawing/2014/main" id="{0AEA4424-7B83-8FA5-63D0-8FBD9F68568A}"/>
              </a:ext>
            </a:extLst>
          </p:cNvPr>
          <p:cNvPicPr>
            <a:picLocks noChangeAspect="1"/>
          </p:cNvPicPr>
          <p:nvPr/>
        </p:nvPicPr>
        <p:blipFill rotWithShape="1">
          <a:blip r:embed="rId3">
            <a:extLst>
              <a:ext uri="{28A0092B-C50C-407E-A947-70E740481C1C}">
                <a14:useLocalDpi xmlns:a14="http://schemas.microsoft.com/office/drawing/2010/main" val="0"/>
              </a:ext>
            </a:extLst>
          </a:blip>
          <a:srcRect l="7234" t="84008" r="86258" b="8743"/>
          <a:stretch/>
        </p:blipFill>
        <p:spPr>
          <a:xfrm>
            <a:off x="1190880" y="1331503"/>
            <a:ext cx="424059" cy="618032"/>
          </a:xfrm>
          <a:prstGeom prst="rect">
            <a:avLst/>
          </a:prstGeom>
        </p:spPr>
      </p:pic>
      <p:pic>
        <p:nvPicPr>
          <p:cNvPr id="3" name="Picture 2">
            <a:extLst>
              <a:ext uri="{FF2B5EF4-FFF2-40B4-BE49-F238E27FC236}">
                <a16:creationId xmlns:a16="http://schemas.microsoft.com/office/drawing/2014/main" id="{F206E06F-E8A8-5A66-9BC7-FE847FE4A441}"/>
              </a:ext>
            </a:extLst>
          </p:cNvPr>
          <p:cNvPicPr>
            <a:picLocks noChangeAspect="1"/>
          </p:cNvPicPr>
          <p:nvPr/>
        </p:nvPicPr>
        <p:blipFill rotWithShape="1">
          <a:blip r:embed="rId3">
            <a:extLst>
              <a:ext uri="{28A0092B-C50C-407E-A947-70E740481C1C}">
                <a14:useLocalDpi xmlns:a14="http://schemas.microsoft.com/office/drawing/2010/main" val="0"/>
              </a:ext>
            </a:extLst>
          </a:blip>
          <a:srcRect l="37355" t="84520" r="56257" b="10042"/>
          <a:stretch/>
        </p:blipFill>
        <p:spPr>
          <a:xfrm>
            <a:off x="1190880" y="2566619"/>
            <a:ext cx="381004" cy="424383"/>
          </a:xfrm>
          <a:prstGeom prst="rect">
            <a:avLst/>
          </a:prstGeom>
        </p:spPr>
      </p:pic>
      <p:pic>
        <p:nvPicPr>
          <p:cNvPr id="4" name="Picture 3">
            <a:extLst>
              <a:ext uri="{FF2B5EF4-FFF2-40B4-BE49-F238E27FC236}">
                <a16:creationId xmlns:a16="http://schemas.microsoft.com/office/drawing/2014/main" id="{C25EC4F9-21A9-E854-75B2-E85161321912}"/>
              </a:ext>
            </a:extLst>
          </p:cNvPr>
          <p:cNvPicPr>
            <a:picLocks noChangeAspect="1"/>
          </p:cNvPicPr>
          <p:nvPr/>
        </p:nvPicPr>
        <p:blipFill rotWithShape="1">
          <a:blip r:embed="rId3">
            <a:extLst>
              <a:ext uri="{28A0092B-C50C-407E-A947-70E740481C1C}">
                <a14:useLocalDpi xmlns:a14="http://schemas.microsoft.com/office/drawing/2010/main" val="0"/>
              </a:ext>
            </a:extLst>
          </a:blip>
          <a:srcRect l="67903" t="84157" r="23682" b="6275"/>
          <a:stretch/>
        </p:blipFill>
        <p:spPr>
          <a:xfrm>
            <a:off x="1239998" y="3614168"/>
            <a:ext cx="364243" cy="541954"/>
          </a:xfrm>
          <a:prstGeom prst="rect">
            <a:avLst/>
          </a:prstGeom>
        </p:spPr>
      </p:pic>
      <p:sp>
        <p:nvSpPr>
          <p:cNvPr id="5" name="TextBox 4">
            <a:extLst>
              <a:ext uri="{FF2B5EF4-FFF2-40B4-BE49-F238E27FC236}">
                <a16:creationId xmlns:a16="http://schemas.microsoft.com/office/drawing/2014/main" id="{6B2F105C-75EE-0032-FCD6-659EA82C0EE2}"/>
              </a:ext>
            </a:extLst>
          </p:cNvPr>
          <p:cNvSpPr txBox="1"/>
          <p:nvPr/>
        </p:nvSpPr>
        <p:spPr>
          <a:xfrm>
            <a:off x="1688755" y="1240556"/>
            <a:ext cx="3055820" cy="954107"/>
          </a:xfrm>
          <a:prstGeom prst="rect">
            <a:avLst/>
          </a:prstGeom>
          <a:noFill/>
        </p:spPr>
        <p:txBody>
          <a:bodyPr wrap="square" rtlCol="0">
            <a:spAutoFit/>
          </a:bodyPr>
          <a:lstStyle/>
          <a:p>
            <a:pPr algn="just"/>
            <a:r>
              <a:rPr lang="en-CN" sz="1400" i="1" dirty="0"/>
              <a:t>Aspergillus fumigatus</a:t>
            </a:r>
          </a:p>
          <a:p>
            <a:pPr algn="just"/>
            <a:r>
              <a:rPr lang="en-CN" sz="1400" dirty="0"/>
              <a:t>Opportunistic pathogen causing invasive aspergillosis mainly in lung</a:t>
            </a:r>
            <a:r>
              <a:rPr lang="en-US" altLang="zh-CN" sz="1400" dirty="0"/>
              <a:t>s</a:t>
            </a:r>
            <a:r>
              <a:rPr lang="en-CN" sz="1400" dirty="0"/>
              <a:t> and other sites.</a:t>
            </a:r>
          </a:p>
        </p:txBody>
      </p:sp>
      <p:sp>
        <p:nvSpPr>
          <p:cNvPr id="7" name="TextBox 6">
            <a:extLst>
              <a:ext uri="{FF2B5EF4-FFF2-40B4-BE49-F238E27FC236}">
                <a16:creationId xmlns:a16="http://schemas.microsoft.com/office/drawing/2014/main" id="{68BEE029-7DE9-917A-ED34-75CFB9F99F9D}"/>
              </a:ext>
            </a:extLst>
          </p:cNvPr>
          <p:cNvSpPr txBox="1"/>
          <p:nvPr/>
        </p:nvSpPr>
        <p:spPr>
          <a:xfrm>
            <a:off x="1688754" y="2417833"/>
            <a:ext cx="2969759" cy="738664"/>
          </a:xfrm>
          <a:prstGeom prst="rect">
            <a:avLst/>
          </a:prstGeom>
          <a:noFill/>
        </p:spPr>
        <p:txBody>
          <a:bodyPr wrap="square" rtlCol="0">
            <a:spAutoFit/>
          </a:bodyPr>
          <a:lstStyle/>
          <a:p>
            <a:pPr algn="just"/>
            <a:r>
              <a:rPr lang="en-CN" sz="1400" i="1" dirty="0"/>
              <a:t>Candida albicans</a:t>
            </a:r>
          </a:p>
          <a:p>
            <a:pPr algn="just"/>
            <a:r>
              <a:rPr lang="en-CN" sz="1400" dirty="0"/>
              <a:t>Commonly colonizes mucosal or surfaces and can cause infections.</a:t>
            </a:r>
          </a:p>
        </p:txBody>
      </p:sp>
      <p:sp>
        <p:nvSpPr>
          <p:cNvPr id="9" name="TextBox 8">
            <a:extLst>
              <a:ext uri="{FF2B5EF4-FFF2-40B4-BE49-F238E27FC236}">
                <a16:creationId xmlns:a16="http://schemas.microsoft.com/office/drawing/2014/main" id="{570899CB-FDC3-068D-C03A-4006F0ACC590}"/>
              </a:ext>
            </a:extLst>
          </p:cNvPr>
          <p:cNvSpPr txBox="1"/>
          <p:nvPr/>
        </p:nvSpPr>
        <p:spPr>
          <a:xfrm>
            <a:off x="1689699" y="3447337"/>
            <a:ext cx="2968813" cy="954107"/>
          </a:xfrm>
          <a:prstGeom prst="rect">
            <a:avLst/>
          </a:prstGeom>
          <a:noFill/>
        </p:spPr>
        <p:txBody>
          <a:bodyPr wrap="square" rtlCol="0">
            <a:spAutoFit/>
          </a:bodyPr>
          <a:lstStyle/>
          <a:p>
            <a:pPr algn="just"/>
            <a:r>
              <a:rPr lang="en-CN" sz="1400" i="1" dirty="0"/>
              <a:t>Rhizopus oryzae</a:t>
            </a:r>
          </a:p>
          <a:p>
            <a:pPr algn="just"/>
            <a:r>
              <a:rPr lang="en-CN" sz="1400" dirty="0"/>
              <a:t>Causes mucormycosis mainly affecting lungs, skins, and Gastrointestinal tract.</a:t>
            </a:r>
          </a:p>
        </p:txBody>
      </p:sp>
    </p:spTree>
    <p:extLst>
      <p:ext uri="{BB962C8B-B14F-4D97-AF65-F5344CB8AC3E}">
        <p14:creationId xmlns:p14="http://schemas.microsoft.com/office/powerpoint/2010/main" val="6702631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stomShape 1">
            <a:extLst>
              <a:ext uri="{FF2B5EF4-FFF2-40B4-BE49-F238E27FC236}">
                <a16:creationId xmlns:a16="http://schemas.microsoft.com/office/drawing/2014/main" id="{FFFA3240-E330-A2BC-375D-2C8C8B431BE7}"/>
              </a:ext>
            </a:extLst>
          </p:cNvPr>
          <p:cNvSpPr/>
          <p:nvPr/>
        </p:nvSpPr>
        <p:spPr>
          <a:xfrm>
            <a:off x="291239" y="235440"/>
            <a:ext cx="8788903" cy="8953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90000"/>
              </a:lnSpc>
            </a:pPr>
            <a:r>
              <a:rPr lang="de-DE" sz="1800" b="1" strike="noStrike" spc="-1" dirty="0">
                <a:solidFill>
                  <a:srgbClr val="000000"/>
                </a:solidFill>
                <a:latin typeface="Arial"/>
                <a:ea typeface="DejaVu Sans"/>
              </a:rPr>
              <a:t>Limited </a:t>
            </a:r>
            <a:r>
              <a:rPr lang="de-DE" sz="1800" b="1" strike="noStrike" spc="-1" dirty="0" err="1">
                <a:solidFill>
                  <a:srgbClr val="000000"/>
                </a:solidFill>
                <a:latin typeface="Arial"/>
                <a:ea typeface="DejaVu Sans"/>
              </a:rPr>
              <a:t>antifungal</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agents</a:t>
            </a:r>
            <a:r>
              <a:rPr lang="de-DE" sz="1800" b="1" strike="noStrike" spc="-1" dirty="0">
                <a:solidFill>
                  <a:srgbClr val="000000"/>
                </a:solidFill>
                <a:latin typeface="Arial"/>
                <a:ea typeface="DejaVu Sans"/>
              </a:rPr>
              <a:t> </a:t>
            </a:r>
            <a:r>
              <a:rPr lang="de-DE" b="1" spc="-1" dirty="0" err="1">
                <a:solidFill>
                  <a:srgbClr val="000000"/>
                </a:solidFill>
                <a:latin typeface="Arial"/>
                <a:ea typeface="DejaVu Sans"/>
              </a:rPr>
              <a:t>u</a:t>
            </a:r>
            <a:r>
              <a:rPr lang="de-DE" sz="1800" b="1" strike="noStrike" spc="-1" dirty="0" err="1">
                <a:solidFill>
                  <a:srgbClr val="000000"/>
                </a:solidFill>
                <a:latin typeface="Arial"/>
                <a:ea typeface="DejaVu Sans"/>
              </a:rPr>
              <a:t>rge</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us</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to</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develop</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novel</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antifungal</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therapies</a:t>
            </a:r>
            <a:endParaRPr lang="en-US" sz="1800" b="0" strike="noStrike" spc="-1" dirty="0">
              <a:latin typeface="Arial"/>
            </a:endParaRPr>
          </a:p>
        </p:txBody>
      </p:sp>
      <p:sp>
        <p:nvSpPr>
          <p:cNvPr id="11" name="CustomShape 8">
            <a:extLst>
              <a:ext uri="{FF2B5EF4-FFF2-40B4-BE49-F238E27FC236}">
                <a16:creationId xmlns:a16="http://schemas.microsoft.com/office/drawing/2014/main" id="{F9297487-CD41-1ED9-D813-BD7D942FB905}"/>
              </a:ext>
            </a:extLst>
          </p:cNvPr>
          <p:cNvSpPr/>
          <p:nvPr/>
        </p:nvSpPr>
        <p:spPr>
          <a:xfrm>
            <a:off x="8258760" y="4807800"/>
            <a:ext cx="565200" cy="113335"/>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C3CACEEB-972B-460B-A856-FC5E7152F28E}" type="slidenum">
              <a:rPr lang="de-DE" sz="1000" b="0" strike="noStrike" spc="-1">
                <a:solidFill>
                  <a:srgbClr val="0949A7"/>
                </a:solidFill>
                <a:ea typeface="DejaVu Sans"/>
              </a:rPr>
              <a:t>5</a:t>
            </a:fld>
            <a:endParaRPr lang="en-US" sz="1000" b="0" strike="noStrike" spc="-1" dirty="0"/>
          </a:p>
        </p:txBody>
      </p:sp>
      <p:sp>
        <p:nvSpPr>
          <p:cNvPr id="7" name="CustomShape 6">
            <a:extLst>
              <a:ext uri="{FF2B5EF4-FFF2-40B4-BE49-F238E27FC236}">
                <a16:creationId xmlns:a16="http://schemas.microsoft.com/office/drawing/2014/main" id="{150FDFFE-E96E-4291-4633-5121EA1F0D6C}"/>
              </a:ext>
            </a:extLst>
          </p:cNvPr>
          <p:cNvSpPr/>
          <p:nvPr/>
        </p:nvSpPr>
        <p:spPr>
          <a:xfrm>
            <a:off x="611917" y="4848294"/>
            <a:ext cx="1529306" cy="275545"/>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spc="-1" dirty="0">
                <a:solidFill>
                  <a:srgbClr val="000000"/>
                </a:solidFill>
              </a:rPr>
              <a:t>WHO</a:t>
            </a:r>
            <a:r>
              <a:rPr lang="zh-CN" altLang="en-US" sz="1200" spc="-1" dirty="0">
                <a:solidFill>
                  <a:srgbClr val="000000"/>
                </a:solidFill>
              </a:rPr>
              <a:t> </a:t>
            </a:r>
            <a:r>
              <a:rPr lang="en-US" altLang="zh-CN" sz="1200" spc="-1" dirty="0">
                <a:solidFill>
                  <a:srgbClr val="000000"/>
                </a:solidFill>
              </a:rPr>
              <a:t>Report.</a:t>
            </a:r>
            <a:r>
              <a:rPr lang="zh-CN" altLang="en-US" sz="1200" spc="-1" dirty="0">
                <a:solidFill>
                  <a:srgbClr val="000000"/>
                </a:solidFill>
              </a:rPr>
              <a:t> </a:t>
            </a:r>
            <a:r>
              <a:rPr lang="en-US" altLang="zh-CN" sz="1200" spc="-1" dirty="0">
                <a:solidFill>
                  <a:srgbClr val="000000"/>
                </a:solidFill>
              </a:rPr>
              <a:t>2022</a:t>
            </a:r>
            <a:r>
              <a:rPr lang="en-US" sz="1200" spc="-1" dirty="0">
                <a:solidFill>
                  <a:srgbClr val="000000"/>
                </a:solidFill>
              </a:rPr>
              <a:t>.</a:t>
            </a:r>
          </a:p>
        </p:txBody>
      </p:sp>
      <p:sp>
        <p:nvSpPr>
          <p:cNvPr id="8" name="TextBox 7">
            <a:extLst>
              <a:ext uri="{FF2B5EF4-FFF2-40B4-BE49-F238E27FC236}">
                <a16:creationId xmlns:a16="http://schemas.microsoft.com/office/drawing/2014/main" id="{F5208BE7-74B9-C874-5C6F-FE92C096F66D}"/>
              </a:ext>
            </a:extLst>
          </p:cNvPr>
          <p:cNvSpPr txBox="1"/>
          <p:nvPr/>
        </p:nvSpPr>
        <p:spPr>
          <a:xfrm>
            <a:off x="4517588" y="1418246"/>
            <a:ext cx="4335332" cy="2632003"/>
          </a:xfrm>
          <a:prstGeom prst="rect">
            <a:avLst/>
          </a:prstGeom>
          <a:noFill/>
        </p:spPr>
        <p:txBody>
          <a:bodyPr wrap="square" rtlCol="0">
            <a:spAutoFit/>
          </a:bodyPr>
          <a:lstStyle/>
          <a:p>
            <a:pPr>
              <a:lnSpc>
                <a:spcPct val="150000"/>
              </a:lnSpc>
            </a:pPr>
            <a:r>
              <a:rPr lang="en-CN" sz="1600" b="1" dirty="0"/>
              <a:t>Diagnoses </a:t>
            </a:r>
            <a:r>
              <a:rPr lang="en-US" altLang="zh-CN" sz="1600" b="1" dirty="0"/>
              <a:t>&amp;</a:t>
            </a:r>
            <a:r>
              <a:rPr lang="en-CN" sz="1600" b="1" dirty="0"/>
              <a:t> treatments</a:t>
            </a:r>
          </a:p>
          <a:p>
            <a:pPr marL="285750" indent="-285750">
              <a:lnSpc>
                <a:spcPct val="150000"/>
              </a:lnSpc>
              <a:buFont typeface="Arial" panose="020B0604020202020204" pitchFamily="34" charset="0"/>
              <a:buChar char="•"/>
            </a:pPr>
            <a:r>
              <a:rPr lang="en-US" altLang="zh-CN" sz="1600" dirty="0"/>
              <a:t>Limited options (Azoles, echinocandins, polyenes)</a:t>
            </a:r>
            <a:r>
              <a:rPr lang="zh-CN" altLang="en-US" sz="1600" dirty="0"/>
              <a:t> </a:t>
            </a:r>
            <a:endParaRPr lang="en-US" altLang="zh-CN" sz="1600" dirty="0"/>
          </a:p>
          <a:p>
            <a:pPr marL="285750" indent="-285750">
              <a:lnSpc>
                <a:spcPct val="150000"/>
              </a:lnSpc>
              <a:buFont typeface="Arial" panose="020B0604020202020204" pitchFamily="34" charset="0"/>
              <a:buChar char="•"/>
            </a:pPr>
            <a:r>
              <a:rPr lang="en-US" altLang="zh-CN" sz="1600" dirty="0"/>
              <a:t>Increasing resistance</a:t>
            </a:r>
          </a:p>
          <a:p>
            <a:pPr>
              <a:lnSpc>
                <a:spcPct val="150000"/>
              </a:lnSpc>
            </a:pPr>
            <a:endParaRPr lang="en-GB" sz="1600" dirty="0">
              <a:effectLst/>
              <a:latin typeface="Helvetica" pitchFamily="2" charset="0"/>
            </a:endParaRPr>
          </a:p>
          <a:p>
            <a:pPr>
              <a:lnSpc>
                <a:spcPct val="150000"/>
              </a:lnSpc>
            </a:pPr>
            <a:endParaRPr lang="en-GB" sz="1600" dirty="0">
              <a:effectLst/>
              <a:latin typeface="Helvetica" pitchFamily="2" charset="0"/>
            </a:endParaRPr>
          </a:p>
          <a:p>
            <a:pPr>
              <a:lnSpc>
                <a:spcPct val="150000"/>
              </a:lnSpc>
            </a:pPr>
            <a:endParaRPr lang="en-US" altLang="zh-CN" sz="1600" dirty="0"/>
          </a:p>
        </p:txBody>
      </p:sp>
      <p:pic>
        <p:nvPicPr>
          <p:cNvPr id="2052" name="Picture 4">
            <a:extLst>
              <a:ext uri="{FF2B5EF4-FFF2-40B4-BE49-F238E27FC236}">
                <a16:creationId xmlns:a16="http://schemas.microsoft.com/office/drawing/2014/main" id="{350C8598-C0B2-669F-EB41-33F0392D18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861" y="1418246"/>
            <a:ext cx="4133760" cy="2325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21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a:extLst>
              <a:ext uri="{FF2B5EF4-FFF2-40B4-BE49-F238E27FC236}">
                <a16:creationId xmlns:a16="http://schemas.microsoft.com/office/drawing/2014/main" id="{D8ED1623-6423-1AA9-B849-AF01612C4FCB}"/>
              </a:ext>
            </a:extLst>
          </p:cNvPr>
          <p:cNvSpPr/>
          <p:nvPr/>
        </p:nvSpPr>
        <p:spPr>
          <a:xfrm>
            <a:off x="385200" y="233280"/>
            <a:ext cx="7567920" cy="8960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90000"/>
              </a:lnSpc>
            </a:pPr>
            <a:r>
              <a:rPr lang="de-DE" sz="1800" b="1" strike="noStrike" spc="-1" dirty="0">
                <a:solidFill>
                  <a:srgbClr val="000000"/>
                </a:solidFill>
                <a:latin typeface="Arial"/>
                <a:ea typeface="DejaVu Sans"/>
              </a:rPr>
              <a:t>Double-</a:t>
            </a:r>
            <a:r>
              <a:rPr lang="de-DE" sz="1800" b="1" strike="noStrike" spc="-1" dirty="0" err="1">
                <a:solidFill>
                  <a:srgbClr val="000000"/>
                </a:solidFill>
                <a:latin typeface="Arial"/>
                <a:ea typeface="DejaVu Sans"/>
              </a:rPr>
              <a:t>stranded</a:t>
            </a:r>
            <a:r>
              <a:rPr lang="de-DE" sz="1800" b="1" strike="noStrike" spc="-1" dirty="0">
                <a:solidFill>
                  <a:srgbClr val="000000"/>
                </a:solidFill>
                <a:latin typeface="Arial"/>
                <a:ea typeface="DejaVu Sans"/>
              </a:rPr>
              <a:t> RNA (</a:t>
            </a:r>
            <a:r>
              <a:rPr lang="de-DE" sz="1800" b="1" strike="noStrike" spc="-1" dirty="0" err="1">
                <a:solidFill>
                  <a:srgbClr val="000000"/>
                </a:solidFill>
                <a:latin typeface="Arial"/>
                <a:ea typeface="DejaVu Sans"/>
              </a:rPr>
              <a:t>dsRNA</a:t>
            </a:r>
            <a:r>
              <a:rPr lang="de-DE" sz="1800" b="1" strike="noStrike" spc="-1" dirty="0">
                <a:solidFill>
                  <a:srgbClr val="000000"/>
                </a:solidFill>
                <a:latin typeface="Arial"/>
                <a:ea typeface="DejaVu Sans"/>
              </a:rPr>
              <a:t>) </a:t>
            </a:r>
            <a:r>
              <a:rPr lang="de-DE" b="1" spc="-1" dirty="0" err="1">
                <a:solidFill>
                  <a:srgbClr val="000000"/>
                </a:solidFill>
                <a:latin typeface="Arial"/>
                <a:ea typeface="DejaVu Sans"/>
              </a:rPr>
              <a:t>c</a:t>
            </a:r>
            <a:r>
              <a:rPr lang="de-DE" sz="1800" b="1" strike="noStrike" spc="-1" dirty="0" err="1">
                <a:solidFill>
                  <a:srgbClr val="000000"/>
                </a:solidFill>
                <a:latin typeface="Arial"/>
                <a:ea typeface="DejaVu Sans"/>
              </a:rPr>
              <a:t>an</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be</a:t>
            </a:r>
            <a:r>
              <a:rPr lang="de-DE" sz="1800" b="1" strike="noStrike" spc="-1" dirty="0">
                <a:solidFill>
                  <a:srgbClr val="000000"/>
                </a:solidFill>
                <a:latin typeface="Arial"/>
                <a:ea typeface="DejaVu Sans"/>
              </a:rPr>
              <a:t> a </a:t>
            </a:r>
            <a:r>
              <a:rPr lang="de-DE" sz="1800" b="1" strike="noStrike" spc="-1" dirty="0" err="1">
                <a:solidFill>
                  <a:srgbClr val="000000"/>
                </a:solidFill>
                <a:latin typeface="Arial"/>
                <a:ea typeface="DejaVu Sans"/>
              </a:rPr>
              <a:t>novel</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antifungal</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therapy</a:t>
            </a:r>
            <a:r>
              <a:rPr lang="de-DE" sz="1800" b="1" strike="noStrike" spc="-1" dirty="0">
                <a:solidFill>
                  <a:srgbClr val="000000"/>
                </a:solidFill>
                <a:latin typeface="Arial"/>
                <a:ea typeface="DejaVu Sans"/>
              </a:rPr>
              <a:t>.</a:t>
            </a:r>
            <a:endParaRPr lang="en-US" sz="1800" b="0" strike="noStrike" spc="-1" dirty="0">
              <a:latin typeface="Arial"/>
            </a:endParaRPr>
          </a:p>
        </p:txBody>
      </p:sp>
      <p:sp>
        <p:nvSpPr>
          <p:cNvPr id="5" name="CustomShape 8">
            <a:extLst>
              <a:ext uri="{FF2B5EF4-FFF2-40B4-BE49-F238E27FC236}">
                <a16:creationId xmlns:a16="http://schemas.microsoft.com/office/drawing/2014/main" id="{6486F769-6012-EB2A-7DE2-144BEF5D913D}"/>
              </a:ext>
            </a:extLst>
          </p:cNvPr>
          <p:cNvSpPr/>
          <p:nvPr/>
        </p:nvSpPr>
        <p:spPr>
          <a:xfrm>
            <a:off x="8258760" y="4807800"/>
            <a:ext cx="565200" cy="1263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C3CACEEB-972B-460B-A856-FC5E7152F28E}" type="slidenum">
              <a:rPr lang="de-DE" sz="1000" b="0" strike="noStrike" spc="-1">
                <a:solidFill>
                  <a:srgbClr val="0949A7"/>
                </a:solidFill>
                <a:ea typeface="DejaVu Sans"/>
              </a:rPr>
              <a:t>6</a:t>
            </a:fld>
            <a:endParaRPr lang="en-US" sz="1000" b="0" strike="noStrike" spc="-1" dirty="0"/>
          </a:p>
        </p:txBody>
      </p:sp>
      <p:sp>
        <p:nvSpPr>
          <p:cNvPr id="7" name="TextBox 6">
            <a:extLst>
              <a:ext uri="{FF2B5EF4-FFF2-40B4-BE49-F238E27FC236}">
                <a16:creationId xmlns:a16="http://schemas.microsoft.com/office/drawing/2014/main" id="{CAD0A8C6-2E1E-63CD-208A-A7746BE9BC46}"/>
              </a:ext>
            </a:extLst>
          </p:cNvPr>
          <p:cNvSpPr txBox="1"/>
          <p:nvPr/>
        </p:nvSpPr>
        <p:spPr>
          <a:xfrm>
            <a:off x="385200" y="4590499"/>
            <a:ext cx="7633080" cy="276999"/>
          </a:xfrm>
          <a:prstGeom prst="rect">
            <a:avLst/>
          </a:prstGeom>
          <a:noFill/>
        </p:spPr>
        <p:txBody>
          <a:bodyPr wrap="square">
            <a:spAutoFit/>
          </a:bodyPr>
          <a:lstStyle/>
          <a:p>
            <a:r>
              <a:rPr lang="en-CN" sz="1200" spc="-1" dirty="0">
                <a:solidFill>
                  <a:srgbClr val="000000"/>
                </a:solidFill>
                <a:latin typeface="Arial"/>
                <a:ea typeface="DejaVu Sans"/>
              </a:rPr>
              <a:t>I. Anosova, </a:t>
            </a:r>
            <a:r>
              <a:rPr lang="en-CN" sz="1200" i="1" spc="-1" dirty="0">
                <a:solidFill>
                  <a:srgbClr val="000000"/>
                </a:solidFill>
                <a:latin typeface="Arial"/>
                <a:ea typeface="DejaVu Sans"/>
              </a:rPr>
              <a:t>et al. </a:t>
            </a:r>
            <a:r>
              <a:rPr lang="en-CN" sz="1200" spc="-1" dirty="0">
                <a:solidFill>
                  <a:srgbClr val="000000"/>
                </a:solidFill>
                <a:latin typeface="Arial"/>
                <a:ea typeface="DejaVu Sans"/>
              </a:rPr>
              <a:t>2015</a:t>
            </a:r>
            <a:endParaRPr lang="en-CN" dirty="0"/>
          </a:p>
        </p:txBody>
      </p:sp>
      <p:pic>
        <p:nvPicPr>
          <p:cNvPr id="3076" name="Picture 4" descr="Geometric parameters of natural A- and B-form helices. ( A ) Natural genetic polymers (RNA and DNA) adopt different helical geometries. Left: canonical A-form helix (RNA, PDB code 3ND4). Right: canonical B-form helix (DNA, PDB code 3BSE). A view from the top is presented underneath each structure. ( B ) Differences in sugar puckering and P–P distances between A- and B-form helices. A close-up view of a single nucleotide in a canonical A-helix (top panel, RNA) and a B-helix (bottom panel, DNA) color coded by atom type. The ␹ and δ torsion angles and the distances between two adjacent phosphates in 5 -3 direction ( P i P i+1 ) are indicated. ( C ) ( ␹ , δ ) angle covariance matrix for natural A- and B-form helices. Each dot represents a ( ␹ , δ ) angle covariance for a single nucleotide from the structures listed above. The values for ␹ and δ torsion angles of A- and B-form helices cluster in distinct regions of the plot and allow a simple measure of structural diversity. Example values were generated using PYMOL software, based on the PDB code 3ND4 (gray circles, A-form, RNA) and PDB code 3BSE (black circles, B-form, DNA) structures. The ellipses show published value ranges for the ( ␹ , δ ) angle covariance matrices of an A-DNA (dashed line) and a B-DNA (solid line) (92). ">
            <a:extLst>
              <a:ext uri="{FF2B5EF4-FFF2-40B4-BE49-F238E27FC236}">
                <a16:creationId xmlns:a16="http://schemas.microsoft.com/office/drawing/2014/main" id="{05526674-90E4-8776-A367-C88A7635B53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1536" b="6228"/>
          <a:stretch/>
        </p:blipFill>
        <p:spPr bwMode="auto">
          <a:xfrm>
            <a:off x="2230453" y="723559"/>
            <a:ext cx="2509498" cy="411892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6E346FC-A2D9-E040-A07E-E03FDB2ECAB8}"/>
              </a:ext>
            </a:extLst>
          </p:cNvPr>
          <p:cNvSpPr txBox="1"/>
          <p:nvPr/>
        </p:nvSpPr>
        <p:spPr>
          <a:xfrm>
            <a:off x="385201" y="1691730"/>
            <a:ext cx="1845252" cy="1600438"/>
          </a:xfrm>
          <a:prstGeom prst="rect">
            <a:avLst/>
          </a:prstGeom>
          <a:noFill/>
        </p:spPr>
        <p:txBody>
          <a:bodyPr wrap="square" rtlCol="0">
            <a:spAutoFit/>
          </a:bodyPr>
          <a:lstStyle/>
          <a:p>
            <a:r>
              <a:rPr lang="en-GB" sz="1400" dirty="0"/>
              <a:t>M</a:t>
            </a:r>
            <a:r>
              <a:rPr lang="en-CN" sz="1400" dirty="0"/>
              <a:t>ajor groove is deeper and narrower</a:t>
            </a:r>
          </a:p>
          <a:p>
            <a:endParaRPr lang="en-CN" sz="1400" dirty="0"/>
          </a:p>
          <a:p>
            <a:r>
              <a:rPr lang="en-CN" sz="1400" dirty="0"/>
              <a:t>Minor groove is wider and shallower</a:t>
            </a:r>
          </a:p>
          <a:p>
            <a:endParaRPr lang="en-CN" sz="1400" dirty="0"/>
          </a:p>
          <a:p>
            <a:endParaRPr lang="en-CN" sz="1400" dirty="0"/>
          </a:p>
        </p:txBody>
      </p:sp>
      <p:sp>
        <p:nvSpPr>
          <p:cNvPr id="8" name="Rectangle 7">
            <a:extLst>
              <a:ext uri="{FF2B5EF4-FFF2-40B4-BE49-F238E27FC236}">
                <a16:creationId xmlns:a16="http://schemas.microsoft.com/office/drawing/2014/main" id="{CF59EA65-0EF2-77DD-A388-5C3062359821}"/>
              </a:ext>
            </a:extLst>
          </p:cNvPr>
          <p:cNvSpPr/>
          <p:nvPr/>
        </p:nvSpPr>
        <p:spPr>
          <a:xfrm>
            <a:off x="2854569" y="762000"/>
            <a:ext cx="334108" cy="3673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 name="Rounded Rectangle 2">
            <a:extLst>
              <a:ext uri="{FF2B5EF4-FFF2-40B4-BE49-F238E27FC236}">
                <a16:creationId xmlns:a16="http://schemas.microsoft.com/office/drawing/2014/main" id="{D2D6C3B9-BE34-7931-BF06-02A9C68A300A}"/>
              </a:ext>
            </a:extLst>
          </p:cNvPr>
          <p:cNvSpPr/>
          <p:nvPr/>
        </p:nvSpPr>
        <p:spPr>
          <a:xfrm>
            <a:off x="385200" y="1623527"/>
            <a:ext cx="1845253" cy="132494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pic>
        <p:nvPicPr>
          <p:cNvPr id="10" name="Picture 9">
            <a:extLst>
              <a:ext uri="{FF2B5EF4-FFF2-40B4-BE49-F238E27FC236}">
                <a16:creationId xmlns:a16="http://schemas.microsoft.com/office/drawing/2014/main" id="{B0765C93-838F-DC3C-654C-9ABA35E5C569}"/>
              </a:ext>
            </a:extLst>
          </p:cNvPr>
          <p:cNvPicPr>
            <a:picLocks noChangeAspect="1"/>
          </p:cNvPicPr>
          <p:nvPr/>
        </p:nvPicPr>
        <p:blipFill rotWithShape="1">
          <a:blip r:embed="rId4">
            <a:extLst>
              <a:ext uri="{28A0092B-C50C-407E-A947-70E740481C1C}">
                <a14:useLocalDpi xmlns:a14="http://schemas.microsoft.com/office/drawing/2010/main" val="0"/>
              </a:ext>
            </a:extLst>
          </a:blip>
          <a:srcRect l="-1" r="70793"/>
          <a:stretch/>
        </p:blipFill>
        <p:spPr>
          <a:xfrm>
            <a:off x="5063994" y="1023949"/>
            <a:ext cx="1693982" cy="4059881"/>
          </a:xfrm>
          <a:prstGeom prst="rect">
            <a:avLst/>
          </a:prstGeom>
        </p:spPr>
      </p:pic>
      <p:sp>
        <p:nvSpPr>
          <p:cNvPr id="13" name="TextBox 12">
            <a:extLst>
              <a:ext uri="{FF2B5EF4-FFF2-40B4-BE49-F238E27FC236}">
                <a16:creationId xmlns:a16="http://schemas.microsoft.com/office/drawing/2014/main" id="{89C84B5E-EB80-84AA-5231-C2D912CFD108}"/>
              </a:ext>
            </a:extLst>
          </p:cNvPr>
          <p:cNvSpPr txBox="1"/>
          <p:nvPr/>
        </p:nvSpPr>
        <p:spPr>
          <a:xfrm>
            <a:off x="5468195" y="1919989"/>
            <a:ext cx="1363094" cy="577081"/>
          </a:xfrm>
          <a:prstGeom prst="rect">
            <a:avLst/>
          </a:prstGeom>
          <a:solidFill>
            <a:schemeClr val="bg1"/>
          </a:solidFill>
        </p:spPr>
        <p:txBody>
          <a:bodyPr wrap="square" rtlCol="0">
            <a:spAutoFit/>
          </a:bodyPr>
          <a:lstStyle/>
          <a:p>
            <a:r>
              <a:rPr lang="en-CN" sz="1050" dirty="0"/>
              <a:t>Dicer cleaves dsRNA to form siRNA duplexes.</a:t>
            </a:r>
          </a:p>
        </p:txBody>
      </p:sp>
      <p:pic>
        <p:nvPicPr>
          <p:cNvPr id="14" name="Picture 13">
            <a:extLst>
              <a:ext uri="{FF2B5EF4-FFF2-40B4-BE49-F238E27FC236}">
                <a16:creationId xmlns:a16="http://schemas.microsoft.com/office/drawing/2014/main" id="{6BBC4EDB-2CC1-7446-DC27-9856A893D8D2}"/>
              </a:ext>
            </a:extLst>
          </p:cNvPr>
          <p:cNvPicPr>
            <a:picLocks noChangeAspect="1"/>
          </p:cNvPicPr>
          <p:nvPr/>
        </p:nvPicPr>
        <p:blipFill rotWithShape="1">
          <a:blip r:embed="rId4">
            <a:extLst>
              <a:ext uri="{28A0092B-C50C-407E-A947-70E740481C1C}">
                <a14:useLocalDpi xmlns:a14="http://schemas.microsoft.com/office/drawing/2010/main" val="0"/>
              </a:ext>
            </a:extLst>
          </a:blip>
          <a:srcRect l="49216" r="28889"/>
          <a:stretch/>
        </p:blipFill>
        <p:spPr>
          <a:xfrm>
            <a:off x="6683289" y="1023948"/>
            <a:ext cx="1269831" cy="4059881"/>
          </a:xfrm>
          <a:prstGeom prst="rect">
            <a:avLst/>
          </a:prstGeom>
        </p:spPr>
      </p:pic>
      <p:sp>
        <p:nvSpPr>
          <p:cNvPr id="6" name="TextBox 5">
            <a:extLst>
              <a:ext uri="{FF2B5EF4-FFF2-40B4-BE49-F238E27FC236}">
                <a16:creationId xmlns:a16="http://schemas.microsoft.com/office/drawing/2014/main" id="{0DCF6E66-16CA-CE09-B275-98A9D644A860}"/>
              </a:ext>
            </a:extLst>
          </p:cNvPr>
          <p:cNvSpPr txBox="1"/>
          <p:nvPr/>
        </p:nvSpPr>
        <p:spPr>
          <a:xfrm>
            <a:off x="5544559" y="929708"/>
            <a:ext cx="2366178" cy="307777"/>
          </a:xfrm>
          <a:prstGeom prst="rect">
            <a:avLst/>
          </a:prstGeom>
          <a:noFill/>
        </p:spPr>
        <p:txBody>
          <a:bodyPr wrap="square">
            <a:spAutoFit/>
          </a:bodyPr>
          <a:lstStyle/>
          <a:p>
            <a:r>
              <a:rPr lang="en-US" altLang="zh-CN" sz="1400" spc="-1" dirty="0">
                <a:solidFill>
                  <a:srgbClr val="000000"/>
                </a:solidFill>
                <a:latin typeface="Arial"/>
                <a:ea typeface="DejaVu Sans"/>
              </a:rPr>
              <a:t>RNA</a:t>
            </a:r>
            <a:r>
              <a:rPr lang="zh-CN" altLang="en-US" sz="1400" spc="-1" dirty="0">
                <a:solidFill>
                  <a:srgbClr val="000000"/>
                </a:solidFill>
                <a:latin typeface="Arial"/>
                <a:ea typeface="DejaVu Sans"/>
              </a:rPr>
              <a:t> </a:t>
            </a:r>
            <a:r>
              <a:rPr lang="en-US" altLang="zh-CN" sz="1400" spc="-1" dirty="0">
                <a:solidFill>
                  <a:srgbClr val="000000"/>
                </a:solidFill>
                <a:latin typeface="Arial"/>
                <a:ea typeface="DejaVu Sans"/>
              </a:rPr>
              <a:t>interference</a:t>
            </a:r>
            <a:r>
              <a:rPr lang="zh-CN" altLang="en-US" sz="1400" spc="-1" dirty="0">
                <a:solidFill>
                  <a:srgbClr val="000000"/>
                </a:solidFill>
                <a:latin typeface="Arial"/>
                <a:ea typeface="DejaVu Sans"/>
              </a:rPr>
              <a:t> </a:t>
            </a:r>
            <a:r>
              <a:rPr lang="en-US" altLang="zh-CN" sz="1400" spc="-1" dirty="0">
                <a:solidFill>
                  <a:srgbClr val="000000"/>
                </a:solidFill>
                <a:latin typeface="Arial"/>
                <a:ea typeface="DejaVu Sans"/>
              </a:rPr>
              <a:t>(RNAi)</a:t>
            </a:r>
            <a:endParaRPr lang="en-CN" sz="2000" dirty="0"/>
          </a:p>
        </p:txBody>
      </p:sp>
      <p:sp>
        <p:nvSpPr>
          <p:cNvPr id="9" name="Rectangle 8">
            <a:extLst>
              <a:ext uri="{FF2B5EF4-FFF2-40B4-BE49-F238E27FC236}">
                <a16:creationId xmlns:a16="http://schemas.microsoft.com/office/drawing/2014/main" id="{3934F9A7-4FB4-5C14-E516-59A60B78947A}"/>
              </a:ext>
            </a:extLst>
          </p:cNvPr>
          <p:cNvSpPr/>
          <p:nvPr/>
        </p:nvSpPr>
        <p:spPr>
          <a:xfrm>
            <a:off x="2091559" y="713049"/>
            <a:ext cx="367862" cy="2061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1" name="Rectangle 10">
            <a:extLst>
              <a:ext uri="{FF2B5EF4-FFF2-40B4-BE49-F238E27FC236}">
                <a16:creationId xmlns:a16="http://schemas.microsoft.com/office/drawing/2014/main" id="{E9015B25-1DD4-5C6A-76BC-D5145E6653D9}"/>
              </a:ext>
            </a:extLst>
          </p:cNvPr>
          <p:cNvSpPr/>
          <p:nvPr/>
        </p:nvSpPr>
        <p:spPr>
          <a:xfrm>
            <a:off x="7858187" y="2270234"/>
            <a:ext cx="348023" cy="2268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1443057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stomShape 1">
            <a:extLst>
              <a:ext uri="{FF2B5EF4-FFF2-40B4-BE49-F238E27FC236}">
                <a16:creationId xmlns:a16="http://schemas.microsoft.com/office/drawing/2014/main" id="{32D38AEC-E195-FF63-3223-A7620506971F}"/>
              </a:ext>
            </a:extLst>
          </p:cNvPr>
          <p:cNvSpPr/>
          <p:nvPr/>
        </p:nvSpPr>
        <p:spPr>
          <a:xfrm>
            <a:off x="385200" y="233280"/>
            <a:ext cx="7567920" cy="8960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90000"/>
              </a:lnSpc>
            </a:pPr>
            <a:r>
              <a:rPr lang="de-DE" b="1" spc="-1" dirty="0">
                <a:solidFill>
                  <a:srgbClr val="000000"/>
                </a:solidFill>
                <a:latin typeface="Arial"/>
                <a:ea typeface="DejaVu Sans"/>
              </a:rPr>
              <a:t>D</a:t>
            </a:r>
            <a:r>
              <a:rPr lang="de-DE" sz="1800" b="1" strike="noStrike" spc="-1" dirty="0">
                <a:solidFill>
                  <a:srgbClr val="000000"/>
                </a:solidFill>
                <a:latin typeface="Arial"/>
                <a:ea typeface="DejaVu Sans"/>
              </a:rPr>
              <a:t>ouble-</a:t>
            </a:r>
            <a:r>
              <a:rPr lang="de-DE" sz="1800" b="1" strike="noStrike" spc="-1" dirty="0" err="1">
                <a:solidFill>
                  <a:srgbClr val="000000"/>
                </a:solidFill>
                <a:latin typeface="Arial"/>
                <a:ea typeface="DejaVu Sans"/>
              </a:rPr>
              <a:t>stranded</a:t>
            </a:r>
            <a:r>
              <a:rPr lang="de-DE" sz="1800" b="1" strike="noStrike" spc="-1" dirty="0">
                <a:solidFill>
                  <a:srgbClr val="000000"/>
                </a:solidFill>
                <a:latin typeface="Arial"/>
                <a:ea typeface="DejaVu Sans"/>
              </a:rPr>
              <a:t> RNA (</a:t>
            </a:r>
            <a:r>
              <a:rPr lang="de-DE" sz="1800" b="1" strike="noStrike" spc="-1" dirty="0" err="1">
                <a:solidFill>
                  <a:srgbClr val="000000"/>
                </a:solidFill>
                <a:latin typeface="Arial"/>
                <a:ea typeface="DejaVu Sans"/>
              </a:rPr>
              <a:t>dsRNA</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metabolism</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during</a:t>
            </a:r>
            <a:r>
              <a:rPr lang="de-DE" sz="1800" b="1" strike="noStrike" spc="-1" dirty="0">
                <a:solidFill>
                  <a:srgbClr val="000000"/>
                </a:solidFill>
                <a:latin typeface="Arial"/>
                <a:ea typeface="DejaVu Sans"/>
              </a:rPr>
              <a:t> host-</a:t>
            </a:r>
            <a:r>
              <a:rPr lang="de-DE" sz="1800" b="1" strike="noStrike" spc="-1" dirty="0" err="1">
                <a:solidFill>
                  <a:srgbClr val="000000"/>
                </a:solidFill>
                <a:latin typeface="Arial"/>
                <a:ea typeface="DejaVu Sans"/>
              </a:rPr>
              <a:t>fungal</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interactions</a:t>
            </a:r>
            <a:endParaRPr lang="en-US" sz="1800" b="0" strike="noStrike" spc="-1" dirty="0">
              <a:latin typeface="Arial"/>
            </a:endParaRPr>
          </a:p>
        </p:txBody>
      </p:sp>
      <p:pic>
        <p:nvPicPr>
          <p:cNvPr id="3" name="Picture 2">
            <a:extLst>
              <a:ext uri="{FF2B5EF4-FFF2-40B4-BE49-F238E27FC236}">
                <a16:creationId xmlns:a16="http://schemas.microsoft.com/office/drawing/2014/main" id="{35CDE190-D34D-8971-3505-88FFE070BA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4999" y="457199"/>
            <a:ext cx="7350823" cy="5145577"/>
          </a:xfrm>
          <a:prstGeom prst="rect">
            <a:avLst/>
          </a:prstGeom>
        </p:spPr>
      </p:pic>
      <p:sp>
        <p:nvSpPr>
          <p:cNvPr id="5" name="TextBox 4">
            <a:extLst>
              <a:ext uri="{FF2B5EF4-FFF2-40B4-BE49-F238E27FC236}">
                <a16:creationId xmlns:a16="http://schemas.microsoft.com/office/drawing/2014/main" id="{7EA3EB1C-D8DD-9263-EBF3-AD4D5B005C94}"/>
              </a:ext>
            </a:extLst>
          </p:cNvPr>
          <p:cNvSpPr txBox="1"/>
          <p:nvPr/>
        </p:nvSpPr>
        <p:spPr>
          <a:xfrm>
            <a:off x="281304" y="1460307"/>
            <a:ext cx="2743695" cy="1323439"/>
          </a:xfrm>
          <a:prstGeom prst="rect">
            <a:avLst/>
          </a:prstGeom>
          <a:noFill/>
        </p:spPr>
        <p:txBody>
          <a:bodyPr wrap="square" rtlCol="0">
            <a:spAutoFit/>
          </a:bodyPr>
          <a:lstStyle/>
          <a:p>
            <a:r>
              <a:rPr lang="en-CN" sz="1600" dirty="0"/>
              <a:t>Project A: the role of dsRNA-initiated RNA interference (RNAi) in t</a:t>
            </a:r>
            <a:r>
              <a:rPr lang="en-US" altLang="zh-CN" sz="1600" dirty="0"/>
              <a:t>he</a:t>
            </a:r>
            <a:r>
              <a:rPr lang="zh-CN" altLang="en-US" sz="1600" dirty="0"/>
              <a:t> </a:t>
            </a:r>
            <a:r>
              <a:rPr lang="en-CN" sz="1600" dirty="0"/>
              <a:t>pathogenic fungus </a:t>
            </a:r>
            <a:r>
              <a:rPr lang="en-CN" sz="1600" i="1" dirty="0"/>
              <a:t>Aspergillus fumigatus</a:t>
            </a:r>
            <a:endParaRPr lang="en-CN" sz="1600" dirty="0"/>
          </a:p>
        </p:txBody>
      </p:sp>
      <p:sp>
        <p:nvSpPr>
          <p:cNvPr id="6" name="TextBox 5">
            <a:extLst>
              <a:ext uri="{FF2B5EF4-FFF2-40B4-BE49-F238E27FC236}">
                <a16:creationId xmlns:a16="http://schemas.microsoft.com/office/drawing/2014/main" id="{7E12B0DF-AEAD-A674-3586-9AF568B5C480}"/>
              </a:ext>
            </a:extLst>
          </p:cNvPr>
          <p:cNvSpPr txBox="1"/>
          <p:nvPr/>
        </p:nvSpPr>
        <p:spPr>
          <a:xfrm>
            <a:off x="295429" y="3490217"/>
            <a:ext cx="2743695" cy="830997"/>
          </a:xfrm>
          <a:prstGeom prst="rect">
            <a:avLst/>
          </a:prstGeom>
          <a:noFill/>
        </p:spPr>
        <p:txBody>
          <a:bodyPr wrap="square" rtlCol="0">
            <a:spAutoFit/>
          </a:bodyPr>
          <a:lstStyle/>
          <a:p>
            <a:r>
              <a:rPr lang="en-CN" sz="1600" dirty="0"/>
              <a:t>Project B: the role of dsRNA binding protein ADAR1 in host cells</a:t>
            </a:r>
          </a:p>
        </p:txBody>
      </p:sp>
      <p:sp>
        <p:nvSpPr>
          <p:cNvPr id="7" name="CustomShape 8">
            <a:extLst>
              <a:ext uri="{FF2B5EF4-FFF2-40B4-BE49-F238E27FC236}">
                <a16:creationId xmlns:a16="http://schemas.microsoft.com/office/drawing/2014/main" id="{69A2D2F0-6B36-0DCA-60E8-A3AB9A7CF237}"/>
              </a:ext>
            </a:extLst>
          </p:cNvPr>
          <p:cNvSpPr/>
          <p:nvPr/>
        </p:nvSpPr>
        <p:spPr>
          <a:xfrm>
            <a:off x="8258760" y="4807800"/>
            <a:ext cx="565200" cy="1263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C3CACEEB-972B-460B-A856-FC5E7152F28E}" type="slidenum">
              <a:rPr lang="de-DE" sz="1000" b="0" strike="noStrike" spc="-1">
                <a:solidFill>
                  <a:srgbClr val="0949A7"/>
                </a:solidFill>
                <a:ea typeface="DejaVu Sans"/>
              </a:rPr>
              <a:t>7</a:t>
            </a:fld>
            <a:endParaRPr lang="en-US" sz="1000" b="0" strike="noStrike" spc="-1" dirty="0"/>
          </a:p>
        </p:txBody>
      </p:sp>
      <p:sp>
        <p:nvSpPr>
          <p:cNvPr id="10" name="Rectangle 9">
            <a:extLst>
              <a:ext uri="{FF2B5EF4-FFF2-40B4-BE49-F238E27FC236}">
                <a16:creationId xmlns:a16="http://schemas.microsoft.com/office/drawing/2014/main" id="{EBF3C586-4254-FB83-365D-287E89192245}"/>
              </a:ext>
            </a:extLst>
          </p:cNvPr>
          <p:cNvSpPr/>
          <p:nvPr/>
        </p:nvSpPr>
        <p:spPr>
          <a:xfrm>
            <a:off x="198496" y="943641"/>
            <a:ext cx="4867490" cy="221997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 name="Rectangle 3">
            <a:extLst>
              <a:ext uri="{FF2B5EF4-FFF2-40B4-BE49-F238E27FC236}">
                <a16:creationId xmlns:a16="http://schemas.microsoft.com/office/drawing/2014/main" id="{74CDD26B-D429-E647-1731-E483BD3A0BFD}"/>
              </a:ext>
            </a:extLst>
          </p:cNvPr>
          <p:cNvSpPr/>
          <p:nvPr/>
        </p:nvSpPr>
        <p:spPr>
          <a:xfrm>
            <a:off x="7293935" y="1637414"/>
            <a:ext cx="659185" cy="5422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8" name="Rectangle 7">
            <a:extLst>
              <a:ext uri="{FF2B5EF4-FFF2-40B4-BE49-F238E27FC236}">
                <a16:creationId xmlns:a16="http://schemas.microsoft.com/office/drawing/2014/main" id="{8C1C2A69-D76B-3515-8117-3127E3E5E7DE}"/>
              </a:ext>
            </a:extLst>
          </p:cNvPr>
          <p:cNvSpPr/>
          <p:nvPr/>
        </p:nvSpPr>
        <p:spPr>
          <a:xfrm>
            <a:off x="6041225" y="2385237"/>
            <a:ext cx="659185" cy="5422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9" name="Rectangle 8">
            <a:extLst>
              <a:ext uri="{FF2B5EF4-FFF2-40B4-BE49-F238E27FC236}">
                <a16:creationId xmlns:a16="http://schemas.microsoft.com/office/drawing/2014/main" id="{C95AC449-82E1-1440-B471-EFB25CD5429D}"/>
              </a:ext>
            </a:extLst>
          </p:cNvPr>
          <p:cNvSpPr/>
          <p:nvPr/>
        </p:nvSpPr>
        <p:spPr>
          <a:xfrm>
            <a:off x="6808382" y="2617997"/>
            <a:ext cx="659185" cy="5422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3794530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CustomShape 11"/>
          <p:cNvSpPr/>
          <p:nvPr/>
        </p:nvSpPr>
        <p:spPr>
          <a:xfrm>
            <a:off x="294120" y="1076688"/>
            <a:ext cx="3806540" cy="458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endParaRPr lang="en-US" sz="1300" b="0" strike="noStrike" spc="-1" dirty="0">
              <a:cs typeface="Calibri" panose="020F0502020204030204" pitchFamily="34" charset="0"/>
            </a:endParaRPr>
          </a:p>
        </p:txBody>
      </p:sp>
      <p:sp>
        <p:nvSpPr>
          <p:cNvPr id="315" name="CustomShape 12"/>
          <p:cNvSpPr/>
          <p:nvPr/>
        </p:nvSpPr>
        <p:spPr>
          <a:xfrm>
            <a:off x="457919" y="366120"/>
            <a:ext cx="8073339" cy="345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endParaRPr lang="en-US" sz="2800" b="0" strike="noStrike" spc="-1" dirty="0">
              <a:cs typeface="Calibri" panose="020F0502020204030204" pitchFamily="34" charset="0"/>
            </a:endParaRPr>
          </a:p>
        </p:txBody>
      </p:sp>
      <p:sp>
        <p:nvSpPr>
          <p:cNvPr id="2" name="CustomShape 8">
            <a:extLst>
              <a:ext uri="{FF2B5EF4-FFF2-40B4-BE49-F238E27FC236}">
                <a16:creationId xmlns:a16="http://schemas.microsoft.com/office/drawing/2014/main" id="{6F4D619D-825D-B15D-3877-DF11C437EAE0}"/>
              </a:ext>
            </a:extLst>
          </p:cNvPr>
          <p:cNvSpPr/>
          <p:nvPr/>
        </p:nvSpPr>
        <p:spPr>
          <a:xfrm>
            <a:off x="8258760" y="4807800"/>
            <a:ext cx="566280" cy="1274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F59ECA62-244B-481E-9EA5-997647DFA9F0}" type="slidenum">
              <a:rPr lang="de-DE" sz="1000" b="0" strike="noStrike" spc="-1">
                <a:solidFill>
                  <a:srgbClr val="0949A7"/>
                </a:solidFill>
                <a:ea typeface="DejaVu Sans"/>
                <a:cs typeface="Calibri" panose="020F0502020204030204" pitchFamily="34" charset="0"/>
              </a:rPr>
              <a:t>8</a:t>
            </a:fld>
            <a:endParaRPr lang="en-US" sz="1000" b="0" strike="noStrike" spc="-1" dirty="0">
              <a:cs typeface="Calibri" panose="020F0502020204030204" pitchFamily="34" charset="0"/>
            </a:endParaRPr>
          </a:p>
        </p:txBody>
      </p:sp>
      <p:sp>
        <p:nvSpPr>
          <p:cNvPr id="6" name="CustomShape 1">
            <a:extLst>
              <a:ext uri="{FF2B5EF4-FFF2-40B4-BE49-F238E27FC236}">
                <a16:creationId xmlns:a16="http://schemas.microsoft.com/office/drawing/2014/main" id="{45C4BDF9-2407-57A9-FCED-D34C66BFF61C}"/>
              </a:ext>
            </a:extLst>
          </p:cNvPr>
          <p:cNvSpPr/>
          <p:nvPr/>
        </p:nvSpPr>
        <p:spPr>
          <a:xfrm>
            <a:off x="454679" y="157853"/>
            <a:ext cx="6744143" cy="345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b="1" spc="-1" dirty="0">
                <a:solidFill>
                  <a:srgbClr val="000000"/>
                </a:solidFill>
                <a:cs typeface="Calibri" panose="020F0502020204030204" pitchFamily="34" charset="0"/>
              </a:rPr>
              <a:t>Overexpression of an IRT gene inhibits the fungal growth</a:t>
            </a:r>
            <a:endParaRPr lang="en-US" b="1" spc="-1" dirty="0">
              <a:cs typeface="Calibri" panose="020F0502020204030204" pitchFamily="34" charset="0"/>
            </a:endParaRPr>
          </a:p>
        </p:txBody>
      </p:sp>
      <p:grpSp>
        <p:nvGrpSpPr>
          <p:cNvPr id="25" name="Group 24">
            <a:extLst>
              <a:ext uri="{FF2B5EF4-FFF2-40B4-BE49-F238E27FC236}">
                <a16:creationId xmlns:a16="http://schemas.microsoft.com/office/drawing/2014/main" id="{FE724349-D325-6303-B8B9-A2AF414BBA6F}"/>
              </a:ext>
            </a:extLst>
          </p:cNvPr>
          <p:cNvGrpSpPr/>
          <p:nvPr/>
        </p:nvGrpSpPr>
        <p:grpSpPr>
          <a:xfrm>
            <a:off x="549252" y="1125519"/>
            <a:ext cx="3315231" cy="3189275"/>
            <a:chOff x="634712" y="1527174"/>
            <a:chExt cx="3315231" cy="3189275"/>
          </a:xfrm>
        </p:grpSpPr>
        <p:sp>
          <p:nvSpPr>
            <p:cNvPr id="5" name="TextBox 4">
              <a:extLst>
                <a:ext uri="{FF2B5EF4-FFF2-40B4-BE49-F238E27FC236}">
                  <a16:creationId xmlns:a16="http://schemas.microsoft.com/office/drawing/2014/main" id="{8DF5439F-F79F-E4BD-216C-841B42226C5E}"/>
                </a:ext>
              </a:extLst>
            </p:cNvPr>
            <p:cNvSpPr txBox="1"/>
            <p:nvPr/>
          </p:nvSpPr>
          <p:spPr>
            <a:xfrm>
              <a:off x="897164" y="1527174"/>
              <a:ext cx="2694969" cy="307777"/>
            </a:xfrm>
            <a:prstGeom prst="rect">
              <a:avLst/>
            </a:prstGeom>
            <a:noFill/>
          </p:spPr>
          <p:txBody>
            <a:bodyPr wrap="none" rtlCol="0">
              <a:spAutoFit/>
            </a:bodyPr>
            <a:lstStyle/>
            <a:p>
              <a:r>
                <a:rPr lang="en-GB" sz="1400" dirty="0">
                  <a:cs typeface="Calibri" panose="020F0502020204030204" pitchFamily="34" charset="0"/>
                </a:rPr>
                <a:t>I</a:t>
              </a:r>
              <a:r>
                <a:rPr lang="en-CN" sz="1400" dirty="0">
                  <a:cs typeface="Calibri" panose="020F0502020204030204" pitchFamily="34" charset="0"/>
                </a:rPr>
                <a:t>nverted-repeat transgene (IRT)</a:t>
              </a:r>
            </a:p>
          </p:txBody>
        </p:sp>
        <p:sp>
          <p:nvSpPr>
            <p:cNvPr id="4" name="Rectangle 3">
              <a:extLst>
                <a:ext uri="{FF2B5EF4-FFF2-40B4-BE49-F238E27FC236}">
                  <a16:creationId xmlns:a16="http://schemas.microsoft.com/office/drawing/2014/main" id="{BBA2AE46-1792-FB79-69DD-5846C2EB61D1}"/>
                </a:ext>
              </a:extLst>
            </p:cNvPr>
            <p:cNvSpPr/>
            <p:nvPr/>
          </p:nvSpPr>
          <p:spPr>
            <a:xfrm>
              <a:off x="1001021" y="1853388"/>
              <a:ext cx="735283" cy="2743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CN" dirty="0"/>
                <a:t>gene</a:t>
              </a:r>
            </a:p>
          </p:txBody>
        </p:sp>
        <p:sp>
          <p:nvSpPr>
            <p:cNvPr id="8" name="Rectangle 7">
              <a:extLst>
                <a:ext uri="{FF2B5EF4-FFF2-40B4-BE49-F238E27FC236}">
                  <a16:creationId xmlns:a16="http://schemas.microsoft.com/office/drawing/2014/main" id="{405D3EEB-6D25-EF55-50C1-9BA75AED9E42}"/>
                </a:ext>
              </a:extLst>
            </p:cNvPr>
            <p:cNvSpPr/>
            <p:nvPr/>
          </p:nvSpPr>
          <p:spPr>
            <a:xfrm rot="10800000">
              <a:off x="2471587" y="1859434"/>
              <a:ext cx="735283" cy="2743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CN" dirty="0"/>
                <a:t>gene</a:t>
              </a:r>
            </a:p>
          </p:txBody>
        </p:sp>
        <p:sp>
          <p:nvSpPr>
            <p:cNvPr id="9" name="Rectangle 8">
              <a:extLst>
                <a:ext uri="{FF2B5EF4-FFF2-40B4-BE49-F238E27FC236}">
                  <a16:creationId xmlns:a16="http://schemas.microsoft.com/office/drawing/2014/main" id="{1FC48BC3-0DE4-4170-DB33-0DDE0C6621B1}"/>
                </a:ext>
              </a:extLst>
            </p:cNvPr>
            <p:cNvSpPr/>
            <p:nvPr/>
          </p:nvSpPr>
          <p:spPr>
            <a:xfrm>
              <a:off x="1736304" y="1856307"/>
              <a:ext cx="735283" cy="274320"/>
            </a:xfrm>
            <a:prstGeom prst="rect">
              <a:avLst/>
            </a:prstGeom>
            <a:ln>
              <a:solidFill>
                <a:srgbClr val="00B0F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CN" sz="1400" dirty="0"/>
                <a:t>spacer</a:t>
              </a:r>
            </a:p>
          </p:txBody>
        </p:sp>
        <p:grpSp>
          <p:nvGrpSpPr>
            <p:cNvPr id="10" name="Group 9">
              <a:extLst>
                <a:ext uri="{FF2B5EF4-FFF2-40B4-BE49-F238E27FC236}">
                  <a16:creationId xmlns:a16="http://schemas.microsoft.com/office/drawing/2014/main" id="{EA58B1A5-59F6-5201-5043-835C8BB3469F}"/>
                </a:ext>
              </a:extLst>
            </p:cNvPr>
            <p:cNvGrpSpPr/>
            <p:nvPr/>
          </p:nvGrpSpPr>
          <p:grpSpPr>
            <a:xfrm>
              <a:off x="634712" y="2139929"/>
              <a:ext cx="3315231" cy="2576520"/>
              <a:chOff x="856440" y="2346178"/>
              <a:chExt cx="3315231" cy="2576520"/>
            </a:xfrm>
          </p:grpSpPr>
          <p:pic>
            <p:nvPicPr>
              <p:cNvPr id="12" name="Picture 247">
                <a:extLst>
                  <a:ext uri="{FF2B5EF4-FFF2-40B4-BE49-F238E27FC236}">
                    <a16:creationId xmlns:a16="http://schemas.microsoft.com/office/drawing/2014/main" id="{50482ADB-7FF3-02AA-CBC7-3D1292302C89}"/>
                  </a:ext>
                </a:extLst>
              </p:cNvPr>
              <p:cNvPicPr/>
              <p:nvPr/>
            </p:nvPicPr>
            <p:blipFill>
              <a:blip r:embed="rId3"/>
              <a:srcRect l="11173" t="23026" r="52768" b="62756"/>
              <a:stretch/>
            </p:blipFill>
            <p:spPr>
              <a:xfrm>
                <a:off x="856440" y="2529058"/>
                <a:ext cx="2320920" cy="639720"/>
              </a:xfrm>
              <a:prstGeom prst="rect">
                <a:avLst/>
              </a:prstGeom>
              <a:ln>
                <a:noFill/>
              </a:ln>
            </p:spPr>
          </p:pic>
          <p:sp>
            <p:nvSpPr>
              <p:cNvPr id="13" name="Line 1">
                <a:extLst>
                  <a:ext uri="{FF2B5EF4-FFF2-40B4-BE49-F238E27FC236}">
                    <a16:creationId xmlns:a16="http://schemas.microsoft.com/office/drawing/2014/main" id="{94F5924B-5084-17F8-E59B-508754043F1A}"/>
                  </a:ext>
                </a:extLst>
              </p:cNvPr>
              <p:cNvSpPr/>
              <p:nvPr/>
            </p:nvSpPr>
            <p:spPr>
              <a:xfrm>
                <a:off x="1812240" y="2346178"/>
                <a:ext cx="0" cy="274320"/>
              </a:xfrm>
              <a:prstGeom prst="line">
                <a:avLst/>
              </a:prstGeom>
              <a:ln>
                <a:solidFill>
                  <a:srgbClr val="FF0014"/>
                </a:solidFill>
                <a:tailEnd type="triangle" w="med" len="med"/>
              </a:ln>
            </p:spPr>
            <p:style>
              <a:lnRef idx="0">
                <a:scrgbClr r="0" g="0" b="0"/>
              </a:lnRef>
              <a:fillRef idx="0">
                <a:scrgbClr r="0" g="0" b="0"/>
              </a:fillRef>
              <a:effectRef idx="0">
                <a:scrgbClr r="0" g="0" b="0"/>
              </a:effectRef>
              <a:fontRef idx="minor"/>
            </p:style>
          </p:sp>
          <p:sp>
            <p:nvSpPr>
              <p:cNvPr id="14" name="Line 2">
                <a:extLst>
                  <a:ext uri="{FF2B5EF4-FFF2-40B4-BE49-F238E27FC236}">
                    <a16:creationId xmlns:a16="http://schemas.microsoft.com/office/drawing/2014/main" id="{00EB8BC1-80F0-AD98-03B0-28210300DF6A}"/>
                  </a:ext>
                </a:extLst>
              </p:cNvPr>
              <p:cNvSpPr/>
              <p:nvPr/>
            </p:nvSpPr>
            <p:spPr>
              <a:xfrm>
                <a:off x="1812240" y="3066178"/>
                <a:ext cx="0" cy="274320"/>
              </a:xfrm>
              <a:prstGeom prst="line">
                <a:avLst/>
              </a:prstGeom>
              <a:ln>
                <a:solidFill>
                  <a:srgbClr val="FF0014"/>
                </a:solidFill>
                <a:tailEnd type="triangle" w="med" len="med"/>
              </a:ln>
            </p:spPr>
            <p:style>
              <a:lnRef idx="0">
                <a:scrgbClr r="0" g="0" b="0"/>
              </a:lnRef>
              <a:fillRef idx="0">
                <a:scrgbClr r="0" g="0" b="0"/>
              </a:fillRef>
              <a:effectRef idx="0">
                <a:scrgbClr r="0" g="0" b="0"/>
              </a:effectRef>
              <a:fontRef idx="minor"/>
            </p:style>
          </p:sp>
          <p:sp>
            <p:nvSpPr>
              <p:cNvPr id="15" name="Line 3">
                <a:extLst>
                  <a:ext uri="{FF2B5EF4-FFF2-40B4-BE49-F238E27FC236}">
                    <a16:creationId xmlns:a16="http://schemas.microsoft.com/office/drawing/2014/main" id="{4D15D134-57EA-F219-3AC5-EB3A1384A145}"/>
                  </a:ext>
                </a:extLst>
              </p:cNvPr>
              <p:cNvSpPr/>
              <p:nvPr/>
            </p:nvSpPr>
            <p:spPr>
              <a:xfrm>
                <a:off x="1812240" y="3930178"/>
                <a:ext cx="0" cy="274320"/>
              </a:xfrm>
              <a:prstGeom prst="line">
                <a:avLst/>
              </a:prstGeom>
              <a:ln>
                <a:solidFill>
                  <a:srgbClr val="FF0014"/>
                </a:solidFill>
                <a:tailEnd type="triangle" w="med" len="med"/>
              </a:ln>
            </p:spPr>
            <p:style>
              <a:lnRef idx="0">
                <a:scrgbClr r="0" g="0" b="0"/>
              </a:lnRef>
              <a:fillRef idx="0">
                <a:scrgbClr r="0" g="0" b="0"/>
              </a:fillRef>
              <a:effectRef idx="0">
                <a:scrgbClr r="0" g="0" b="0"/>
              </a:effectRef>
              <a:fontRef idx="minor"/>
            </p:style>
          </p:sp>
          <p:pic>
            <p:nvPicPr>
              <p:cNvPr id="16" name="Picture 251">
                <a:extLst>
                  <a:ext uri="{FF2B5EF4-FFF2-40B4-BE49-F238E27FC236}">
                    <a16:creationId xmlns:a16="http://schemas.microsoft.com/office/drawing/2014/main" id="{AB8E5BC8-0F1D-639B-24AD-9EA8D2C6FF74}"/>
                  </a:ext>
                </a:extLst>
              </p:cNvPr>
              <p:cNvPicPr/>
              <p:nvPr/>
            </p:nvPicPr>
            <p:blipFill>
              <a:blip r:embed="rId3"/>
              <a:srcRect l="11173" t="23026" r="62295" b="69393"/>
              <a:stretch/>
            </p:blipFill>
            <p:spPr>
              <a:xfrm rot="10839600">
                <a:off x="1072440" y="4582138"/>
                <a:ext cx="1706760" cy="340560"/>
              </a:xfrm>
              <a:prstGeom prst="rect">
                <a:avLst/>
              </a:prstGeom>
              <a:ln>
                <a:noFill/>
              </a:ln>
            </p:spPr>
          </p:pic>
          <p:sp>
            <p:nvSpPr>
              <p:cNvPr id="17" name="CustomShape 4">
                <a:extLst>
                  <a:ext uri="{FF2B5EF4-FFF2-40B4-BE49-F238E27FC236}">
                    <a16:creationId xmlns:a16="http://schemas.microsoft.com/office/drawing/2014/main" id="{5159CFD2-3FD5-521D-5587-DFC71EC6FDBA}"/>
                  </a:ext>
                </a:extLst>
              </p:cNvPr>
              <p:cNvSpPr/>
              <p:nvPr/>
            </p:nvSpPr>
            <p:spPr>
              <a:xfrm>
                <a:off x="1923120" y="3100738"/>
                <a:ext cx="1715040" cy="301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300" b="0" strike="noStrike" spc="-1" dirty="0">
                    <a:solidFill>
                      <a:srgbClr val="000000"/>
                    </a:solidFill>
                    <a:ea typeface="DejaVu Sans"/>
                    <a:cs typeface="Calibri" panose="020F0502020204030204" pitchFamily="34" charset="0"/>
                  </a:rPr>
                  <a:t>Dicer-like protein</a:t>
                </a:r>
                <a:endParaRPr lang="en-US" sz="1300" b="0" strike="noStrike" spc="-1" dirty="0">
                  <a:cs typeface="Calibri" panose="020F0502020204030204" pitchFamily="34" charset="0"/>
                </a:endParaRPr>
              </a:p>
            </p:txBody>
          </p:sp>
          <p:sp>
            <p:nvSpPr>
              <p:cNvPr id="18" name="CustomShape 5">
                <a:extLst>
                  <a:ext uri="{FF2B5EF4-FFF2-40B4-BE49-F238E27FC236}">
                    <a16:creationId xmlns:a16="http://schemas.microsoft.com/office/drawing/2014/main" id="{808B2BBD-023A-CC31-F725-6CAAEBD55B3C}"/>
                  </a:ext>
                </a:extLst>
              </p:cNvPr>
              <p:cNvSpPr/>
              <p:nvPr/>
            </p:nvSpPr>
            <p:spPr>
              <a:xfrm>
                <a:off x="2723391" y="4513747"/>
                <a:ext cx="1448280" cy="301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300" b="0" strike="noStrike" spc="-1" dirty="0">
                    <a:solidFill>
                      <a:srgbClr val="000000"/>
                    </a:solidFill>
                    <a:ea typeface="DejaVu Sans"/>
                    <a:cs typeface="Calibri" panose="020F0502020204030204" pitchFamily="34" charset="0"/>
                  </a:rPr>
                  <a:t>Gene silencing</a:t>
                </a:r>
                <a:endParaRPr lang="en-US" sz="1300" b="0" strike="noStrike" spc="-1" dirty="0">
                  <a:cs typeface="Calibri" panose="020F0502020204030204" pitchFamily="34" charset="0"/>
                </a:endParaRPr>
              </a:p>
            </p:txBody>
          </p:sp>
          <p:sp>
            <p:nvSpPr>
              <p:cNvPr id="19" name="CustomShape 6">
                <a:extLst>
                  <a:ext uri="{FF2B5EF4-FFF2-40B4-BE49-F238E27FC236}">
                    <a16:creationId xmlns:a16="http://schemas.microsoft.com/office/drawing/2014/main" id="{57842702-2C76-E1E3-980F-9B942638D5BD}"/>
                  </a:ext>
                </a:extLst>
              </p:cNvPr>
              <p:cNvSpPr/>
              <p:nvPr/>
            </p:nvSpPr>
            <p:spPr>
              <a:xfrm>
                <a:off x="2635200" y="4540738"/>
                <a:ext cx="1346596" cy="301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endParaRPr lang="en-US" sz="1300" b="0" strike="noStrike" spc="-1" dirty="0">
                  <a:cs typeface="Calibri" panose="020F0502020204030204" pitchFamily="34" charset="0"/>
                </a:endParaRPr>
              </a:p>
            </p:txBody>
          </p:sp>
          <p:pic>
            <p:nvPicPr>
              <p:cNvPr id="20" name="Picture 255">
                <a:extLst>
                  <a:ext uri="{FF2B5EF4-FFF2-40B4-BE49-F238E27FC236}">
                    <a16:creationId xmlns:a16="http://schemas.microsoft.com/office/drawing/2014/main" id="{9540C5E0-61E1-9427-E814-FDA0E3F54FE4}"/>
                  </a:ext>
                </a:extLst>
              </p:cNvPr>
              <p:cNvPicPr/>
              <p:nvPr/>
            </p:nvPicPr>
            <p:blipFill>
              <a:blip r:embed="rId3"/>
              <a:srcRect l="11173" t="31085" r="80776" b="62756"/>
              <a:stretch/>
            </p:blipFill>
            <p:spPr>
              <a:xfrm>
                <a:off x="856440" y="3648658"/>
                <a:ext cx="517320" cy="276120"/>
              </a:xfrm>
              <a:prstGeom prst="rect">
                <a:avLst/>
              </a:prstGeom>
              <a:ln>
                <a:noFill/>
              </a:ln>
            </p:spPr>
          </p:pic>
          <p:pic>
            <p:nvPicPr>
              <p:cNvPr id="21" name="Picture 256">
                <a:extLst>
                  <a:ext uri="{FF2B5EF4-FFF2-40B4-BE49-F238E27FC236}">
                    <a16:creationId xmlns:a16="http://schemas.microsoft.com/office/drawing/2014/main" id="{515C05EB-C20A-C5DE-DEBE-4B96F4DD7EB2}"/>
                  </a:ext>
                </a:extLst>
              </p:cNvPr>
              <p:cNvPicPr/>
              <p:nvPr/>
            </p:nvPicPr>
            <p:blipFill>
              <a:blip r:embed="rId3"/>
              <a:srcRect l="11173" t="31085" r="80776" b="62756"/>
              <a:stretch/>
            </p:blipFill>
            <p:spPr>
              <a:xfrm>
                <a:off x="1756440" y="3684658"/>
                <a:ext cx="517320" cy="276120"/>
              </a:xfrm>
              <a:prstGeom prst="rect">
                <a:avLst/>
              </a:prstGeom>
              <a:ln>
                <a:noFill/>
              </a:ln>
            </p:spPr>
          </p:pic>
          <p:pic>
            <p:nvPicPr>
              <p:cNvPr id="22" name="Picture 257">
                <a:extLst>
                  <a:ext uri="{FF2B5EF4-FFF2-40B4-BE49-F238E27FC236}">
                    <a16:creationId xmlns:a16="http://schemas.microsoft.com/office/drawing/2014/main" id="{60221D0E-C5D8-50E6-7F48-ED0D1A0866B9}"/>
                  </a:ext>
                </a:extLst>
              </p:cNvPr>
              <p:cNvPicPr/>
              <p:nvPr/>
            </p:nvPicPr>
            <p:blipFill>
              <a:blip r:embed="rId3"/>
              <a:srcRect l="11173" t="31085" r="80776" b="62756"/>
              <a:stretch/>
            </p:blipFill>
            <p:spPr>
              <a:xfrm>
                <a:off x="1288440" y="3468658"/>
                <a:ext cx="517320" cy="276120"/>
              </a:xfrm>
              <a:prstGeom prst="rect">
                <a:avLst/>
              </a:prstGeom>
              <a:ln>
                <a:noFill/>
              </a:ln>
            </p:spPr>
          </p:pic>
          <p:pic>
            <p:nvPicPr>
              <p:cNvPr id="23" name="Picture 258">
                <a:extLst>
                  <a:ext uri="{FF2B5EF4-FFF2-40B4-BE49-F238E27FC236}">
                    <a16:creationId xmlns:a16="http://schemas.microsoft.com/office/drawing/2014/main" id="{6FFAE4B6-A7A5-35C4-5533-19E8F30E71EE}"/>
                  </a:ext>
                </a:extLst>
              </p:cNvPr>
              <p:cNvPicPr/>
              <p:nvPr/>
            </p:nvPicPr>
            <p:blipFill>
              <a:blip r:embed="rId3"/>
              <a:srcRect l="11173" t="31085" r="80776" b="62756"/>
              <a:stretch/>
            </p:blipFill>
            <p:spPr>
              <a:xfrm>
                <a:off x="2368440" y="3648658"/>
                <a:ext cx="517320" cy="276120"/>
              </a:xfrm>
              <a:prstGeom prst="rect">
                <a:avLst/>
              </a:prstGeom>
              <a:ln>
                <a:noFill/>
              </a:ln>
            </p:spPr>
          </p:pic>
          <p:pic>
            <p:nvPicPr>
              <p:cNvPr id="24" name="Picture 259">
                <a:extLst>
                  <a:ext uri="{FF2B5EF4-FFF2-40B4-BE49-F238E27FC236}">
                    <a16:creationId xmlns:a16="http://schemas.microsoft.com/office/drawing/2014/main" id="{C1549A77-9666-BE17-28EF-59A8AAD9E970}"/>
                  </a:ext>
                </a:extLst>
              </p:cNvPr>
              <p:cNvPicPr/>
              <p:nvPr/>
            </p:nvPicPr>
            <p:blipFill>
              <a:blip r:embed="rId3"/>
              <a:srcRect l="11173" t="31085" r="80776" b="62756"/>
              <a:stretch/>
            </p:blipFill>
            <p:spPr>
              <a:xfrm rot="10867200">
                <a:off x="2080080" y="4333018"/>
                <a:ext cx="517320" cy="276120"/>
              </a:xfrm>
              <a:prstGeom prst="rect">
                <a:avLst/>
              </a:prstGeom>
              <a:ln>
                <a:noFill/>
              </a:ln>
            </p:spPr>
          </p:pic>
        </p:grpSp>
      </p:grpSp>
      <p:pic>
        <p:nvPicPr>
          <p:cNvPr id="27" name="Picture 2">
            <a:extLst>
              <a:ext uri="{FF2B5EF4-FFF2-40B4-BE49-F238E27FC236}">
                <a16:creationId xmlns:a16="http://schemas.microsoft.com/office/drawing/2014/main" id="{4B4B83F7-54E1-28C5-F1CE-5EB0CB4196B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77454" r="44005"/>
          <a:stretch/>
        </p:blipFill>
        <p:spPr bwMode="auto">
          <a:xfrm>
            <a:off x="3626884" y="1452188"/>
            <a:ext cx="5032418" cy="2884601"/>
          </a:xfrm>
          <a:prstGeom prst="rect">
            <a:avLst/>
          </a:prstGeom>
          <a:noFill/>
          <a:extLst>
            <a:ext uri="{909E8E84-426E-40DD-AFC4-6F175D3DCCD1}">
              <a14:hiddenFill xmlns:a14="http://schemas.microsoft.com/office/drawing/2010/main">
                <a:solidFill>
                  <a:srgbClr val="FFFFFF"/>
                </a:solidFill>
              </a14:hiddenFill>
            </a:ext>
          </a:extLst>
        </p:spPr>
      </p:pic>
      <p:sp>
        <p:nvSpPr>
          <p:cNvPr id="28" name="Rectangle 27">
            <a:extLst>
              <a:ext uri="{FF2B5EF4-FFF2-40B4-BE49-F238E27FC236}">
                <a16:creationId xmlns:a16="http://schemas.microsoft.com/office/drawing/2014/main" id="{780CA5D5-AF21-134F-EFFF-E41969B9B78F}"/>
              </a:ext>
            </a:extLst>
          </p:cNvPr>
          <p:cNvSpPr/>
          <p:nvPr/>
        </p:nvSpPr>
        <p:spPr>
          <a:xfrm>
            <a:off x="5631438" y="1452188"/>
            <a:ext cx="1246695" cy="31485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pic>
        <p:nvPicPr>
          <p:cNvPr id="29" name="Picture 2">
            <a:extLst>
              <a:ext uri="{FF2B5EF4-FFF2-40B4-BE49-F238E27FC236}">
                <a16:creationId xmlns:a16="http://schemas.microsoft.com/office/drawing/2014/main" id="{EC62FA52-2F32-F1C0-0AA0-6DFBA1BC213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304" t="77454" r="63824"/>
          <a:stretch/>
        </p:blipFill>
        <p:spPr bwMode="auto">
          <a:xfrm>
            <a:off x="5631438" y="1452188"/>
            <a:ext cx="1246695" cy="2884601"/>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E2B6CBA8-5C14-2D01-CA7B-EE5BCD16FAA2}"/>
              </a:ext>
            </a:extLst>
          </p:cNvPr>
          <p:cNvSpPr txBox="1"/>
          <p:nvPr/>
        </p:nvSpPr>
        <p:spPr>
          <a:xfrm>
            <a:off x="4073284" y="4334489"/>
            <a:ext cx="3826689" cy="646331"/>
          </a:xfrm>
          <a:prstGeom prst="rect">
            <a:avLst/>
          </a:prstGeom>
          <a:noFill/>
        </p:spPr>
        <p:txBody>
          <a:bodyPr wrap="none" rtlCol="0">
            <a:spAutoFit/>
          </a:bodyPr>
          <a:lstStyle/>
          <a:p>
            <a:r>
              <a:rPr lang="en-GB" b="0" i="0" dirty="0">
                <a:solidFill>
                  <a:srgbClr val="403838"/>
                </a:solidFill>
                <a:effectLst/>
              </a:rPr>
              <a:t>conditionally essential gene (</a:t>
            </a:r>
            <a:r>
              <a:rPr lang="en-GB" b="0" i="1" dirty="0" err="1">
                <a:solidFill>
                  <a:srgbClr val="403838"/>
                </a:solidFill>
                <a:effectLst/>
              </a:rPr>
              <a:t>pabA</a:t>
            </a:r>
            <a:r>
              <a:rPr lang="en-GB" b="0" i="0" dirty="0">
                <a:solidFill>
                  <a:srgbClr val="403838"/>
                </a:solidFill>
                <a:effectLst/>
              </a:rPr>
              <a:t>) </a:t>
            </a:r>
          </a:p>
          <a:p>
            <a:r>
              <a:rPr lang="en-GB" b="0" i="0" dirty="0">
                <a:solidFill>
                  <a:srgbClr val="403838"/>
                </a:solidFill>
                <a:effectLst/>
              </a:rPr>
              <a:t>nonessential gene (</a:t>
            </a:r>
            <a:r>
              <a:rPr lang="en-GB" b="0" i="1" dirty="0" err="1">
                <a:solidFill>
                  <a:srgbClr val="403838"/>
                </a:solidFill>
                <a:effectLst/>
              </a:rPr>
              <a:t>pksP</a:t>
            </a:r>
            <a:r>
              <a:rPr lang="en-GB" b="0" i="0" dirty="0">
                <a:solidFill>
                  <a:srgbClr val="403838"/>
                </a:solidFill>
                <a:effectLst/>
              </a:rPr>
              <a:t>)</a:t>
            </a:r>
            <a:endParaRPr lang="en-CN" dirty="0"/>
          </a:p>
        </p:txBody>
      </p:sp>
      <p:sp>
        <p:nvSpPr>
          <p:cNvPr id="3" name="TextBox 2">
            <a:extLst>
              <a:ext uri="{FF2B5EF4-FFF2-40B4-BE49-F238E27FC236}">
                <a16:creationId xmlns:a16="http://schemas.microsoft.com/office/drawing/2014/main" id="{AA838125-DC89-967F-DF7A-C6FB68A441C4}"/>
              </a:ext>
            </a:extLst>
          </p:cNvPr>
          <p:cNvSpPr txBox="1"/>
          <p:nvPr/>
        </p:nvSpPr>
        <p:spPr>
          <a:xfrm>
            <a:off x="545292" y="4522164"/>
            <a:ext cx="3046027" cy="461665"/>
          </a:xfrm>
          <a:prstGeom prst="rect">
            <a:avLst/>
          </a:prstGeom>
          <a:noFill/>
        </p:spPr>
        <p:txBody>
          <a:bodyPr wrap="none" rtlCol="0">
            <a:spAutoFit/>
          </a:bodyPr>
          <a:lstStyle/>
          <a:p>
            <a:r>
              <a:rPr lang="en-CN" sz="1200" dirty="0">
                <a:cs typeface="Calibri" panose="020F0502020204030204" pitchFamily="34" charset="0"/>
              </a:rPr>
              <a:t>Mouyna, </a:t>
            </a:r>
            <a:r>
              <a:rPr lang="en-CN" sz="1200" i="1" dirty="0">
                <a:cs typeface="Calibri" panose="020F0502020204030204" pitchFamily="34" charset="0"/>
              </a:rPr>
              <a:t>et al</a:t>
            </a:r>
            <a:r>
              <a:rPr lang="en-CN" sz="1200" dirty="0">
                <a:cs typeface="Calibri" panose="020F0502020204030204" pitchFamily="34" charset="0"/>
              </a:rPr>
              <a:t>. FEMS Microbiol Lett. 2004.</a:t>
            </a:r>
          </a:p>
          <a:p>
            <a:r>
              <a:rPr lang="en-CN" sz="1200" dirty="0">
                <a:cs typeface="Calibri" panose="020F0502020204030204" pitchFamily="34" charset="0"/>
              </a:rPr>
              <a:t>Kelani, </a:t>
            </a:r>
            <a:r>
              <a:rPr lang="en-CN" sz="1200" i="1" dirty="0">
                <a:cs typeface="Calibri" panose="020F0502020204030204" pitchFamily="34" charset="0"/>
              </a:rPr>
              <a:t>et al</a:t>
            </a:r>
            <a:r>
              <a:rPr lang="en-CN" sz="1200" dirty="0">
                <a:cs typeface="Calibri" panose="020F0502020204030204" pitchFamily="34" charset="0"/>
              </a:rPr>
              <a:t>. RNA. 2023.</a:t>
            </a:r>
          </a:p>
        </p:txBody>
      </p:sp>
      <p:sp>
        <p:nvSpPr>
          <p:cNvPr id="7" name="Right Arrow 6">
            <a:extLst>
              <a:ext uri="{FF2B5EF4-FFF2-40B4-BE49-F238E27FC236}">
                <a16:creationId xmlns:a16="http://schemas.microsoft.com/office/drawing/2014/main" id="{46383D57-98A1-71FB-95AA-AFCC8EB73691}"/>
              </a:ext>
            </a:extLst>
          </p:cNvPr>
          <p:cNvSpPr/>
          <p:nvPr/>
        </p:nvSpPr>
        <p:spPr>
          <a:xfrm>
            <a:off x="545292" y="1484528"/>
            <a:ext cx="370269" cy="19072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1" name="TextBox 10">
            <a:extLst>
              <a:ext uri="{FF2B5EF4-FFF2-40B4-BE49-F238E27FC236}">
                <a16:creationId xmlns:a16="http://schemas.microsoft.com/office/drawing/2014/main" id="{4BD56846-1C58-3A44-A594-BCBB5026A556}"/>
              </a:ext>
            </a:extLst>
          </p:cNvPr>
          <p:cNvSpPr txBox="1"/>
          <p:nvPr/>
        </p:nvSpPr>
        <p:spPr>
          <a:xfrm>
            <a:off x="206715" y="857518"/>
            <a:ext cx="1311578" cy="307777"/>
          </a:xfrm>
          <a:prstGeom prst="rect">
            <a:avLst/>
          </a:prstGeom>
          <a:noFill/>
        </p:spPr>
        <p:txBody>
          <a:bodyPr wrap="none" rtlCol="0">
            <a:spAutoFit/>
          </a:bodyPr>
          <a:lstStyle/>
          <a:p>
            <a:r>
              <a:rPr lang="en-GB" sz="1400" dirty="0"/>
              <a:t>t</a:t>
            </a:r>
            <a:r>
              <a:rPr lang="en-CN" sz="1400" dirty="0"/>
              <a:t>et</a:t>
            </a:r>
            <a:r>
              <a:rPr lang="en-CN" sz="1400" baseline="30000" dirty="0"/>
              <a:t>ON </a:t>
            </a:r>
            <a:r>
              <a:rPr lang="en-CN" sz="1400" dirty="0"/>
              <a:t>promoter</a:t>
            </a:r>
            <a:endParaRPr lang="en-CN" sz="1400" baseline="30000" dirty="0"/>
          </a:p>
        </p:txBody>
      </p:sp>
      <p:cxnSp>
        <p:nvCxnSpPr>
          <p:cNvPr id="31" name="Straight Connector 30">
            <a:extLst>
              <a:ext uri="{FF2B5EF4-FFF2-40B4-BE49-F238E27FC236}">
                <a16:creationId xmlns:a16="http://schemas.microsoft.com/office/drawing/2014/main" id="{20BAA4A6-CAF3-E41C-F644-129592E5ABAF}"/>
              </a:ext>
            </a:extLst>
          </p:cNvPr>
          <p:cNvCxnSpPr>
            <a:cxnSpLocks/>
          </p:cNvCxnSpPr>
          <p:nvPr/>
        </p:nvCxnSpPr>
        <p:spPr>
          <a:xfrm>
            <a:off x="730426" y="1165295"/>
            <a:ext cx="0" cy="29614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78313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CustomShape 1"/>
          <p:cNvSpPr/>
          <p:nvPr/>
        </p:nvSpPr>
        <p:spPr>
          <a:xfrm>
            <a:off x="1327294" y="1285816"/>
            <a:ext cx="6489412" cy="1881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pPr>
            <a:endParaRPr lang="en-US" sz="4000" b="0" strike="noStrike" spc="-1" dirty="0">
              <a:solidFill>
                <a:srgbClr val="000000"/>
              </a:solidFill>
              <a:latin typeface="+mj-lt"/>
              <a:ea typeface="DejaVu Sans"/>
              <a:cs typeface="Calibri" panose="020F0502020204030204" pitchFamily="34" charset="0"/>
            </a:endParaRPr>
          </a:p>
          <a:p>
            <a:pPr algn="ctr">
              <a:lnSpc>
                <a:spcPct val="100000"/>
              </a:lnSpc>
            </a:pPr>
            <a:r>
              <a:rPr lang="en-US" sz="4000" b="0" strike="noStrike" spc="-1" dirty="0">
                <a:solidFill>
                  <a:srgbClr val="000000"/>
                </a:solidFill>
                <a:latin typeface="+mj-lt"/>
                <a:ea typeface="DejaVu Sans"/>
                <a:cs typeface="Calibri" panose="020F0502020204030204" pitchFamily="34" charset="0"/>
              </a:rPr>
              <a:t>Is the fungal growth arrest RNAi-dependent?</a:t>
            </a:r>
            <a:endParaRPr lang="en-US" sz="4000" b="0" strike="noStrike" spc="-1" dirty="0">
              <a:latin typeface="+mj-lt"/>
              <a:cs typeface="Calibri" panose="020F0502020204030204" pitchFamily="34" charset="0"/>
            </a:endParaRPr>
          </a:p>
          <a:p>
            <a:pPr algn="ctr">
              <a:lnSpc>
                <a:spcPct val="100000"/>
              </a:lnSpc>
            </a:pPr>
            <a:endParaRPr lang="en-US" sz="4000" b="0" strike="noStrike" spc="-1" dirty="0">
              <a:latin typeface="+mj-lt"/>
              <a:cs typeface="Calibri" panose="020F0502020204030204" pitchFamily="34" charset="0"/>
            </a:endParaRPr>
          </a:p>
          <a:p>
            <a:pPr algn="ctr">
              <a:lnSpc>
                <a:spcPct val="100000"/>
              </a:lnSpc>
            </a:pPr>
            <a:endParaRPr lang="en-US" sz="4000" b="0" strike="noStrike" spc="-1" dirty="0">
              <a:latin typeface="+mj-lt"/>
              <a:cs typeface="Calibri" panose="020F0502020204030204" pitchFamily="34" charset="0"/>
            </a:endParaRPr>
          </a:p>
        </p:txBody>
      </p:sp>
      <p:sp>
        <p:nvSpPr>
          <p:cNvPr id="2" name="CustomShape 8">
            <a:extLst>
              <a:ext uri="{FF2B5EF4-FFF2-40B4-BE49-F238E27FC236}">
                <a16:creationId xmlns:a16="http://schemas.microsoft.com/office/drawing/2014/main" id="{A308F435-1098-956F-249E-B0F5468A5794}"/>
              </a:ext>
            </a:extLst>
          </p:cNvPr>
          <p:cNvSpPr/>
          <p:nvPr/>
        </p:nvSpPr>
        <p:spPr>
          <a:xfrm>
            <a:off x="8258760" y="4807800"/>
            <a:ext cx="566280" cy="1274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F59ECA62-244B-481E-9EA5-997647DFA9F0}" type="slidenum">
              <a:rPr lang="de-DE" sz="1000" b="0" strike="noStrike" spc="-1">
                <a:solidFill>
                  <a:srgbClr val="0949A7"/>
                </a:solidFill>
                <a:ea typeface="DejaVu Sans"/>
                <a:cs typeface="Calibri" panose="020F0502020204030204" pitchFamily="34" charset="0"/>
              </a:rPr>
              <a:t>9</a:t>
            </a:fld>
            <a:endParaRPr lang="en-US" sz="1000" b="0" strike="noStrike" spc="-1" dirty="0">
              <a:cs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 name="CustomShape 1"/>
          <p:cNvSpPr/>
          <p:nvPr/>
        </p:nvSpPr>
        <p:spPr>
          <a:xfrm>
            <a:off x="548640" y="365760"/>
            <a:ext cx="7043652" cy="345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endParaRPr lang="en-US" sz="1800" b="0" strike="noStrike" spc="-1" dirty="0">
              <a:cs typeface="Calibri" panose="020F0502020204030204" pitchFamily="34" charset="0"/>
            </a:endParaRPr>
          </a:p>
        </p:txBody>
      </p:sp>
      <p:sp>
        <p:nvSpPr>
          <p:cNvPr id="2" name="CustomShape 8">
            <a:extLst>
              <a:ext uri="{FF2B5EF4-FFF2-40B4-BE49-F238E27FC236}">
                <a16:creationId xmlns:a16="http://schemas.microsoft.com/office/drawing/2014/main" id="{D69CC0BB-0ED6-B8B0-BA4B-CED41428C9A9}"/>
              </a:ext>
            </a:extLst>
          </p:cNvPr>
          <p:cNvSpPr/>
          <p:nvPr/>
        </p:nvSpPr>
        <p:spPr>
          <a:xfrm>
            <a:off x="8258760" y="4807800"/>
            <a:ext cx="566280" cy="1274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F59ECA62-244B-481E-9EA5-997647DFA9F0}" type="slidenum">
              <a:rPr lang="de-DE" sz="1000" b="0" strike="noStrike" spc="-1">
                <a:solidFill>
                  <a:srgbClr val="0949A7"/>
                </a:solidFill>
                <a:ea typeface="DejaVu Sans"/>
                <a:cs typeface="Calibri" panose="020F0502020204030204" pitchFamily="34" charset="0"/>
              </a:rPr>
              <a:t>10</a:t>
            </a:fld>
            <a:endParaRPr lang="en-US" sz="1000" b="0" strike="noStrike" spc="-1" dirty="0">
              <a:cs typeface="Calibri" panose="020F0502020204030204" pitchFamily="34" charset="0"/>
            </a:endParaRPr>
          </a:p>
        </p:txBody>
      </p:sp>
      <p:grpSp>
        <p:nvGrpSpPr>
          <p:cNvPr id="4" name="Group 3">
            <a:extLst>
              <a:ext uri="{FF2B5EF4-FFF2-40B4-BE49-F238E27FC236}">
                <a16:creationId xmlns:a16="http://schemas.microsoft.com/office/drawing/2014/main" id="{37F52501-5615-5166-CF59-B78996BAA1D6}"/>
              </a:ext>
            </a:extLst>
          </p:cNvPr>
          <p:cNvGrpSpPr/>
          <p:nvPr/>
        </p:nvGrpSpPr>
        <p:grpSpPr>
          <a:xfrm>
            <a:off x="548640" y="919394"/>
            <a:ext cx="3754860" cy="3613320"/>
            <a:chOff x="1881062" y="1071724"/>
            <a:chExt cx="3754860" cy="3613320"/>
          </a:xfrm>
        </p:grpSpPr>
        <p:pic>
          <p:nvPicPr>
            <p:cNvPr id="461" name="Picture 551"/>
            <p:cNvPicPr/>
            <p:nvPr/>
          </p:nvPicPr>
          <p:blipFill rotWithShape="1">
            <a:blip r:embed="rId3"/>
            <a:srcRect r="42494"/>
            <a:stretch/>
          </p:blipFill>
          <p:spPr>
            <a:xfrm>
              <a:off x="1882802" y="1071724"/>
              <a:ext cx="3753120" cy="3613320"/>
            </a:xfrm>
            <a:prstGeom prst="rect">
              <a:avLst/>
            </a:prstGeom>
            <a:ln>
              <a:noFill/>
            </a:ln>
          </p:spPr>
        </p:pic>
        <p:sp>
          <p:nvSpPr>
            <p:cNvPr id="3" name="Rectangle 2">
              <a:extLst>
                <a:ext uri="{FF2B5EF4-FFF2-40B4-BE49-F238E27FC236}">
                  <a16:creationId xmlns:a16="http://schemas.microsoft.com/office/drawing/2014/main" id="{C12A6845-0C56-71B6-A5DE-66012AE73776}"/>
                </a:ext>
              </a:extLst>
            </p:cNvPr>
            <p:cNvSpPr/>
            <p:nvPr/>
          </p:nvSpPr>
          <p:spPr>
            <a:xfrm>
              <a:off x="1881062" y="1169183"/>
              <a:ext cx="428029" cy="2993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grpSp>
      <p:sp>
        <p:nvSpPr>
          <p:cNvPr id="7" name="CustomShape 1">
            <a:extLst>
              <a:ext uri="{FF2B5EF4-FFF2-40B4-BE49-F238E27FC236}">
                <a16:creationId xmlns:a16="http://schemas.microsoft.com/office/drawing/2014/main" id="{CAF3704D-AA3A-D462-3581-2D3F6A0C017C}"/>
              </a:ext>
            </a:extLst>
          </p:cNvPr>
          <p:cNvSpPr/>
          <p:nvPr/>
        </p:nvSpPr>
        <p:spPr>
          <a:xfrm>
            <a:off x="454679" y="157853"/>
            <a:ext cx="7941176" cy="345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b="1" strike="noStrike" spc="-1" dirty="0">
                <a:solidFill>
                  <a:srgbClr val="000000"/>
                </a:solidFill>
                <a:ea typeface="DejaVu Sans"/>
                <a:cs typeface="Calibri" panose="020F0502020204030204" pitchFamily="34" charset="0"/>
              </a:rPr>
              <a:t>Fungal growth arrest is RNAi-independent</a:t>
            </a:r>
            <a:endParaRPr lang="en-US" b="1" strike="noStrike" spc="-1" dirty="0">
              <a:cs typeface="Calibri" panose="020F0502020204030204" pitchFamily="34" charset="0"/>
            </a:endParaRPr>
          </a:p>
        </p:txBody>
      </p:sp>
      <p:grpSp>
        <p:nvGrpSpPr>
          <p:cNvPr id="5" name="Group 4">
            <a:extLst>
              <a:ext uri="{FF2B5EF4-FFF2-40B4-BE49-F238E27FC236}">
                <a16:creationId xmlns:a16="http://schemas.microsoft.com/office/drawing/2014/main" id="{631C61A5-9DF4-0F27-1F25-5852043A360E}"/>
              </a:ext>
            </a:extLst>
          </p:cNvPr>
          <p:cNvGrpSpPr/>
          <p:nvPr/>
        </p:nvGrpSpPr>
        <p:grpSpPr>
          <a:xfrm>
            <a:off x="4572000" y="1534805"/>
            <a:ext cx="4849432" cy="2154786"/>
            <a:chOff x="4572000" y="684262"/>
            <a:chExt cx="4849432" cy="2154786"/>
          </a:xfrm>
        </p:grpSpPr>
        <p:grpSp>
          <p:nvGrpSpPr>
            <p:cNvPr id="6" name="Group 5">
              <a:extLst>
                <a:ext uri="{FF2B5EF4-FFF2-40B4-BE49-F238E27FC236}">
                  <a16:creationId xmlns:a16="http://schemas.microsoft.com/office/drawing/2014/main" id="{99AEE08C-2D00-5434-BEF7-59F5D7BB46EF}"/>
                </a:ext>
              </a:extLst>
            </p:cNvPr>
            <p:cNvGrpSpPr/>
            <p:nvPr/>
          </p:nvGrpSpPr>
          <p:grpSpPr>
            <a:xfrm>
              <a:off x="4572000" y="684262"/>
              <a:ext cx="4849432" cy="2154786"/>
              <a:chOff x="4572000" y="684262"/>
              <a:chExt cx="4849432" cy="2154786"/>
            </a:xfrm>
          </p:grpSpPr>
          <p:grpSp>
            <p:nvGrpSpPr>
              <p:cNvPr id="12" name="Group 11">
                <a:extLst>
                  <a:ext uri="{FF2B5EF4-FFF2-40B4-BE49-F238E27FC236}">
                    <a16:creationId xmlns:a16="http://schemas.microsoft.com/office/drawing/2014/main" id="{EF09651F-5152-9CC9-0B68-FC0F188B2CDD}"/>
                  </a:ext>
                </a:extLst>
              </p:cNvPr>
              <p:cNvGrpSpPr/>
              <p:nvPr/>
            </p:nvGrpSpPr>
            <p:grpSpPr>
              <a:xfrm>
                <a:off x="4572000" y="684262"/>
                <a:ext cx="4849432" cy="2032839"/>
                <a:chOff x="1" y="711720"/>
                <a:chExt cx="4849432" cy="2032839"/>
              </a:xfrm>
            </p:grpSpPr>
            <p:pic>
              <p:nvPicPr>
                <p:cNvPr id="14" name="Picture 242">
                  <a:extLst>
                    <a:ext uri="{FF2B5EF4-FFF2-40B4-BE49-F238E27FC236}">
                      <a16:creationId xmlns:a16="http://schemas.microsoft.com/office/drawing/2014/main" id="{5CA94568-9937-4691-780A-92055D44BBC3}"/>
                    </a:ext>
                  </a:extLst>
                </p:cNvPr>
                <p:cNvPicPr/>
                <p:nvPr/>
              </p:nvPicPr>
              <p:blipFill rotWithShape="1">
                <a:blip r:embed="rId4"/>
                <a:srcRect r="69474" b="65184"/>
                <a:stretch/>
              </p:blipFill>
              <p:spPr>
                <a:xfrm>
                  <a:off x="1" y="711720"/>
                  <a:ext cx="1819372" cy="1480009"/>
                </a:xfrm>
                <a:prstGeom prst="rect">
                  <a:avLst/>
                </a:prstGeom>
                <a:ln>
                  <a:noFill/>
                </a:ln>
              </p:spPr>
            </p:pic>
            <p:pic>
              <p:nvPicPr>
                <p:cNvPr id="15" name="Picture 242">
                  <a:extLst>
                    <a:ext uri="{FF2B5EF4-FFF2-40B4-BE49-F238E27FC236}">
                      <a16:creationId xmlns:a16="http://schemas.microsoft.com/office/drawing/2014/main" id="{12A41E38-846E-A7E0-B9C5-9E943E205B8F}"/>
                    </a:ext>
                  </a:extLst>
                </p:cNvPr>
                <p:cNvPicPr/>
                <p:nvPr/>
              </p:nvPicPr>
              <p:blipFill rotWithShape="1">
                <a:blip r:embed="rId4"/>
                <a:srcRect l="48371" b="62179"/>
                <a:stretch/>
              </p:blipFill>
              <p:spPr>
                <a:xfrm>
                  <a:off x="1772239" y="711720"/>
                  <a:ext cx="3077194" cy="1607787"/>
                </a:xfrm>
                <a:prstGeom prst="rect">
                  <a:avLst/>
                </a:prstGeom>
                <a:ln>
                  <a:noFill/>
                </a:ln>
              </p:spPr>
            </p:pic>
            <p:sp>
              <p:nvSpPr>
                <p:cNvPr id="16" name="Rectangle 15">
                  <a:extLst>
                    <a:ext uri="{FF2B5EF4-FFF2-40B4-BE49-F238E27FC236}">
                      <a16:creationId xmlns:a16="http://schemas.microsoft.com/office/drawing/2014/main" id="{749E74CA-314F-F2E1-9975-1E2E81D75139}"/>
                    </a:ext>
                  </a:extLst>
                </p:cNvPr>
                <p:cNvSpPr/>
                <p:nvPr/>
              </p:nvSpPr>
              <p:spPr>
                <a:xfrm>
                  <a:off x="457200" y="1591564"/>
                  <a:ext cx="1362173" cy="6001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7" name="TextBox 16">
                  <a:extLst>
                    <a:ext uri="{FF2B5EF4-FFF2-40B4-BE49-F238E27FC236}">
                      <a16:creationId xmlns:a16="http://schemas.microsoft.com/office/drawing/2014/main" id="{CC7C4850-75FC-1BBE-AD99-76B941F27095}"/>
                    </a:ext>
                  </a:extLst>
                </p:cNvPr>
                <p:cNvSpPr txBox="1"/>
                <p:nvPr/>
              </p:nvSpPr>
              <p:spPr>
                <a:xfrm>
                  <a:off x="499292" y="1760842"/>
                  <a:ext cx="1362173" cy="400110"/>
                </a:xfrm>
                <a:prstGeom prst="rect">
                  <a:avLst/>
                </a:prstGeom>
                <a:solidFill>
                  <a:schemeClr val="bg1"/>
                </a:solidFill>
              </p:spPr>
              <p:txBody>
                <a:bodyPr wrap="square" rtlCol="0">
                  <a:spAutoFit/>
                </a:bodyPr>
                <a:lstStyle/>
                <a:p>
                  <a:r>
                    <a:rPr lang="en-CN" sz="1000" dirty="0"/>
                    <a:t>Dicer cleaves dsRNA</a:t>
                  </a:r>
                </a:p>
              </p:txBody>
            </p:sp>
            <p:sp>
              <p:nvSpPr>
                <p:cNvPr id="19" name="TextBox 18">
                  <a:extLst>
                    <a:ext uri="{FF2B5EF4-FFF2-40B4-BE49-F238E27FC236}">
                      <a16:creationId xmlns:a16="http://schemas.microsoft.com/office/drawing/2014/main" id="{66B2A0C8-E644-544B-3545-2C501E05E556}"/>
                    </a:ext>
                  </a:extLst>
                </p:cNvPr>
                <p:cNvSpPr txBox="1"/>
                <p:nvPr/>
              </p:nvSpPr>
              <p:spPr>
                <a:xfrm>
                  <a:off x="1240939" y="2498338"/>
                  <a:ext cx="1362173" cy="246221"/>
                </a:xfrm>
                <a:prstGeom prst="rect">
                  <a:avLst/>
                </a:prstGeom>
                <a:solidFill>
                  <a:schemeClr val="bg1"/>
                </a:solidFill>
              </p:spPr>
              <p:txBody>
                <a:bodyPr wrap="square" rtlCol="0">
                  <a:spAutoFit/>
                </a:bodyPr>
                <a:lstStyle/>
                <a:p>
                  <a:r>
                    <a:rPr lang="en-CN" sz="1000" dirty="0"/>
                    <a:t>No</a:t>
                  </a:r>
                  <a:r>
                    <a:rPr lang="zh-CN" altLang="en-US" sz="1000" dirty="0"/>
                    <a:t> </a:t>
                  </a:r>
                  <a:r>
                    <a:rPr lang="en-US" altLang="zh-CN" sz="1000" dirty="0"/>
                    <a:t>g</a:t>
                  </a:r>
                  <a:r>
                    <a:rPr lang="en-CN" sz="1000" dirty="0"/>
                    <a:t>ene silencing</a:t>
                  </a:r>
                </a:p>
              </p:txBody>
            </p:sp>
          </p:grpSp>
          <p:sp>
            <p:nvSpPr>
              <p:cNvPr id="13" name="Rectangle 12">
                <a:extLst>
                  <a:ext uri="{FF2B5EF4-FFF2-40B4-BE49-F238E27FC236}">
                    <a16:creationId xmlns:a16="http://schemas.microsoft.com/office/drawing/2014/main" id="{BDDE4506-6AC2-6E4A-2BCB-71AE251C280D}"/>
                  </a:ext>
                </a:extLst>
              </p:cNvPr>
              <p:cNvSpPr/>
              <p:nvPr/>
            </p:nvSpPr>
            <p:spPr>
              <a:xfrm>
                <a:off x="7617185" y="1864188"/>
                <a:ext cx="1362173" cy="9748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grpSp>
        <p:sp>
          <p:nvSpPr>
            <p:cNvPr id="8" name="Line 1">
              <a:extLst>
                <a:ext uri="{FF2B5EF4-FFF2-40B4-BE49-F238E27FC236}">
                  <a16:creationId xmlns:a16="http://schemas.microsoft.com/office/drawing/2014/main" id="{77DACF05-FB85-1EF8-29C8-9DA3C53DEAC3}"/>
                </a:ext>
              </a:extLst>
            </p:cNvPr>
            <p:cNvSpPr/>
            <p:nvPr/>
          </p:nvSpPr>
          <p:spPr>
            <a:xfrm>
              <a:off x="6143657" y="1289786"/>
              <a:ext cx="0" cy="274320"/>
            </a:xfrm>
            <a:prstGeom prst="line">
              <a:avLst/>
            </a:prstGeom>
            <a:ln>
              <a:solidFill>
                <a:srgbClr val="FF0014"/>
              </a:solidFill>
              <a:tailEnd type="triangle" w="med" len="med"/>
            </a:ln>
          </p:spPr>
          <p:style>
            <a:lnRef idx="0">
              <a:scrgbClr r="0" g="0" b="0"/>
            </a:lnRef>
            <a:fillRef idx="0">
              <a:scrgbClr r="0" g="0" b="0"/>
            </a:fillRef>
            <a:effectRef idx="0">
              <a:scrgbClr r="0" g="0" b="0"/>
            </a:effectRef>
            <a:fontRef idx="minor"/>
          </p:style>
        </p:sp>
      </p:grpSp>
      <p:sp>
        <p:nvSpPr>
          <p:cNvPr id="20" name="TextBox 19">
            <a:extLst>
              <a:ext uri="{FF2B5EF4-FFF2-40B4-BE49-F238E27FC236}">
                <a16:creationId xmlns:a16="http://schemas.microsoft.com/office/drawing/2014/main" id="{A6805DFB-A729-A394-1683-29CFEAD9025C}"/>
              </a:ext>
            </a:extLst>
          </p:cNvPr>
          <p:cNvSpPr txBox="1"/>
          <p:nvPr/>
        </p:nvSpPr>
        <p:spPr>
          <a:xfrm>
            <a:off x="545292" y="4713411"/>
            <a:ext cx="2566728" cy="276999"/>
          </a:xfrm>
          <a:prstGeom prst="rect">
            <a:avLst/>
          </a:prstGeom>
          <a:noFill/>
        </p:spPr>
        <p:txBody>
          <a:bodyPr wrap="none" rtlCol="0">
            <a:spAutoFit/>
          </a:bodyPr>
          <a:lstStyle/>
          <a:p>
            <a:r>
              <a:rPr lang="en-US" altLang="zh-CN" sz="1200" dirty="0">
                <a:cs typeface="Calibri" panose="020F0502020204030204" pitchFamily="34" charset="0"/>
              </a:rPr>
              <a:t>Pan, </a:t>
            </a:r>
            <a:r>
              <a:rPr lang="en-CN" sz="1200" dirty="0">
                <a:cs typeface="Calibri" panose="020F0502020204030204" pitchFamily="34" charset="0"/>
              </a:rPr>
              <a:t>Kelani,</a:t>
            </a:r>
            <a:r>
              <a:rPr lang="zh-CN" altLang="en-US" sz="1200" dirty="0">
                <a:cs typeface="Calibri" panose="020F0502020204030204" pitchFamily="34" charset="0"/>
              </a:rPr>
              <a:t> </a:t>
            </a:r>
            <a:r>
              <a:rPr lang="en-CN" sz="1200" i="1" dirty="0">
                <a:cs typeface="Calibri" panose="020F0502020204030204" pitchFamily="34" charset="0"/>
              </a:rPr>
              <a:t>et al</a:t>
            </a:r>
            <a:r>
              <a:rPr lang="en-CN" sz="1200" dirty="0">
                <a:cs typeface="Calibri" panose="020F0502020204030204" pitchFamily="34" charset="0"/>
              </a:rPr>
              <a:t>. Mol Micro. 2026.</a:t>
            </a:r>
          </a:p>
        </p:txBody>
      </p:sp>
      <p:sp>
        <p:nvSpPr>
          <p:cNvPr id="21" name="TextBox 20">
            <a:extLst>
              <a:ext uri="{FF2B5EF4-FFF2-40B4-BE49-F238E27FC236}">
                <a16:creationId xmlns:a16="http://schemas.microsoft.com/office/drawing/2014/main" id="{B7BAE877-9B78-0541-E790-171A33C2D359}"/>
              </a:ext>
            </a:extLst>
          </p:cNvPr>
          <p:cNvSpPr txBox="1"/>
          <p:nvPr/>
        </p:nvSpPr>
        <p:spPr>
          <a:xfrm rot="18999573">
            <a:off x="1543014" y="4011552"/>
            <a:ext cx="1072730" cy="338554"/>
          </a:xfrm>
          <a:prstGeom prst="rect">
            <a:avLst/>
          </a:prstGeom>
          <a:solidFill>
            <a:schemeClr val="bg1"/>
          </a:solidFill>
        </p:spPr>
        <p:txBody>
          <a:bodyPr wrap="none" rtlCol="0">
            <a:spAutoFit/>
          </a:bodyPr>
          <a:lstStyle/>
          <a:p>
            <a:r>
              <a:rPr lang="en-CN" sz="1600" b="1" i="1" dirty="0">
                <a:cs typeface="Calibri" panose="020F0502020204030204" pitchFamily="34" charset="0"/>
              </a:rPr>
              <a:t>pksP</a:t>
            </a:r>
            <a:r>
              <a:rPr lang="en-CN" sz="1600" b="1" dirty="0">
                <a:cs typeface="Calibri" panose="020F0502020204030204" pitchFamily="34" charset="0"/>
              </a:rPr>
              <a:t>-IRT</a:t>
            </a:r>
            <a:endParaRPr lang="en-CN" sz="1600" b="1" i="1" dirty="0">
              <a:cs typeface="Calibri" panose="020F0502020204030204" pitchFamily="34" charset="0"/>
            </a:endParaRPr>
          </a:p>
        </p:txBody>
      </p:sp>
      <p:sp>
        <p:nvSpPr>
          <p:cNvPr id="22" name="TextBox 21">
            <a:extLst>
              <a:ext uri="{FF2B5EF4-FFF2-40B4-BE49-F238E27FC236}">
                <a16:creationId xmlns:a16="http://schemas.microsoft.com/office/drawing/2014/main" id="{D780A702-E36B-C5DA-5E11-5820E98D882F}"/>
              </a:ext>
            </a:extLst>
          </p:cNvPr>
          <p:cNvSpPr txBox="1"/>
          <p:nvPr/>
        </p:nvSpPr>
        <p:spPr>
          <a:xfrm>
            <a:off x="6602700" y="2166464"/>
            <a:ext cx="1056577" cy="1107996"/>
          </a:xfrm>
          <a:prstGeom prst="rect">
            <a:avLst/>
          </a:prstGeom>
          <a:noFill/>
        </p:spPr>
        <p:txBody>
          <a:bodyPr wrap="square" rtlCol="0">
            <a:spAutoFit/>
          </a:bodyPr>
          <a:lstStyle/>
          <a:p>
            <a:r>
              <a:rPr lang="en-CN" sz="6600" dirty="0">
                <a:solidFill>
                  <a:srgbClr val="FF0000"/>
                </a:solidFill>
              </a:rPr>
              <a:t>✖️</a:t>
            </a:r>
          </a:p>
        </p:txBody>
      </p:sp>
      <p:sp>
        <p:nvSpPr>
          <p:cNvPr id="23" name="Rectangle 22">
            <a:extLst>
              <a:ext uri="{FF2B5EF4-FFF2-40B4-BE49-F238E27FC236}">
                <a16:creationId xmlns:a16="http://schemas.microsoft.com/office/drawing/2014/main" id="{A4477598-DBF7-A184-1617-2A859464D2A0}"/>
              </a:ext>
            </a:extLst>
          </p:cNvPr>
          <p:cNvSpPr/>
          <p:nvPr/>
        </p:nvSpPr>
        <p:spPr>
          <a:xfrm>
            <a:off x="7500599" y="2210703"/>
            <a:ext cx="327439" cy="3732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a:extLst>
              <a:ext uri="{FF2B5EF4-FFF2-40B4-BE49-F238E27FC236}">
                <a16:creationId xmlns:a16="http://schemas.microsoft.com/office/drawing/2014/main" id="{394EEDFA-C343-D63A-1665-663246C63E7F}"/>
              </a:ext>
            </a:extLst>
          </p:cNvPr>
          <p:cNvSpPr/>
          <p:nvPr/>
        </p:nvSpPr>
        <p:spPr>
          <a:xfrm>
            <a:off x="1327294" y="1285816"/>
            <a:ext cx="6489412" cy="1881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pPr>
            <a:endParaRPr lang="en-US" sz="4000" b="0" strike="noStrike" spc="-1" dirty="0">
              <a:solidFill>
                <a:srgbClr val="000000"/>
              </a:solidFill>
              <a:ea typeface="DejaVu Sans"/>
              <a:cs typeface="Calibri" panose="020F0502020204030204" pitchFamily="34" charset="0"/>
            </a:endParaRPr>
          </a:p>
          <a:p>
            <a:pPr algn="ctr">
              <a:lnSpc>
                <a:spcPct val="100000"/>
              </a:lnSpc>
            </a:pPr>
            <a:r>
              <a:rPr lang="en-US" sz="4000" spc="-1" dirty="0">
                <a:solidFill>
                  <a:srgbClr val="000000"/>
                </a:solidFill>
                <a:ea typeface="DejaVu Sans"/>
                <a:cs typeface="Calibri" panose="020F0502020204030204" pitchFamily="34" charset="0"/>
              </a:rPr>
              <a:t>How is the IRT leading to growth inhibition?</a:t>
            </a:r>
            <a:endParaRPr lang="en-US" sz="4000" b="0" strike="noStrike" spc="-1" dirty="0">
              <a:cs typeface="Calibri" panose="020F0502020204030204" pitchFamily="34" charset="0"/>
            </a:endParaRPr>
          </a:p>
          <a:p>
            <a:pPr algn="ctr">
              <a:lnSpc>
                <a:spcPct val="100000"/>
              </a:lnSpc>
            </a:pPr>
            <a:endParaRPr lang="en-US" sz="4000" b="0" strike="noStrike" spc="-1" dirty="0">
              <a:cs typeface="Calibri" panose="020F0502020204030204" pitchFamily="34" charset="0"/>
            </a:endParaRPr>
          </a:p>
          <a:p>
            <a:pPr algn="ctr">
              <a:lnSpc>
                <a:spcPct val="100000"/>
              </a:lnSpc>
            </a:pPr>
            <a:endParaRPr lang="en-US" sz="4000" b="0" strike="noStrike" spc="-1" dirty="0">
              <a:cs typeface="Calibri" panose="020F0502020204030204" pitchFamily="34" charset="0"/>
            </a:endParaRPr>
          </a:p>
        </p:txBody>
      </p:sp>
      <p:sp>
        <p:nvSpPr>
          <p:cNvPr id="2" name="CustomShape 8">
            <a:extLst>
              <a:ext uri="{FF2B5EF4-FFF2-40B4-BE49-F238E27FC236}">
                <a16:creationId xmlns:a16="http://schemas.microsoft.com/office/drawing/2014/main" id="{03AC3E21-1767-2329-7376-801565C6AE33}"/>
              </a:ext>
            </a:extLst>
          </p:cNvPr>
          <p:cNvSpPr/>
          <p:nvPr/>
        </p:nvSpPr>
        <p:spPr>
          <a:xfrm>
            <a:off x="8258760" y="4807800"/>
            <a:ext cx="566280" cy="1274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F59ECA62-244B-481E-9EA5-997647DFA9F0}" type="slidenum">
              <a:rPr lang="de-DE" sz="1000" b="0" strike="noStrike" spc="-1">
                <a:solidFill>
                  <a:srgbClr val="0949A7"/>
                </a:solidFill>
                <a:ea typeface="DejaVu Sans"/>
                <a:cs typeface="Calibri" panose="020F0502020204030204" pitchFamily="34" charset="0"/>
              </a:rPr>
              <a:t>11</a:t>
            </a:fld>
            <a:endParaRPr lang="en-US" sz="1000" b="0" strike="noStrike" spc="-1" dirty="0">
              <a:cs typeface="Calibri" panose="020F0502020204030204" pitchFamily="34" charset="0"/>
            </a:endParaRPr>
          </a:p>
        </p:txBody>
      </p:sp>
    </p:spTree>
    <p:extLst>
      <p:ext uri="{BB962C8B-B14F-4D97-AF65-F5344CB8AC3E}">
        <p14:creationId xmlns:p14="http://schemas.microsoft.com/office/powerpoint/2010/main" val="32691195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stomShape 8">
            <a:extLst>
              <a:ext uri="{FF2B5EF4-FFF2-40B4-BE49-F238E27FC236}">
                <a16:creationId xmlns:a16="http://schemas.microsoft.com/office/drawing/2014/main" id="{03AC3E21-1767-2329-7376-801565C6AE33}"/>
              </a:ext>
            </a:extLst>
          </p:cNvPr>
          <p:cNvSpPr/>
          <p:nvPr/>
        </p:nvSpPr>
        <p:spPr>
          <a:xfrm>
            <a:off x="8258760" y="4807800"/>
            <a:ext cx="566280" cy="1274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F59ECA62-244B-481E-9EA5-997647DFA9F0}" type="slidenum">
              <a:rPr lang="de-DE" sz="1000" b="0" strike="noStrike" spc="-1">
                <a:solidFill>
                  <a:srgbClr val="0949A7"/>
                </a:solidFill>
                <a:ea typeface="DejaVu Sans"/>
                <a:cs typeface="Calibri" panose="020F0502020204030204" pitchFamily="34" charset="0"/>
              </a:rPr>
              <a:t>12</a:t>
            </a:fld>
            <a:endParaRPr lang="en-US" sz="1000" b="0" strike="noStrike" spc="-1" dirty="0">
              <a:cs typeface="Calibri" panose="020F0502020204030204" pitchFamily="34" charset="0"/>
            </a:endParaRPr>
          </a:p>
        </p:txBody>
      </p:sp>
      <p:sp>
        <p:nvSpPr>
          <p:cNvPr id="3" name="CustomShape 1">
            <a:extLst>
              <a:ext uri="{FF2B5EF4-FFF2-40B4-BE49-F238E27FC236}">
                <a16:creationId xmlns:a16="http://schemas.microsoft.com/office/drawing/2014/main" id="{9C902D20-A9E0-F351-FBC4-BE6232BE04B7}"/>
              </a:ext>
            </a:extLst>
          </p:cNvPr>
          <p:cNvSpPr/>
          <p:nvPr/>
        </p:nvSpPr>
        <p:spPr>
          <a:xfrm>
            <a:off x="385200" y="233280"/>
            <a:ext cx="7567920" cy="8960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90000"/>
              </a:lnSpc>
            </a:pPr>
            <a:r>
              <a:rPr lang="en-GB" b="1" spc="-1" dirty="0">
                <a:solidFill>
                  <a:srgbClr val="000000"/>
                </a:solidFill>
                <a:latin typeface="Arial"/>
                <a:ea typeface="DejaVu Sans"/>
              </a:rPr>
              <a:t>dsRNA overexpression limits fungal growth independent of Dicer</a:t>
            </a:r>
          </a:p>
          <a:p>
            <a:pPr>
              <a:lnSpc>
                <a:spcPct val="90000"/>
              </a:lnSpc>
            </a:pPr>
            <a:endParaRPr lang="en-US" b="1" spc="-1" dirty="0">
              <a:solidFill>
                <a:srgbClr val="000000"/>
              </a:solidFill>
              <a:latin typeface="Arial"/>
              <a:ea typeface="DejaVu Sans"/>
            </a:endParaRPr>
          </a:p>
        </p:txBody>
      </p:sp>
      <p:sp>
        <p:nvSpPr>
          <p:cNvPr id="6" name="CustomShape 6">
            <a:extLst>
              <a:ext uri="{FF2B5EF4-FFF2-40B4-BE49-F238E27FC236}">
                <a16:creationId xmlns:a16="http://schemas.microsoft.com/office/drawing/2014/main" id="{924CEF44-A41F-033F-CEE4-FB4DABF8F648}"/>
              </a:ext>
            </a:extLst>
          </p:cNvPr>
          <p:cNvSpPr/>
          <p:nvPr/>
        </p:nvSpPr>
        <p:spPr>
          <a:xfrm>
            <a:off x="385200" y="4733207"/>
            <a:ext cx="2514576" cy="275545"/>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200" b="0" strike="noStrike" spc="-1" dirty="0">
                <a:solidFill>
                  <a:srgbClr val="000000"/>
                </a:solidFill>
                <a:latin typeface="Arial"/>
                <a:ea typeface="DejaVu Sans"/>
              </a:rPr>
              <a:t>Pan, </a:t>
            </a:r>
            <a:r>
              <a:rPr lang="en-US" sz="1200" b="0" strike="noStrike" spc="-1" dirty="0" err="1">
                <a:solidFill>
                  <a:srgbClr val="000000"/>
                </a:solidFill>
                <a:latin typeface="Arial"/>
                <a:ea typeface="DejaVu Sans"/>
              </a:rPr>
              <a:t>Kelani</a:t>
            </a:r>
            <a:r>
              <a:rPr lang="en-US" sz="1200" b="0" strike="noStrike" spc="-1" dirty="0">
                <a:solidFill>
                  <a:srgbClr val="000000"/>
                </a:solidFill>
                <a:latin typeface="Arial"/>
                <a:ea typeface="DejaVu Sans"/>
              </a:rPr>
              <a:t>, </a:t>
            </a:r>
            <a:r>
              <a:rPr lang="en-US" sz="1200" b="0" i="1" strike="noStrike" spc="-1" dirty="0">
                <a:solidFill>
                  <a:srgbClr val="000000"/>
                </a:solidFill>
                <a:latin typeface="Arial"/>
                <a:ea typeface="DejaVu Sans"/>
              </a:rPr>
              <a:t>et al. </a:t>
            </a:r>
            <a:r>
              <a:rPr lang="en-US" sz="1200" spc="-1" dirty="0">
                <a:solidFill>
                  <a:srgbClr val="000000"/>
                </a:solidFill>
                <a:latin typeface="Arial"/>
                <a:ea typeface="DejaVu Sans"/>
              </a:rPr>
              <a:t>Mol Micro. </a:t>
            </a:r>
            <a:r>
              <a:rPr lang="en-US" sz="1200" b="0" strike="noStrike" spc="-1" dirty="0">
                <a:solidFill>
                  <a:srgbClr val="000000"/>
                </a:solidFill>
                <a:latin typeface="Arial"/>
                <a:ea typeface="DejaVu Sans"/>
              </a:rPr>
              <a:t>2026</a:t>
            </a:r>
            <a:endParaRPr lang="en-US" sz="1200" b="0" strike="noStrike" spc="-1" dirty="0">
              <a:latin typeface="Arial"/>
            </a:endParaRPr>
          </a:p>
        </p:txBody>
      </p:sp>
      <p:pic>
        <p:nvPicPr>
          <p:cNvPr id="7" name="Picture 6">
            <a:extLst>
              <a:ext uri="{FF2B5EF4-FFF2-40B4-BE49-F238E27FC236}">
                <a16:creationId xmlns:a16="http://schemas.microsoft.com/office/drawing/2014/main" id="{FBEA21C1-C2E8-D7AF-C816-2E69FADC9FC9}"/>
              </a:ext>
            </a:extLst>
          </p:cNvPr>
          <p:cNvPicPr>
            <a:picLocks noChangeAspect="1"/>
          </p:cNvPicPr>
          <p:nvPr/>
        </p:nvPicPr>
        <p:blipFill rotWithShape="1">
          <a:blip r:embed="rId2">
            <a:extLst>
              <a:ext uri="{28A0092B-C50C-407E-A947-70E740481C1C}">
                <a14:useLocalDpi xmlns:a14="http://schemas.microsoft.com/office/drawing/2010/main" val="0"/>
              </a:ext>
            </a:extLst>
          </a:blip>
          <a:srcRect t="9042" r="31689" b="33960"/>
          <a:stretch/>
        </p:blipFill>
        <p:spPr>
          <a:xfrm>
            <a:off x="0" y="985142"/>
            <a:ext cx="6176808" cy="3607723"/>
          </a:xfrm>
          <a:prstGeom prst="rect">
            <a:avLst/>
          </a:prstGeom>
        </p:spPr>
      </p:pic>
      <p:sp>
        <p:nvSpPr>
          <p:cNvPr id="4" name="TextBox 3">
            <a:extLst>
              <a:ext uri="{FF2B5EF4-FFF2-40B4-BE49-F238E27FC236}">
                <a16:creationId xmlns:a16="http://schemas.microsoft.com/office/drawing/2014/main" id="{DCB4FAF4-94E0-6CE7-2D84-F53ECC030D3B}"/>
              </a:ext>
            </a:extLst>
          </p:cNvPr>
          <p:cNvSpPr txBox="1"/>
          <p:nvPr/>
        </p:nvSpPr>
        <p:spPr>
          <a:xfrm>
            <a:off x="6327541" y="1245703"/>
            <a:ext cx="2743695" cy="1569660"/>
          </a:xfrm>
          <a:prstGeom prst="rect">
            <a:avLst/>
          </a:prstGeom>
          <a:noFill/>
        </p:spPr>
        <p:txBody>
          <a:bodyPr wrap="square" rtlCol="0">
            <a:spAutoFit/>
          </a:bodyPr>
          <a:lstStyle/>
          <a:p>
            <a:pPr marL="285750" indent="-285750">
              <a:buFont typeface="Arial" panose="020B0604020202020204" pitchFamily="34" charset="0"/>
              <a:buChar char="•"/>
            </a:pPr>
            <a:r>
              <a:rPr lang="en-CN" sz="1600" dirty="0"/>
              <a:t>DsRNA overexpression limits fungal growth.</a:t>
            </a:r>
          </a:p>
          <a:p>
            <a:pPr marL="285750" indent="-285750">
              <a:buFont typeface="Arial" panose="020B0604020202020204" pitchFamily="34" charset="0"/>
              <a:buChar char="•"/>
            </a:pPr>
            <a:endParaRPr lang="en-CN" sz="1600" i="1" dirty="0"/>
          </a:p>
          <a:p>
            <a:pPr marL="285750" indent="-285750">
              <a:buFont typeface="Arial" panose="020B0604020202020204" pitchFamily="34" charset="0"/>
              <a:buChar char="•"/>
            </a:pPr>
            <a:r>
              <a:rPr lang="en-CN" sz="1600" i="1" dirty="0"/>
              <a:t>A</a:t>
            </a:r>
            <a:r>
              <a:rPr lang="en-US" sz="1600" i="1" dirty="0"/>
              <a:t>.</a:t>
            </a:r>
            <a:r>
              <a:rPr lang="en-CN" sz="1600" i="1" dirty="0"/>
              <a:t> </a:t>
            </a:r>
            <a:r>
              <a:rPr lang="en-GB" sz="1600" i="1" dirty="0"/>
              <a:t>f</a:t>
            </a:r>
            <a:r>
              <a:rPr lang="en-CN" sz="1600" i="1" dirty="0"/>
              <a:t>umigatus </a:t>
            </a:r>
            <a:r>
              <a:rPr lang="en-CN" sz="1600" dirty="0"/>
              <a:t>produces Dicer-dependent 20-nt 5’ U sRNAs.</a:t>
            </a:r>
          </a:p>
        </p:txBody>
      </p:sp>
    </p:spTree>
    <p:extLst>
      <p:ext uri="{BB962C8B-B14F-4D97-AF65-F5344CB8AC3E}">
        <p14:creationId xmlns:p14="http://schemas.microsoft.com/office/powerpoint/2010/main" val="4501723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stomShape 1">
            <a:extLst>
              <a:ext uri="{FF2B5EF4-FFF2-40B4-BE49-F238E27FC236}">
                <a16:creationId xmlns:a16="http://schemas.microsoft.com/office/drawing/2014/main" id="{32D38AEC-E195-FF63-3223-A7620506971F}"/>
              </a:ext>
            </a:extLst>
          </p:cNvPr>
          <p:cNvSpPr/>
          <p:nvPr/>
        </p:nvSpPr>
        <p:spPr>
          <a:xfrm>
            <a:off x="385200" y="233280"/>
            <a:ext cx="7567920" cy="8960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90000"/>
              </a:lnSpc>
            </a:pPr>
            <a:r>
              <a:rPr lang="de-DE" b="1" spc="-1" dirty="0">
                <a:solidFill>
                  <a:srgbClr val="000000"/>
                </a:solidFill>
                <a:latin typeface="Arial"/>
                <a:ea typeface="DejaVu Sans"/>
              </a:rPr>
              <a:t>D</a:t>
            </a:r>
            <a:r>
              <a:rPr lang="de-DE" sz="1800" b="1" strike="noStrike" spc="-1" dirty="0">
                <a:solidFill>
                  <a:srgbClr val="000000"/>
                </a:solidFill>
                <a:latin typeface="Arial"/>
                <a:ea typeface="DejaVu Sans"/>
              </a:rPr>
              <a:t>ouble-</a:t>
            </a:r>
            <a:r>
              <a:rPr lang="de-DE" sz="1800" b="1" strike="noStrike" spc="-1" dirty="0" err="1">
                <a:solidFill>
                  <a:srgbClr val="000000"/>
                </a:solidFill>
                <a:latin typeface="Arial"/>
                <a:ea typeface="DejaVu Sans"/>
              </a:rPr>
              <a:t>stranded</a:t>
            </a:r>
            <a:r>
              <a:rPr lang="de-DE" sz="1800" b="1" strike="noStrike" spc="-1" dirty="0">
                <a:solidFill>
                  <a:srgbClr val="000000"/>
                </a:solidFill>
                <a:latin typeface="Arial"/>
                <a:ea typeface="DejaVu Sans"/>
              </a:rPr>
              <a:t> RNA (</a:t>
            </a:r>
            <a:r>
              <a:rPr lang="de-DE" sz="1800" b="1" strike="noStrike" spc="-1" dirty="0" err="1">
                <a:solidFill>
                  <a:srgbClr val="000000"/>
                </a:solidFill>
                <a:latin typeface="Arial"/>
                <a:ea typeface="DejaVu Sans"/>
              </a:rPr>
              <a:t>dsRNA</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metabolism</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during</a:t>
            </a:r>
            <a:r>
              <a:rPr lang="de-DE" sz="1800" b="1" strike="noStrike" spc="-1" dirty="0">
                <a:solidFill>
                  <a:srgbClr val="000000"/>
                </a:solidFill>
                <a:latin typeface="Arial"/>
                <a:ea typeface="DejaVu Sans"/>
              </a:rPr>
              <a:t> host-</a:t>
            </a:r>
            <a:r>
              <a:rPr lang="de-DE" sz="1800" b="1" strike="noStrike" spc="-1" dirty="0" err="1">
                <a:solidFill>
                  <a:srgbClr val="000000"/>
                </a:solidFill>
                <a:latin typeface="Arial"/>
                <a:ea typeface="DejaVu Sans"/>
              </a:rPr>
              <a:t>fungal</a:t>
            </a:r>
            <a:r>
              <a:rPr lang="de-DE" sz="1800" b="1" strike="noStrike" spc="-1" dirty="0">
                <a:solidFill>
                  <a:srgbClr val="000000"/>
                </a:solidFill>
                <a:latin typeface="Arial"/>
                <a:ea typeface="DejaVu Sans"/>
              </a:rPr>
              <a:t> </a:t>
            </a:r>
            <a:r>
              <a:rPr lang="de-DE" sz="1800" b="1" strike="noStrike" spc="-1" dirty="0" err="1">
                <a:solidFill>
                  <a:srgbClr val="000000"/>
                </a:solidFill>
                <a:latin typeface="Arial"/>
                <a:ea typeface="DejaVu Sans"/>
              </a:rPr>
              <a:t>interactions</a:t>
            </a:r>
            <a:endParaRPr lang="en-US" sz="1800" b="0" strike="noStrike" spc="-1" dirty="0">
              <a:latin typeface="Arial"/>
            </a:endParaRPr>
          </a:p>
        </p:txBody>
      </p:sp>
      <p:pic>
        <p:nvPicPr>
          <p:cNvPr id="3" name="Picture 2">
            <a:extLst>
              <a:ext uri="{FF2B5EF4-FFF2-40B4-BE49-F238E27FC236}">
                <a16:creationId xmlns:a16="http://schemas.microsoft.com/office/drawing/2014/main" id="{35CDE190-D34D-8971-3505-88FFE070BA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4999" y="457199"/>
            <a:ext cx="7350823" cy="5145577"/>
          </a:xfrm>
          <a:prstGeom prst="rect">
            <a:avLst/>
          </a:prstGeom>
        </p:spPr>
      </p:pic>
      <p:sp>
        <p:nvSpPr>
          <p:cNvPr id="5" name="TextBox 4">
            <a:extLst>
              <a:ext uri="{FF2B5EF4-FFF2-40B4-BE49-F238E27FC236}">
                <a16:creationId xmlns:a16="http://schemas.microsoft.com/office/drawing/2014/main" id="{7EA3EB1C-D8DD-9263-EBF3-AD4D5B005C94}"/>
              </a:ext>
            </a:extLst>
          </p:cNvPr>
          <p:cNvSpPr txBox="1"/>
          <p:nvPr/>
        </p:nvSpPr>
        <p:spPr>
          <a:xfrm>
            <a:off x="281304" y="1460307"/>
            <a:ext cx="2743695" cy="1323439"/>
          </a:xfrm>
          <a:prstGeom prst="rect">
            <a:avLst/>
          </a:prstGeom>
          <a:noFill/>
        </p:spPr>
        <p:txBody>
          <a:bodyPr wrap="square" rtlCol="0">
            <a:spAutoFit/>
          </a:bodyPr>
          <a:lstStyle/>
          <a:p>
            <a:r>
              <a:rPr lang="en-CN" sz="1600" dirty="0"/>
              <a:t>Project A: the role of dsRNA-initiated RNA interference (RNAi) in t</a:t>
            </a:r>
            <a:r>
              <a:rPr lang="en-US" altLang="zh-CN" sz="1600" dirty="0"/>
              <a:t>he</a:t>
            </a:r>
            <a:r>
              <a:rPr lang="zh-CN" altLang="en-US" sz="1600" dirty="0"/>
              <a:t> </a:t>
            </a:r>
            <a:r>
              <a:rPr lang="en-CN" sz="1600" dirty="0"/>
              <a:t>pathogenic fungus </a:t>
            </a:r>
            <a:r>
              <a:rPr lang="en-CN" sz="1600" i="1" dirty="0"/>
              <a:t>Aspergillus fumigatus</a:t>
            </a:r>
            <a:endParaRPr lang="en-CN" sz="1600" dirty="0"/>
          </a:p>
        </p:txBody>
      </p:sp>
      <p:sp>
        <p:nvSpPr>
          <p:cNvPr id="6" name="TextBox 5">
            <a:extLst>
              <a:ext uri="{FF2B5EF4-FFF2-40B4-BE49-F238E27FC236}">
                <a16:creationId xmlns:a16="http://schemas.microsoft.com/office/drawing/2014/main" id="{7E12B0DF-AEAD-A674-3586-9AF568B5C480}"/>
              </a:ext>
            </a:extLst>
          </p:cNvPr>
          <p:cNvSpPr txBox="1"/>
          <p:nvPr/>
        </p:nvSpPr>
        <p:spPr>
          <a:xfrm>
            <a:off x="295429" y="3490217"/>
            <a:ext cx="2743695" cy="830997"/>
          </a:xfrm>
          <a:prstGeom prst="rect">
            <a:avLst/>
          </a:prstGeom>
          <a:noFill/>
        </p:spPr>
        <p:txBody>
          <a:bodyPr wrap="square" rtlCol="0">
            <a:spAutoFit/>
          </a:bodyPr>
          <a:lstStyle/>
          <a:p>
            <a:r>
              <a:rPr lang="en-CN" sz="1600" dirty="0"/>
              <a:t>Project B: the role of dsRNA binding protein ADAR1 in host cells</a:t>
            </a:r>
          </a:p>
        </p:txBody>
      </p:sp>
      <p:sp>
        <p:nvSpPr>
          <p:cNvPr id="7" name="CustomShape 8">
            <a:extLst>
              <a:ext uri="{FF2B5EF4-FFF2-40B4-BE49-F238E27FC236}">
                <a16:creationId xmlns:a16="http://schemas.microsoft.com/office/drawing/2014/main" id="{69A2D2F0-6B36-0DCA-60E8-A3AB9A7CF237}"/>
              </a:ext>
            </a:extLst>
          </p:cNvPr>
          <p:cNvSpPr/>
          <p:nvPr/>
        </p:nvSpPr>
        <p:spPr>
          <a:xfrm>
            <a:off x="8258760" y="4807800"/>
            <a:ext cx="565200" cy="1263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C3CACEEB-972B-460B-A856-FC5E7152F28E}" type="slidenum">
              <a:rPr lang="de-DE" sz="1000" b="0" strike="noStrike" spc="-1">
                <a:solidFill>
                  <a:srgbClr val="0949A7"/>
                </a:solidFill>
                <a:ea typeface="DejaVu Sans"/>
              </a:rPr>
              <a:t>13</a:t>
            </a:fld>
            <a:endParaRPr lang="en-US" sz="1000" b="0" strike="noStrike" spc="-1" dirty="0"/>
          </a:p>
        </p:txBody>
      </p:sp>
      <p:sp>
        <p:nvSpPr>
          <p:cNvPr id="4" name="Rectangle 3">
            <a:extLst>
              <a:ext uri="{FF2B5EF4-FFF2-40B4-BE49-F238E27FC236}">
                <a16:creationId xmlns:a16="http://schemas.microsoft.com/office/drawing/2014/main" id="{74CDD26B-D429-E647-1731-E483BD3A0BFD}"/>
              </a:ext>
            </a:extLst>
          </p:cNvPr>
          <p:cNvSpPr/>
          <p:nvPr/>
        </p:nvSpPr>
        <p:spPr>
          <a:xfrm>
            <a:off x="7293935" y="1637414"/>
            <a:ext cx="659185" cy="5422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8" name="Rectangle 7">
            <a:extLst>
              <a:ext uri="{FF2B5EF4-FFF2-40B4-BE49-F238E27FC236}">
                <a16:creationId xmlns:a16="http://schemas.microsoft.com/office/drawing/2014/main" id="{8C1C2A69-D76B-3515-8117-3127E3E5E7DE}"/>
              </a:ext>
            </a:extLst>
          </p:cNvPr>
          <p:cNvSpPr/>
          <p:nvPr/>
        </p:nvSpPr>
        <p:spPr>
          <a:xfrm>
            <a:off x="6041225" y="2385237"/>
            <a:ext cx="659185" cy="5422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9" name="Rectangle 8">
            <a:extLst>
              <a:ext uri="{FF2B5EF4-FFF2-40B4-BE49-F238E27FC236}">
                <a16:creationId xmlns:a16="http://schemas.microsoft.com/office/drawing/2014/main" id="{C95AC449-82E1-1440-B471-EFB25CD5429D}"/>
              </a:ext>
            </a:extLst>
          </p:cNvPr>
          <p:cNvSpPr/>
          <p:nvPr/>
        </p:nvSpPr>
        <p:spPr>
          <a:xfrm>
            <a:off x="6808382" y="2617997"/>
            <a:ext cx="659185" cy="5422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1" name="Rectangle 10">
            <a:extLst>
              <a:ext uri="{FF2B5EF4-FFF2-40B4-BE49-F238E27FC236}">
                <a16:creationId xmlns:a16="http://schemas.microsoft.com/office/drawing/2014/main" id="{D23EDE58-A0C9-DDC6-D5FD-C27F1E40E148}"/>
              </a:ext>
            </a:extLst>
          </p:cNvPr>
          <p:cNvSpPr/>
          <p:nvPr/>
        </p:nvSpPr>
        <p:spPr>
          <a:xfrm>
            <a:off x="198496" y="3135060"/>
            <a:ext cx="4846470" cy="155600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165324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a:extLst>
              <a:ext uri="{FF2B5EF4-FFF2-40B4-BE49-F238E27FC236}">
                <a16:creationId xmlns:a16="http://schemas.microsoft.com/office/drawing/2014/main" id="{394EEDFA-C343-D63A-1665-663246C63E7F}"/>
              </a:ext>
            </a:extLst>
          </p:cNvPr>
          <p:cNvSpPr/>
          <p:nvPr/>
        </p:nvSpPr>
        <p:spPr>
          <a:xfrm>
            <a:off x="95694" y="966840"/>
            <a:ext cx="9048306" cy="1881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pPr>
            <a:endParaRPr lang="en-US" sz="3600" b="0" strike="noStrike" spc="-1" dirty="0">
              <a:solidFill>
                <a:srgbClr val="000000"/>
              </a:solidFill>
              <a:latin typeface="+mj-lt"/>
              <a:ea typeface="DejaVu Sans"/>
              <a:cs typeface="Calibri" panose="020F0502020204030204" pitchFamily="34" charset="0"/>
            </a:endParaRPr>
          </a:p>
          <a:p>
            <a:pPr algn="ctr">
              <a:lnSpc>
                <a:spcPct val="100000"/>
              </a:lnSpc>
            </a:pPr>
            <a:r>
              <a:rPr lang="en-GB" sz="3600" b="0" i="0" dirty="0">
                <a:solidFill>
                  <a:srgbClr val="000000"/>
                </a:solidFill>
                <a:effectLst/>
                <a:latin typeface="+mj-lt"/>
              </a:rPr>
              <a:t>Do </a:t>
            </a:r>
            <a:r>
              <a:rPr lang="en-US" altLang="zh-CN" sz="3600" b="0" i="0" dirty="0">
                <a:solidFill>
                  <a:srgbClr val="000000"/>
                </a:solidFill>
                <a:effectLst/>
                <a:latin typeface="+mj-lt"/>
              </a:rPr>
              <a:t>ADAR1-mediated</a:t>
            </a:r>
            <a:r>
              <a:rPr lang="zh-CN" altLang="en-US" sz="3600" b="0" i="0" dirty="0">
                <a:solidFill>
                  <a:srgbClr val="000000"/>
                </a:solidFill>
                <a:effectLst/>
                <a:latin typeface="+mj-lt"/>
              </a:rPr>
              <a:t> </a:t>
            </a:r>
            <a:r>
              <a:rPr lang="en-GB" sz="3600" b="0" i="0" dirty="0">
                <a:solidFill>
                  <a:srgbClr val="000000"/>
                </a:solidFill>
                <a:effectLst/>
                <a:latin typeface="+mj-lt"/>
              </a:rPr>
              <a:t>dsRNA levels change during fungal </a:t>
            </a:r>
            <a:r>
              <a:rPr lang="en-US" altLang="zh-CN" sz="3600" spc="-1" dirty="0">
                <a:solidFill>
                  <a:srgbClr val="000000"/>
                </a:solidFill>
                <a:ea typeface="DejaVu Sans"/>
                <a:cs typeface="Calibri" panose="020F0502020204030204" pitchFamily="34" charset="0"/>
              </a:rPr>
              <a:t>c</a:t>
            </a:r>
            <a:r>
              <a:rPr lang="en-US" sz="3600" spc="-1" dirty="0">
                <a:solidFill>
                  <a:srgbClr val="000000"/>
                </a:solidFill>
                <a:ea typeface="DejaVu Sans"/>
                <a:cs typeface="Calibri" panose="020F0502020204030204" pitchFamily="34" charset="0"/>
              </a:rPr>
              <a:t>hallenge</a:t>
            </a:r>
            <a:r>
              <a:rPr lang="en-US" altLang="zh-CN" sz="3600" spc="-1" dirty="0">
                <a:solidFill>
                  <a:srgbClr val="000000"/>
                </a:solidFill>
                <a:ea typeface="DejaVu Sans"/>
                <a:cs typeface="Calibri" panose="020F0502020204030204" pitchFamily="34" charset="0"/>
              </a:rPr>
              <a:t>s</a:t>
            </a:r>
            <a:r>
              <a:rPr lang="en-GB" sz="3600" b="0" i="0" dirty="0">
                <a:solidFill>
                  <a:srgbClr val="000000"/>
                </a:solidFill>
                <a:effectLst/>
                <a:latin typeface="+mj-lt"/>
              </a:rPr>
              <a:t>?  </a:t>
            </a:r>
          </a:p>
          <a:p>
            <a:pPr algn="ctr">
              <a:lnSpc>
                <a:spcPct val="100000"/>
              </a:lnSpc>
            </a:pPr>
            <a:endParaRPr lang="en-GB" sz="3600" b="0" i="0" dirty="0">
              <a:solidFill>
                <a:srgbClr val="000000"/>
              </a:solidFill>
              <a:effectLst/>
              <a:latin typeface="+mj-lt"/>
            </a:endParaRPr>
          </a:p>
        </p:txBody>
      </p:sp>
      <p:sp>
        <p:nvSpPr>
          <p:cNvPr id="2" name="CustomShape 8">
            <a:extLst>
              <a:ext uri="{FF2B5EF4-FFF2-40B4-BE49-F238E27FC236}">
                <a16:creationId xmlns:a16="http://schemas.microsoft.com/office/drawing/2014/main" id="{B91E498D-601A-F5DD-D977-4930CEA5E1D3}"/>
              </a:ext>
            </a:extLst>
          </p:cNvPr>
          <p:cNvSpPr/>
          <p:nvPr/>
        </p:nvSpPr>
        <p:spPr>
          <a:xfrm>
            <a:off x="8258760" y="4807800"/>
            <a:ext cx="566280" cy="1274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F59ECA62-244B-481E-9EA5-997647DFA9F0}" type="slidenum">
              <a:rPr lang="de-DE" sz="1000" b="0" strike="noStrike" spc="-1">
                <a:solidFill>
                  <a:srgbClr val="0949A7"/>
                </a:solidFill>
                <a:ea typeface="DejaVu Sans"/>
                <a:cs typeface="Calibri" panose="020F0502020204030204" pitchFamily="34" charset="0"/>
              </a:rPr>
              <a:t>14</a:t>
            </a:fld>
            <a:endParaRPr lang="en-US" sz="1000" b="0" strike="noStrike" spc="-1" dirty="0">
              <a:cs typeface="Calibri" panose="020F0502020204030204" pitchFamily="34" charset="0"/>
            </a:endParaRPr>
          </a:p>
        </p:txBody>
      </p:sp>
    </p:spTree>
    <p:extLst>
      <p:ext uri="{BB962C8B-B14F-4D97-AF65-F5344CB8AC3E}">
        <p14:creationId xmlns:p14="http://schemas.microsoft.com/office/powerpoint/2010/main" val="3198531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CustomShape 1"/>
          <p:cNvSpPr/>
          <p:nvPr/>
        </p:nvSpPr>
        <p:spPr>
          <a:xfrm>
            <a:off x="380880" y="232920"/>
            <a:ext cx="8928360" cy="881640"/>
          </a:xfrm>
          <a:prstGeom prst="rect">
            <a:avLst/>
          </a:prstGeom>
          <a:noFill/>
          <a:ln>
            <a:noFill/>
          </a:ln>
        </p:spPr>
        <p:style>
          <a:lnRef idx="0">
            <a:scrgbClr r="0" g="0" b="0"/>
          </a:lnRef>
          <a:fillRef idx="0">
            <a:scrgbClr r="0" g="0" b="0"/>
          </a:fillRef>
          <a:effectRef idx="0">
            <a:scrgbClr r="0" g="0" b="0"/>
          </a:effectRef>
          <a:fontRef idx="minor"/>
        </p:style>
        <p:txBody>
          <a:bodyPr lIns="0" tIns="0" rIns="0" bIns="0">
            <a:normAutofit/>
          </a:bodyPr>
          <a:lstStyle/>
          <a:p>
            <a:pPr>
              <a:lnSpc>
                <a:spcPct val="100000"/>
              </a:lnSpc>
            </a:pPr>
            <a:r>
              <a:rPr lang="en-US" sz="1800" b="1" strike="noStrike" spc="-1" dirty="0">
                <a:solidFill>
                  <a:srgbClr val="000000"/>
                </a:solidFill>
                <a:latin typeface="Arial"/>
                <a:ea typeface="DejaVu Sans"/>
              </a:rPr>
              <a:t>ADAR1 is an important modulator of the human immune response</a:t>
            </a:r>
          </a:p>
          <a:p>
            <a:endParaRPr lang="en-US" sz="1400" spc="-1" dirty="0">
              <a:solidFill>
                <a:srgbClr val="000000"/>
              </a:solidFill>
              <a:latin typeface="Arial"/>
              <a:ea typeface="DejaVu Sans"/>
            </a:endParaRPr>
          </a:p>
          <a:p>
            <a:r>
              <a:rPr lang="en-US" sz="1400" spc="-1" dirty="0">
                <a:solidFill>
                  <a:srgbClr val="000000"/>
                </a:solidFill>
                <a:latin typeface="Arial"/>
                <a:ea typeface="DejaVu Sans"/>
              </a:rPr>
              <a:t>ADAR1: </a:t>
            </a:r>
            <a:r>
              <a:rPr lang="en-GB" sz="1400" dirty="0">
                <a:effectLst/>
                <a:latin typeface="Helvetica" pitchFamily="2" charset="0"/>
              </a:rPr>
              <a:t>Adenosine deaminase acting on RNA 1</a:t>
            </a:r>
            <a:r>
              <a:rPr lang="en-US" sz="1400" dirty="0">
                <a:latin typeface="Helvetica" pitchFamily="2" charset="0"/>
              </a:rPr>
              <a:t>, a dsRNA binding protein (RBP)</a:t>
            </a:r>
            <a:endParaRPr lang="en-GB" sz="1400" dirty="0">
              <a:effectLst/>
              <a:latin typeface="Helvetica" pitchFamily="2" charset="0"/>
            </a:endParaRPr>
          </a:p>
          <a:p>
            <a:pPr>
              <a:lnSpc>
                <a:spcPct val="100000"/>
              </a:lnSpc>
            </a:pPr>
            <a:endParaRPr lang="en-US" sz="1400" strike="noStrike" spc="-1" dirty="0">
              <a:latin typeface="Arial"/>
            </a:endParaRPr>
          </a:p>
        </p:txBody>
      </p:sp>
      <p:sp>
        <p:nvSpPr>
          <p:cNvPr id="196" name="CustomShape 2"/>
          <p:cNvSpPr/>
          <p:nvPr/>
        </p:nvSpPr>
        <p:spPr>
          <a:xfrm>
            <a:off x="8258760" y="4807800"/>
            <a:ext cx="565200" cy="1263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A2700EA9-C77F-49AC-8819-95D117B65809}" type="slidenum">
              <a:rPr lang="de-DE" sz="1000" b="0" strike="noStrike" spc="-1">
                <a:solidFill>
                  <a:srgbClr val="0949A7"/>
                </a:solidFill>
                <a:ea typeface="DejaVu Sans"/>
              </a:rPr>
              <a:t>15</a:t>
            </a:fld>
            <a:endParaRPr lang="en-US" sz="1000" b="0" strike="noStrike" spc="-1" dirty="0"/>
          </a:p>
        </p:txBody>
      </p:sp>
      <p:pic>
        <p:nvPicPr>
          <p:cNvPr id="197" name="Picture 196"/>
          <p:cNvPicPr/>
          <p:nvPr/>
        </p:nvPicPr>
        <p:blipFill rotWithShape="1">
          <a:blip r:embed="rId3"/>
          <a:srcRect t="49334" b="33532"/>
          <a:stretch/>
        </p:blipFill>
        <p:spPr>
          <a:xfrm>
            <a:off x="153887" y="1294438"/>
            <a:ext cx="8836225" cy="1059378"/>
          </a:xfrm>
          <a:prstGeom prst="rect">
            <a:avLst/>
          </a:prstGeom>
          <a:ln>
            <a:noFill/>
          </a:ln>
        </p:spPr>
      </p:pic>
      <p:pic>
        <p:nvPicPr>
          <p:cNvPr id="2" name="Picture 1">
            <a:extLst>
              <a:ext uri="{FF2B5EF4-FFF2-40B4-BE49-F238E27FC236}">
                <a16:creationId xmlns:a16="http://schemas.microsoft.com/office/drawing/2014/main" id="{542CFB1D-93FF-E403-5CA9-514B85C4F18A}"/>
              </a:ext>
            </a:extLst>
          </p:cNvPr>
          <p:cNvPicPr/>
          <p:nvPr/>
        </p:nvPicPr>
        <p:blipFill rotWithShape="1">
          <a:blip r:embed="rId3"/>
          <a:srcRect t="66468" b="-77"/>
          <a:stretch/>
        </p:blipFill>
        <p:spPr>
          <a:xfrm>
            <a:off x="153887" y="2353816"/>
            <a:ext cx="8836225" cy="2078004"/>
          </a:xfrm>
          <a:prstGeom prst="rect">
            <a:avLst/>
          </a:prstGeom>
          <a:ln>
            <a:noFill/>
          </a:ln>
        </p:spPr>
      </p:pic>
      <p:sp>
        <p:nvSpPr>
          <p:cNvPr id="3" name="TextBox 2">
            <a:extLst>
              <a:ext uri="{FF2B5EF4-FFF2-40B4-BE49-F238E27FC236}">
                <a16:creationId xmlns:a16="http://schemas.microsoft.com/office/drawing/2014/main" id="{EB01F745-8760-6460-DB36-895F17FE7E3D}"/>
              </a:ext>
            </a:extLst>
          </p:cNvPr>
          <p:cNvSpPr txBox="1"/>
          <p:nvPr/>
        </p:nvSpPr>
        <p:spPr>
          <a:xfrm>
            <a:off x="3987561" y="1294438"/>
            <a:ext cx="1698726" cy="276999"/>
          </a:xfrm>
          <a:prstGeom prst="rect">
            <a:avLst/>
          </a:prstGeom>
          <a:noFill/>
        </p:spPr>
        <p:txBody>
          <a:bodyPr wrap="square" rtlCol="0">
            <a:spAutoFit/>
          </a:bodyPr>
          <a:lstStyle/>
          <a:p>
            <a:r>
              <a:rPr lang="en-CN" sz="1200" dirty="0"/>
              <a:t>A-to-I RNA editing</a:t>
            </a:r>
          </a:p>
        </p:txBody>
      </p:sp>
      <p:sp>
        <p:nvSpPr>
          <p:cNvPr id="4" name="Rectangle 3">
            <a:extLst>
              <a:ext uri="{FF2B5EF4-FFF2-40B4-BE49-F238E27FC236}">
                <a16:creationId xmlns:a16="http://schemas.microsoft.com/office/drawing/2014/main" id="{59642830-E071-699F-12A6-664A38CEA254}"/>
              </a:ext>
            </a:extLst>
          </p:cNvPr>
          <p:cNvSpPr/>
          <p:nvPr/>
        </p:nvSpPr>
        <p:spPr>
          <a:xfrm>
            <a:off x="153888" y="1294438"/>
            <a:ext cx="511227" cy="33284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pic>
        <p:nvPicPr>
          <p:cNvPr id="2050" name="Picture 2">
            <a:extLst>
              <a:ext uri="{FF2B5EF4-FFF2-40B4-BE49-F238E27FC236}">
                <a16:creationId xmlns:a16="http://schemas.microsoft.com/office/drawing/2014/main" id="{166399CF-587B-293F-7482-95AB8CA80BC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83" t="6366" r="82143" b="32380"/>
          <a:stretch/>
        </p:blipFill>
        <p:spPr bwMode="auto">
          <a:xfrm>
            <a:off x="7787076" y="885148"/>
            <a:ext cx="943367" cy="105937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4135096-97BD-AEAB-3385-6AD60EE94BF5}"/>
              </a:ext>
            </a:extLst>
          </p:cNvPr>
          <p:cNvSpPr txBox="1"/>
          <p:nvPr/>
        </p:nvSpPr>
        <p:spPr>
          <a:xfrm>
            <a:off x="380880" y="4224649"/>
            <a:ext cx="8443080" cy="646331"/>
          </a:xfrm>
          <a:prstGeom prst="rect">
            <a:avLst/>
          </a:prstGeom>
          <a:noFill/>
        </p:spPr>
        <p:txBody>
          <a:bodyPr wrap="square" rtlCol="0">
            <a:spAutoFit/>
          </a:bodyPr>
          <a:lstStyle/>
          <a:p>
            <a:r>
              <a:rPr lang="en-CN" sz="1200" dirty="0">
                <a:latin typeface="Helvetica" pitchFamily="2" charset="0"/>
              </a:rPr>
              <a:t>MDA5: </a:t>
            </a:r>
            <a:r>
              <a:rPr lang="en-GB" sz="1200" dirty="0">
                <a:latin typeface="Helvetica" pitchFamily="2" charset="0"/>
              </a:rPr>
              <a:t>melanoma differentiation-associated protein 5, a dsRNA sensor</a:t>
            </a:r>
          </a:p>
          <a:p>
            <a:r>
              <a:rPr lang="en-GB" sz="1200" dirty="0">
                <a:latin typeface="Helvetica" pitchFamily="2" charset="0"/>
              </a:rPr>
              <a:t>PKR: Protein Kinase R, a dsRNA sensor</a:t>
            </a:r>
          </a:p>
          <a:p>
            <a:r>
              <a:rPr lang="en-GB" sz="1200" dirty="0">
                <a:latin typeface="Helvetica" pitchFamily="2" charset="0"/>
              </a:rPr>
              <a:t>MAVS: Mitochondrial antiviral-</a:t>
            </a:r>
            <a:r>
              <a:rPr lang="en-GB" sz="1200" dirty="0" err="1">
                <a:latin typeface="Helvetica" pitchFamily="2" charset="0"/>
              </a:rPr>
              <a:t>signaling</a:t>
            </a:r>
            <a:r>
              <a:rPr lang="en-GB" sz="1200" dirty="0">
                <a:latin typeface="Helvetica" pitchFamily="2" charset="0"/>
              </a:rPr>
              <a:t> protein, </a:t>
            </a:r>
            <a:r>
              <a:rPr lang="en-GB" sz="1200" dirty="0"/>
              <a:t>acts as a switch to activate antiviral </a:t>
            </a:r>
            <a:r>
              <a:rPr lang="en-GB" sz="1200" dirty="0" err="1"/>
              <a:t>defenses</a:t>
            </a:r>
            <a:r>
              <a:rPr lang="en-GB" sz="1200" dirty="0"/>
              <a:t> and inflammation</a:t>
            </a:r>
            <a:endParaRPr lang="en-CN" sz="1200" dirty="0">
              <a:latin typeface="Helvetica"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 name="Picture 83"/>
          <p:cNvPicPr/>
          <p:nvPr/>
        </p:nvPicPr>
        <p:blipFill>
          <a:blip r:embed="rId3"/>
          <a:srcRect l="11622" r="12169"/>
          <a:stretch/>
        </p:blipFill>
        <p:spPr>
          <a:xfrm>
            <a:off x="325080" y="994320"/>
            <a:ext cx="3149280" cy="2892240"/>
          </a:xfrm>
          <a:prstGeom prst="rect">
            <a:avLst/>
          </a:prstGeom>
          <a:ln>
            <a:noFill/>
          </a:ln>
        </p:spPr>
      </p:pic>
      <p:sp>
        <p:nvSpPr>
          <p:cNvPr id="210" name="CustomShape 1"/>
          <p:cNvSpPr/>
          <p:nvPr/>
        </p:nvSpPr>
        <p:spPr>
          <a:xfrm>
            <a:off x="67680" y="118440"/>
            <a:ext cx="6658941" cy="64487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1800" b="1" strike="noStrike" spc="-1" dirty="0">
                <a:solidFill>
                  <a:srgbClr val="000000"/>
                </a:solidFill>
                <a:latin typeface="Arial"/>
                <a:ea typeface="DejaVu Sans"/>
              </a:rPr>
              <a:t>PBMCs show different </a:t>
            </a:r>
            <a:r>
              <a:rPr lang="en-US" altLang="zh-CN" sz="1800" b="1" strike="noStrike" spc="-1" dirty="0">
                <a:solidFill>
                  <a:srgbClr val="000000"/>
                </a:solidFill>
                <a:latin typeface="Arial"/>
                <a:ea typeface="DejaVu Sans"/>
              </a:rPr>
              <a:t>A-to</a:t>
            </a:r>
            <a:r>
              <a:rPr lang="en-US" altLang="zh-CN" b="1" spc="-1" dirty="0">
                <a:solidFill>
                  <a:srgbClr val="000000"/>
                </a:solidFill>
                <a:latin typeface="Arial"/>
                <a:ea typeface="DejaVu Sans"/>
              </a:rPr>
              <a:t>-I</a:t>
            </a:r>
            <a:r>
              <a:rPr lang="zh-CN" altLang="en-US" b="1" spc="-1" dirty="0">
                <a:solidFill>
                  <a:srgbClr val="000000"/>
                </a:solidFill>
                <a:latin typeface="Arial"/>
                <a:ea typeface="DejaVu Sans"/>
              </a:rPr>
              <a:t> </a:t>
            </a:r>
            <a:r>
              <a:rPr lang="en-US" sz="1800" b="1" strike="noStrike" spc="-1" dirty="0">
                <a:solidFill>
                  <a:srgbClr val="000000"/>
                </a:solidFill>
                <a:latin typeface="Arial"/>
                <a:ea typeface="DejaVu Sans"/>
              </a:rPr>
              <a:t>RNA editing patterns upon fungal stimulations </a:t>
            </a:r>
            <a:endParaRPr lang="en-US" sz="1800" b="0" strike="noStrike" spc="-1" dirty="0">
              <a:latin typeface="Arial"/>
            </a:endParaRPr>
          </a:p>
        </p:txBody>
      </p:sp>
      <p:sp>
        <p:nvSpPr>
          <p:cNvPr id="213" name="CustomShape 3"/>
          <p:cNvSpPr/>
          <p:nvPr/>
        </p:nvSpPr>
        <p:spPr>
          <a:xfrm>
            <a:off x="8258760" y="4809240"/>
            <a:ext cx="561600" cy="122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1F540F74-E8AC-4FE5-910B-F7502C208D7F}" type="slidenum">
              <a:rPr lang="de-DE" sz="1000" b="0" strike="noStrike" spc="-1">
                <a:solidFill>
                  <a:srgbClr val="0949A7"/>
                </a:solidFill>
                <a:ea typeface="DejaVu Sans"/>
              </a:rPr>
              <a:t>16</a:t>
            </a:fld>
            <a:endParaRPr lang="en-US" sz="1000" b="0" strike="noStrike" spc="-1" dirty="0"/>
          </a:p>
        </p:txBody>
      </p:sp>
      <p:sp>
        <p:nvSpPr>
          <p:cNvPr id="4" name="TextBox 3">
            <a:extLst>
              <a:ext uri="{FF2B5EF4-FFF2-40B4-BE49-F238E27FC236}">
                <a16:creationId xmlns:a16="http://schemas.microsoft.com/office/drawing/2014/main" id="{12D1403B-7A44-731D-34FB-8C9CD7070919}"/>
              </a:ext>
            </a:extLst>
          </p:cNvPr>
          <p:cNvSpPr txBox="1"/>
          <p:nvPr/>
        </p:nvSpPr>
        <p:spPr>
          <a:xfrm>
            <a:off x="349500" y="4377071"/>
            <a:ext cx="3381439" cy="646331"/>
          </a:xfrm>
          <a:prstGeom prst="rect">
            <a:avLst/>
          </a:prstGeom>
          <a:noFill/>
        </p:spPr>
        <p:txBody>
          <a:bodyPr wrap="none" rtlCol="0">
            <a:spAutoFit/>
          </a:bodyPr>
          <a:lstStyle/>
          <a:p>
            <a:r>
              <a:rPr lang="en-GB" sz="1200" dirty="0"/>
              <a:t>PBMC</a:t>
            </a:r>
            <a:r>
              <a:rPr lang="en-CN" sz="1200" dirty="0">
                <a:latin typeface="Helvetica" pitchFamily="2" charset="0"/>
              </a:rPr>
              <a:t>:</a:t>
            </a:r>
            <a:r>
              <a:rPr lang="en-GB" sz="1200" dirty="0"/>
              <a:t> Peripheral Blood Mononuclear Cell</a:t>
            </a:r>
          </a:p>
          <a:p>
            <a:endParaRPr lang="en-CN" sz="1200" spc="-1" dirty="0">
              <a:solidFill>
                <a:srgbClr val="000000"/>
              </a:solidFill>
              <a:latin typeface="Arial"/>
              <a:ea typeface="DejaVu Sans"/>
            </a:endParaRPr>
          </a:p>
          <a:p>
            <a:r>
              <a:rPr lang="en-CN" sz="1200" spc="-1" dirty="0">
                <a:solidFill>
                  <a:srgbClr val="000000"/>
                </a:solidFill>
                <a:latin typeface="Arial"/>
                <a:ea typeface="DejaVu Sans"/>
              </a:rPr>
              <a:t>Bruno, </a:t>
            </a:r>
            <a:r>
              <a:rPr lang="en-CN" sz="1200" i="1" spc="-1" dirty="0">
                <a:solidFill>
                  <a:srgbClr val="000000"/>
                </a:solidFill>
                <a:latin typeface="Arial"/>
                <a:ea typeface="DejaVu Sans"/>
              </a:rPr>
              <a:t>et al</a:t>
            </a:r>
            <a:r>
              <a:rPr lang="en-CN" sz="1200" spc="-1" dirty="0">
                <a:solidFill>
                  <a:srgbClr val="000000"/>
                </a:solidFill>
                <a:latin typeface="Arial"/>
                <a:ea typeface="DejaVu Sans"/>
              </a:rPr>
              <a:t>. Comput Struct Biotechnol J. 2020.</a:t>
            </a:r>
          </a:p>
        </p:txBody>
      </p:sp>
      <p:grpSp>
        <p:nvGrpSpPr>
          <p:cNvPr id="22" name="Group 21">
            <a:extLst>
              <a:ext uri="{FF2B5EF4-FFF2-40B4-BE49-F238E27FC236}">
                <a16:creationId xmlns:a16="http://schemas.microsoft.com/office/drawing/2014/main" id="{FE2FF70D-692E-A048-15A0-C8E39283B8F8}"/>
              </a:ext>
            </a:extLst>
          </p:cNvPr>
          <p:cNvGrpSpPr/>
          <p:nvPr/>
        </p:nvGrpSpPr>
        <p:grpSpPr>
          <a:xfrm>
            <a:off x="3769156" y="878391"/>
            <a:ext cx="4770404" cy="3272985"/>
            <a:chOff x="3769156" y="878391"/>
            <a:chExt cx="4770404" cy="3272985"/>
          </a:xfrm>
        </p:grpSpPr>
        <p:pic>
          <p:nvPicPr>
            <p:cNvPr id="211" name="Picture 3_2"/>
            <p:cNvPicPr/>
            <p:nvPr/>
          </p:nvPicPr>
          <p:blipFill>
            <a:blip r:embed="rId4"/>
            <a:stretch/>
          </p:blipFill>
          <p:spPr>
            <a:xfrm>
              <a:off x="3769156" y="878391"/>
              <a:ext cx="4279693" cy="3142681"/>
            </a:xfrm>
            <a:prstGeom prst="rect">
              <a:avLst/>
            </a:prstGeom>
            <a:ln>
              <a:noFill/>
            </a:ln>
          </p:spPr>
        </p:pic>
        <p:sp>
          <p:nvSpPr>
            <p:cNvPr id="16" name="Rectangle 15">
              <a:extLst>
                <a:ext uri="{FF2B5EF4-FFF2-40B4-BE49-F238E27FC236}">
                  <a16:creationId xmlns:a16="http://schemas.microsoft.com/office/drawing/2014/main" id="{2E7E9A8A-D0FA-BB23-07E6-F9260A29DDE5}"/>
                </a:ext>
              </a:extLst>
            </p:cNvPr>
            <p:cNvSpPr/>
            <p:nvPr/>
          </p:nvSpPr>
          <p:spPr>
            <a:xfrm>
              <a:off x="4233671" y="1435608"/>
              <a:ext cx="3965663" cy="23317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pic>
          <p:nvPicPr>
            <p:cNvPr id="17" name="Picture 12">
              <a:extLst>
                <a:ext uri="{FF2B5EF4-FFF2-40B4-BE49-F238E27FC236}">
                  <a16:creationId xmlns:a16="http://schemas.microsoft.com/office/drawing/2014/main" id="{C8752A1B-A55B-D007-E26C-51F34E4AA863}"/>
                </a:ext>
              </a:extLst>
            </p:cNvPr>
            <p:cNvPicPr/>
            <p:nvPr/>
          </p:nvPicPr>
          <p:blipFill>
            <a:blip r:embed="rId5"/>
            <a:srcRect l="10481" t="12973" b="23291"/>
            <a:stretch/>
          </p:blipFill>
          <p:spPr>
            <a:xfrm>
              <a:off x="4259866" y="1435608"/>
              <a:ext cx="4279694" cy="2369160"/>
            </a:xfrm>
            <a:prstGeom prst="rect">
              <a:avLst/>
            </a:prstGeom>
            <a:ln>
              <a:noFill/>
            </a:ln>
          </p:spPr>
        </p:pic>
        <p:sp>
          <p:nvSpPr>
            <p:cNvPr id="18" name="Rectangle 17">
              <a:extLst>
                <a:ext uri="{FF2B5EF4-FFF2-40B4-BE49-F238E27FC236}">
                  <a16:creationId xmlns:a16="http://schemas.microsoft.com/office/drawing/2014/main" id="{50E941BE-0EB4-9894-20CB-2A05DA3F4885}"/>
                </a:ext>
              </a:extLst>
            </p:cNvPr>
            <p:cNvSpPr/>
            <p:nvPr/>
          </p:nvSpPr>
          <p:spPr>
            <a:xfrm>
              <a:off x="3977640" y="1435608"/>
              <a:ext cx="256032" cy="27157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19" name="TextBox 18">
              <a:extLst>
                <a:ext uri="{FF2B5EF4-FFF2-40B4-BE49-F238E27FC236}">
                  <a16:creationId xmlns:a16="http://schemas.microsoft.com/office/drawing/2014/main" id="{B7747CB7-2FE6-5A84-DD6A-161F3D47DA90}"/>
                </a:ext>
              </a:extLst>
            </p:cNvPr>
            <p:cNvSpPr txBox="1"/>
            <p:nvPr/>
          </p:nvSpPr>
          <p:spPr>
            <a:xfrm>
              <a:off x="3949203" y="1837944"/>
              <a:ext cx="312906" cy="369332"/>
            </a:xfrm>
            <a:prstGeom prst="rect">
              <a:avLst/>
            </a:prstGeom>
            <a:noFill/>
          </p:spPr>
          <p:txBody>
            <a:bodyPr wrap="none" rtlCol="0">
              <a:spAutoFit/>
            </a:bodyPr>
            <a:lstStyle/>
            <a:p>
              <a:r>
                <a:rPr lang="en-CN" dirty="0"/>
                <a:t>2</a:t>
              </a:r>
            </a:p>
          </p:txBody>
        </p:sp>
        <p:sp>
          <p:nvSpPr>
            <p:cNvPr id="20" name="TextBox 19">
              <a:extLst>
                <a:ext uri="{FF2B5EF4-FFF2-40B4-BE49-F238E27FC236}">
                  <a16:creationId xmlns:a16="http://schemas.microsoft.com/office/drawing/2014/main" id="{18898300-E711-419B-B561-A8678D801F78}"/>
                </a:ext>
              </a:extLst>
            </p:cNvPr>
            <p:cNvSpPr txBox="1"/>
            <p:nvPr/>
          </p:nvSpPr>
          <p:spPr>
            <a:xfrm>
              <a:off x="3977640" y="2620188"/>
              <a:ext cx="312906" cy="369332"/>
            </a:xfrm>
            <a:prstGeom prst="rect">
              <a:avLst/>
            </a:prstGeom>
            <a:noFill/>
          </p:spPr>
          <p:txBody>
            <a:bodyPr wrap="none" rtlCol="0">
              <a:spAutoFit/>
            </a:bodyPr>
            <a:lstStyle/>
            <a:p>
              <a:r>
                <a:rPr lang="en-CN" dirty="0"/>
                <a:t>1</a:t>
              </a:r>
            </a:p>
          </p:txBody>
        </p:sp>
        <p:sp>
          <p:nvSpPr>
            <p:cNvPr id="21" name="TextBox 20">
              <a:extLst>
                <a:ext uri="{FF2B5EF4-FFF2-40B4-BE49-F238E27FC236}">
                  <a16:creationId xmlns:a16="http://schemas.microsoft.com/office/drawing/2014/main" id="{D730C390-A91C-1529-FA4C-7EAD0F4C7F0D}"/>
                </a:ext>
              </a:extLst>
            </p:cNvPr>
            <p:cNvSpPr txBox="1"/>
            <p:nvPr/>
          </p:nvSpPr>
          <p:spPr>
            <a:xfrm>
              <a:off x="3977640" y="3391856"/>
              <a:ext cx="312906" cy="369332"/>
            </a:xfrm>
            <a:prstGeom prst="rect">
              <a:avLst/>
            </a:prstGeom>
            <a:noFill/>
          </p:spPr>
          <p:txBody>
            <a:bodyPr wrap="none" rtlCol="0">
              <a:spAutoFit/>
            </a:bodyPr>
            <a:lstStyle/>
            <a:p>
              <a:r>
                <a:rPr lang="en-CN" dirty="0"/>
                <a:t>0</a:t>
              </a:r>
            </a:p>
          </p:txBody>
        </p:sp>
      </p:grpSp>
      <p:sp>
        <p:nvSpPr>
          <p:cNvPr id="2" name="TextBox 1">
            <a:extLst>
              <a:ext uri="{FF2B5EF4-FFF2-40B4-BE49-F238E27FC236}">
                <a16:creationId xmlns:a16="http://schemas.microsoft.com/office/drawing/2014/main" id="{CF2DBD8D-71BD-AE3F-D0D3-9EA82AF02CCA}"/>
              </a:ext>
            </a:extLst>
          </p:cNvPr>
          <p:cNvSpPr txBox="1"/>
          <p:nvPr/>
        </p:nvSpPr>
        <p:spPr>
          <a:xfrm>
            <a:off x="4239194" y="1158721"/>
            <a:ext cx="654346" cy="338554"/>
          </a:xfrm>
          <a:prstGeom prst="rect">
            <a:avLst/>
          </a:prstGeom>
          <a:noFill/>
        </p:spPr>
        <p:txBody>
          <a:bodyPr wrap="none" rtlCol="0">
            <a:spAutoFit/>
          </a:bodyPr>
          <a:lstStyle/>
          <a:p>
            <a:r>
              <a:rPr lang="en-CN" sz="1600" dirty="0">
                <a:latin typeface="Calibri" panose="020F0502020204030204" pitchFamily="34" charset="0"/>
                <a:cs typeface="Calibri" panose="020F0502020204030204" pitchFamily="34" charset="0"/>
              </a:rPr>
              <a:t>A-</a:t>
            </a:r>
            <a:r>
              <a:rPr lang="en-US" altLang="zh-CN" sz="1600" dirty="0">
                <a:latin typeface="Calibri" panose="020F0502020204030204" pitchFamily="34" charset="0"/>
                <a:cs typeface="Calibri" panose="020F0502020204030204" pitchFamily="34" charset="0"/>
              </a:rPr>
              <a:t>to-I</a:t>
            </a:r>
            <a:endParaRPr lang="en-CN" sz="1600" dirty="0">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 name="CustomShape 1"/>
          <p:cNvSpPr/>
          <p:nvPr/>
        </p:nvSpPr>
        <p:spPr>
          <a:xfrm>
            <a:off x="67680" y="118440"/>
            <a:ext cx="809496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a:solidFill>
                  <a:srgbClr val="000000"/>
                </a:solidFill>
                <a:latin typeface="Arial"/>
                <a:ea typeface="DejaVu Sans"/>
              </a:rPr>
              <a:t>Human A-to-I editing patterns reveal RNA splicing associated pathways upon </a:t>
            </a:r>
            <a:r>
              <a:rPr lang="en-US" sz="1800" b="1" i="1" strike="noStrike" spc="-1">
                <a:solidFill>
                  <a:srgbClr val="000000"/>
                </a:solidFill>
                <a:latin typeface="Arial"/>
                <a:ea typeface="DejaVu Sans"/>
              </a:rPr>
              <a:t>R. oryzae </a:t>
            </a:r>
            <a:r>
              <a:rPr lang="en-US" sz="1800" b="1" strike="noStrike" spc="-1">
                <a:solidFill>
                  <a:srgbClr val="000000"/>
                </a:solidFill>
                <a:latin typeface="Arial"/>
                <a:ea typeface="DejaVu Sans"/>
              </a:rPr>
              <a:t>stimulation</a:t>
            </a:r>
            <a:endParaRPr lang="en-US" sz="1800" b="0" strike="noStrike" spc="-1">
              <a:latin typeface="Arial"/>
            </a:endParaRPr>
          </a:p>
        </p:txBody>
      </p:sp>
      <p:sp>
        <p:nvSpPr>
          <p:cNvPr id="273" name="CustomShape 2"/>
          <p:cNvSpPr/>
          <p:nvPr/>
        </p:nvSpPr>
        <p:spPr>
          <a:xfrm>
            <a:off x="8258760" y="4809240"/>
            <a:ext cx="561600" cy="122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CF4CADD0-1763-4E09-9678-49C7E9EB61FD}" type="slidenum">
              <a:rPr lang="de-DE" sz="1000" b="0" strike="noStrike" spc="-1">
                <a:solidFill>
                  <a:srgbClr val="0949A7"/>
                </a:solidFill>
                <a:ea typeface="DejaVu Sans"/>
              </a:rPr>
              <a:t>17</a:t>
            </a:fld>
            <a:endParaRPr lang="en-US" sz="1000" b="0" strike="noStrike" spc="-1" dirty="0"/>
          </a:p>
        </p:txBody>
      </p:sp>
      <p:pic>
        <p:nvPicPr>
          <p:cNvPr id="9" name="Picture 181_1">
            <a:extLst>
              <a:ext uri="{FF2B5EF4-FFF2-40B4-BE49-F238E27FC236}">
                <a16:creationId xmlns:a16="http://schemas.microsoft.com/office/drawing/2014/main" id="{4BB97DC8-EF85-BC7B-7989-F07740B06362}"/>
              </a:ext>
            </a:extLst>
          </p:cNvPr>
          <p:cNvPicPr/>
          <p:nvPr/>
        </p:nvPicPr>
        <p:blipFill rotWithShape="1">
          <a:blip r:embed="rId3"/>
          <a:srcRect b="15057"/>
          <a:stretch/>
        </p:blipFill>
        <p:spPr>
          <a:xfrm>
            <a:off x="1843427" y="713160"/>
            <a:ext cx="5370840" cy="3661892"/>
          </a:xfrm>
          <a:prstGeom prst="rect">
            <a:avLst/>
          </a:prstGeom>
          <a:ln>
            <a:noFill/>
          </a:ln>
        </p:spPr>
      </p:pic>
      <p:sp>
        <p:nvSpPr>
          <p:cNvPr id="10" name="Rectangle 9">
            <a:extLst>
              <a:ext uri="{FF2B5EF4-FFF2-40B4-BE49-F238E27FC236}">
                <a16:creationId xmlns:a16="http://schemas.microsoft.com/office/drawing/2014/main" id="{FA64E241-A7B8-929D-DAB6-43D289402FB6}"/>
              </a:ext>
            </a:extLst>
          </p:cNvPr>
          <p:cNvSpPr/>
          <p:nvPr/>
        </p:nvSpPr>
        <p:spPr>
          <a:xfrm>
            <a:off x="1843427" y="3401772"/>
            <a:ext cx="4825275" cy="103333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 name="TextBox 1">
            <a:extLst>
              <a:ext uri="{FF2B5EF4-FFF2-40B4-BE49-F238E27FC236}">
                <a16:creationId xmlns:a16="http://schemas.microsoft.com/office/drawing/2014/main" id="{48E7ED63-2F95-EB5B-148A-D9CC5C2A5C5A}"/>
              </a:ext>
            </a:extLst>
          </p:cNvPr>
          <p:cNvSpPr txBox="1"/>
          <p:nvPr/>
        </p:nvSpPr>
        <p:spPr>
          <a:xfrm rot="19661217">
            <a:off x="3432378" y="4548901"/>
            <a:ext cx="1180131" cy="307777"/>
          </a:xfrm>
          <a:prstGeom prst="rect">
            <a:avLst/>
          </a:prstGeom>
          <a:noFill/>
        </p:spPr>
        <p:txBody>
          <a:bodyPr wrap="none" rtlCol="0">
            <a:spAutoFit/>
          </a:bodyPr>
          <a:lstStyle/>
          <a:p>
            <a:r>
              <a:rPr lang="en-CN" sz="1400" i="1" dirty="0"/>
              <a:t>A. fumigatus</a:t>
            </a:r>
          </a:p>
        </p:txBody>
      </p:sp>
      <p:sp>
        <p:nvSpPr>
          <p:cNvPr id="3" name="TextBox 2">
            <a:extLst>
              <a:ext uri="{FF2B5EF4-FFF2-40B4-BE49-F238E27FC236}">
                <a16:creationId xmlns:a16="http://schemas.microsoft.com/office/drawing/2014/main" id="{7F8EE410-FC26-0D22-BF4B-12DD4090A50F}"/>
              </a:ext>
            </a:extLst>
          </p:cNvPr>
          <p:cNvSpPr txBox="1"/>
          <p:nvPr/>
        </p:nvSpPr>
        <p:spPr>
          <a:xfrm rot="19661217">
            <a:off x="4089755" y="4548901"/>
            <a:ext cx="1071127" cy="307777"/>
          </a:xfrm>
          <a:prstGeom prst="rect">
            <a:avLst/>
          </a:prstGeom>
          <a:noFill/>
        </p:spPr>
        <p:txBody>
          <a:bodyPr wrap="none" rtlCol="0">
            <a:spAutoFit/>
          </a:bodyPr>
          <a:lstStyle/>
          <a:p>
            <a:r>
              <a:rPr lang="en-CN" sz="1400" i="1" dirty="0"/>
              <a:t>C. albicans</a:t>
            </a:r>
          </a:p>
        </p:txBody>
      </p:sp>
      <p:sp>
        <p:nvSpPr>
          <p:cNvPr id="4" name="TextBox 3">
            <a:extLst>
              <a:ext uri="{FF2B5EF4-FFF2-40B4-BE49-F238E27FC236}">
                <a16:creationId xmlns:a16="http://schemas.microsoft.com/office/drawing/2014/main" id="{25CA8492-BC08-F0FA-0CF9-18FBB2D8DCE1}"/>
              </a:ext>
            </a:extLst>
          </p:cNvPr>
          <p:cNvSpPr txBox="1"/>
          <p:nvPr/>
        </p:nvSpPr>
        <p:spPr>
          <a:xfrm rot="19661217">
            <a:off x="4847495" y="4491727"/>
            <a:ext cx="950901" cy="307777"/>
          </a:xfrm>
          <a:prstGeom prst="rect">
            <a:avLst/>
          </a:prstGeom>
          <a:noFill/>
        </p:spPr>
        <p:txBody>
          <a:bodyPr wrap="none" rtlCol="0">
            <a:spAutoFit/>
          </a:bodyPr>
          <a:lstStyle/>
          <a:p>
            <a:r>
              <a:rPr lang="en-CN" sz="1400" i="1" dirty="0"/>
              <a:t>R. oryzae</a:t>
            </a:r>
          </a:p>
        </p:txBody>
      </p:sp>
    </p:spTree>
    <p:extLst>
      <p:ext uri="{BB962C8B-B14F-4D97-AF65-F5344CB8AC3E}">
        <p14:creationId xmlns:p14="http://schemas.microsoft.com/office/powerpoint/2010/main" val="1391336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CustomShape 1"/>
          <p:cNvSpPr/>
          <p:nvPr/>
        </p:nvSpPr>
        <p:spPr>
          <a:xfrm>
            <a:off x="371879" y="81360"/>
            <a:ext cx="7269141" cy="639000"/>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1800" b="1" strike="noStrike" spc="-1" dirty="0">
                <a:solidFill>
                  <a:srgbClr val="000000"/>
                </a:solidFill>
                <a:latin typeface="Arial"/>
                <a:ea typeface="DejaVu Sans"/>
              </a:rPr>
              <a:t>The host alternative splicing (AS) landscape changes in response to </a:t>
            </a:r>
            <a:r>
              <a:rPr lang="en-US" sz="1800" b="1" i="1" strike="noStrike" spc="-1" dirty="0">
                <a:solidFill>
                  <a:srgbClr val="000000"/>
                </a:solidFill>
                <a:latin typeface="Arial"/>
                <a:ea typeface="DejaVu Sans"/>
              </a:rPr>
              <a:t>R. </a:t>
            </a:r>
            <a:r>
              <a:rPr lang="en-US" sz="1800" b="1" i="1" strike="noStrike" spc="-1" dirty="0" err="1">
                <a:solidFill>
                  <a:srgbClr val="000000"/>
                </a:solidFill>
                <a:latin typeface="Arial"/>
                <a:ea typeface="DejaVu Sans"/>
              </a:rPr>
              <a:t>oryzae</a:t>
            </a:r>
            <a:r>
              <a:rPr lang="en-US" sz="1800" b="1" strike="noStrike" spc="-1" dirty="0">
                <a:solidFill>
                  <a:srgbClr val="000000"/>
                </a:solidFill>
                <a:latin typeface="Arial"/>
                <a:ea typeface="DejaVu Sans"/>
              </a:rPr>
              <a:t> coincubation.</a:t>
            </a:r>
            <a:endParaRPr lang="en-US" sz="1800" b="0" strike="noStrike" spc="-1" dirty="0">
              <a:latin typeface="Arial"/>
            </a:endParaRPr>
          </a:p>
        </p:txBody>
      </p:sp>
      <p:pic>
        <p:nvPicPr>
          <p:cNvPr id="276" name="Picture 6_1"/>
          <p:cNvPicPr/>
          <p:nvPr/>
        </p:nvPicPr>
        <p:blipFill rotWithShape="1">
          <a:blip r:embed="rId2"/>
          <a:srcRect t="24996" r="50079" b="9352"/>
          <a:stretch/>
        </p:blipFill>
        <p:spPr>
          <a:xfrm>
            <a:off x="5208468" y="1073355"/>
            <a:ext cx="2806983" cy="3081338"/>
          </a:xfrm>
          <a:prstGeom prst="rect">
            <a:avLst/>
          </a:prstGeom>
          <a:ln>
            <a:noFill/>
          </a:ln>
        </p:spPr>
      </p:pic>
      <p:sp>
        <p:nvSpPr>
          <p:cNvPr id="279" name="CustomShape 4"/>
          <p:cNvSpPr/>
          <p:nvPr/>
        </p:nvSpPr>
        <p:spPr>
          <a:xfrm>
            <a:off x="8258760" y="4809240"/>
            <a:ext cx="561600" cy="122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463340BF-4208-4B66-AE5A-6D36541ABFB3}" type="slidenum">
              <a:rPr lang="de-DE" sz="1000" b="0" strike="noStrike" spc="-1">
                <a:solidFill>
                  <a:srgbClr val="0949A7"/>
                </a:solidFill>
                <a:ea typeface="DejaVu Sans"/>
              </a:rPr>
              <a:t>18</a:t>
            </a:fld>
            <a:endParaRPr lang="en-US" sz="1000" b="0" strike="noStrike" spc="-1"/>
          </a:p>
        </p:txBody>
      </p:sp>
      <p:sp>
        <p:nvSpPr>
          <p:cNvPr id="17" name="CustomShape 45">
            <a:extLst>
              <a:ext uri="{FF2B5EF4-FFF2-40B4-BE49-F238E27FC236}">
                <a16:creationId xmlns:a16="http://schemas.microsoft.com/office/drawing/2014/main" id="{77DC5672-5E30-B1B7-B35D-9960E6F62247}"/>
              </a:ext>
            </a:extLst>
          </p:cNvPr>
          <p:cNvSpPr/>
          <p:nvPr/>
        </p:nvSpPr>
        <p:spPr>
          <a:xfrm>
            <a:off x="1525739" y="4696368"/>
            <a:ext cx="1030066" cy="227461"/>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CN" sz="900" b="0" strike="noStrike" spc="-1" dirty="0">
                <a:solidFill>
                  <a:srgbClr val="000000"/>
                </a:solidFill>
                <a:latin typeface="Arial"/>
                <a:ea typeface="DejaVu Sans"/>
              </a:rPr>
              <a:t>log2FoldChange</a:t>
            </a:r>
            <a:endParaRPr lang="en-US" sz="900" b="0" strike="noStrike" spc="-1" dirty="0">
              <a:latin typeface="Arial"/>
            </a:endParaRPr>
          </a:p>
        </p:txBody>
      </p:sp>
      <p:grpSp>
        <p:nvGrpSpPr>
          <p:cNvPr id="18" name="Group 37">
            <a:extLst>
              <a:ext uri="{FF2B5EF4-FFF2-40B4-BE49-F238E27FC236}">
                <a16:creationId xmlns:a16="http://schemas.microsoft.com/office/drawing/2014/main" id="{A2404987-CD21-679A-95E6-314D21AE3BDB}"/>
              </a:ext>
            </a:extLst>
          </p:cNvPr>
          <p:cNvGrpSpPr/>
          <p:nvPr/>
        </p:nvGrpSpPr>
        <p:grpSpPr>
          <a:xfrm>
            <a:off x="902736" y="462282"/>
            <a:ext cx="2537948" cy="4512885"/>
            <a:chOff x="271800" y="597096"/>
            <a:chExt cx="2311560" cy="4245624"/>
          </a:xfrm>
        </p:grpSpPr>
        <p:grpSp>
          <p:nvGrpSpPr>
            <p:cNvPr id="19" name="Group 38">
              <a:extLst>
                <a:ext uri="{FF2B5EF4-FFF2-40B4-BE49-F238E27FC236}">
                  <a16:creationId xmlns:a16="http://schemas.microsoft.com/office/drawing/2014/main" id="{AB82AEF9-2863-1CAE-DF86-57EA137969ED}"/>
                </a:ext>
              </a:extLst>
            </p:cNvPr>
            <p:cNvGrpSpPr/>
            <p:nvPr/>
          </p:nvGrpSpPr>
          <p:grpSpPr>
            <a:xfrm>
              <a:off x="342001" y="597096"/>
              <a:ext cx="2241359" cy="4245624"/>
              <a:chOff x="342001" y="597096"/>
              <a:chExt cx="2241359" cy="4245624"/>
            </a:xfrm>
          </p:grpSpPr>
          <p:grpSp>
            <p:nvGrpSpPr>
              <p:cNvPr id="23" name="Group 40">
                <a:extLst>
                  <a:ext uri="{FF2B5EF4-FFF2-40B4-BE49-F238E27FC236}">
                    <a16:creationId xmlns:a16="http://schemas.microsoft.com/office/drawing/2014/main" id="{681D80FA-8998-6E62-666C-14687EB454AB}"/>
                  </a:ext>
                </a:extLst>
              </p:cNvPr>
              <p:cNvGrpSpPr/>
              <p:nvPr/>
            </p:nvGrpSpPr>
            <p:grpSpPr>
              <a:xfrm>
                <a:off x="342001" y="597096"/>
                <a:ext cx="2123639" cy="3837744"/>
                <a:chOff x="342001" y="597096"/>
                <a:chExt cx="2123639" cy="3837744"/>
              </a:xfrm>
            </p:grpSpPr>
            <p:pic>
              <p:nvPicPr>
                <p:cNvPr id="30" name="Picture 168">
                  <a:extLst>
                    <a:ext uri="{FF2B5EF4-FFF2-40B4-BE49-F238E27FC236}">
                      <a16:creationId xmlns:a16="http://schemas.microsoft.com/office/drawing/2014/main" id="{96DBD180-B937-6376-C322-68B0CD07D252}"/>
                    </a:ext>
                  </a:extLst>
                </p:cNvPr>
                <p:cNvPicPr/>
                <p:nvPr/>
              </p:nvPicPr>
              <p:blipFill rotWithShape="1">
                <a:blip r:embed="rId3"/>
                <a:srcRect t="5846" r="89628" b="11913"/>
                <a:stretch/>
              </p:blipFill>
              <p:spPr>
                <a:xfrm>
                  <a:off x="342001" y="1419840"/>
                  <a:ext cx="266001" cy="3015000"/>
                </a:xfrm>
                <a:prstGeom prst="rect">
                  <a:avLst/>
                </a:prstGeom>
                <a:ln>
                  <a:noFill/>
                </a:ln>
              </p:spPr>
            </p:pic>
            <p:sp>
              <p:nvSpPr>
                <p:cNvPr id="31" name="CustomShape 41">
                  <a:extLst>
                    <a:ext uri="{FF2B5EF4-FFF2-40B4-BE49-F238E27FC236}">
                      <a16:creationId xmlns:a16="http://schemas.microsoft.com/office/drawing/2014/main" id="{F6BBE5C8-8836-A8A0-DF15-0A191092E25E}"/>
                    </a:ext>
                  </a:extLst>
                </p:cNvPr>
                <p:cNvSpPr/>
                <p:nvPr/>
              </p:nvSpPr>
              <p:spPr>
                <a:xfrm rot="18896400">
                  <a:off x="482040" y="966636"/>
                  <a:ext cx="981360" cy="242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GB" sz="1000" b="0" i="1" strike="noStrike" spc="-1" dirty="0">
                      <a:solidFill>
                        <a:srgbClr val="000000"/>
                      </a:solidFill>
                      <a:latin typeface="Calibri"/>
                      <a:ea typeface="DejaVu Sans"/>
                    </a:rPr>
                    <a:t>A. f</a:t>
                  </a:r>
                  <a:r>
                    <a:rPr lang="en-CN" sz="1000" b="0" i="1" strike="noStrike" spc="-1" dirty="0">
                      <a:solidFill>
                        <a:srgbClr val="000000"/>
                      </a:solidFill>
                      <a:latin typeface="Calibri"/>
                      <a:ea typeface="DejaVu Sans"/>
                    </a:rPr>
                    <a:t>umigatus</a:t>
                  </a:r>
                  <a:endParaRPr lang="en-US" sz="1000" b="0" strike="noStrike" spc="-1" dirty="0">
                    <a:latin typeface="Arial"/>
                  </a:endParaRPr>
                </a:p>
              </p:txBody>
            </p:sp>
            <p:sp>
              <p:nvSpPr>
                <p:cNvPr id="32" name="CustomShape 42">
                  <a:extLst>
                    <a:ext uri="{FF2B5EF4-FFF2-40B4-BE49-F238E27FC236}">
                      <a16:creationId xmlns:a16="http://schemas.microsoft.com/office/drawing/2014/main" id="{8613A0CE-EDE5-7F14-16D4-24697133FD52}"/>
                    </a:ext>
                  </a:extLst>
                </p:cNvPr>
                <p:cNvSpPr/>
                <p:nvPr/>
              </p:nvSpPr>
              <p:spPr>
                <a:xfrm>
                  <a:off x="2106360" y="959040"/>
                  <a:ext cx="359280" cy="748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p:style>
            </p:sp>
          </p:grpSp>
          <p:grpSp>
            <p:nvGrpSpPr>
              <p:cNvPr id="24" name="Group 43">
                <a:extLst>
                  <a:ext uri="{FF2B5EF4-FFF2-40B4-BE49-F238E27FC236}">
                    <a16:creationId xmlns:a16="http://schemas.microsoft.com/office/drawing/2014/main" id="{024C2B4F-C82C-84E0-63CB-09437F727853}"/>
                  </a:ext>
                </a:extLst>
              </p:cNvPr>
              <p:cNvGrpSpPr/>
              <p:nvPr/>
            </p:nvGrpSpPr>
            <p:grpSpPr>
              <a:xfrm>
                <a:off x="1031760" y="4583160"/>
                <a:ext cx="1551600" cy="259560"/>
                <a:chOff x="1031760" y="4583160"/>
                <a:chExt cx="1551600" cy="259560"/>
              </a:xfrm>
            </p:grpSpPr>
            <p:sp>
              <p:nvSpPr>
                <p:cNvPr id="28" name="CustomShape 44">
                  <a:extLst>
                    <a:ext uri="{FF2B5EF4-FFF2-40B4-BE49-F238E27FC236}">
                      <a16:creationId xmlns:a16="http://schemas.microsoft.com/office/drawing/2014/main" id="{A54F083D-EC0A-AD25-67D4-4517D8CCE50C}"/>
                    </a:ext>
                  </a:extLst>
                </p:cNvPr>
                <p:cNvSpPr/>
                <p:nvPr/>
              </p:nvSpPr>
              <p:spPr>
                <a:xfrm>
                  <a:off x="1031760" y="4583160"/>
                  <a:ext cx="658800" cy="1810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CN" sz="600" b="0" strike="noStrike" spc="-1">
                      <a:solidFill>
                        <a:srgbClr val="000000"/>
                      </a:solidFill>
                      <a:latin typeface="Arial"/>
                      <a:ea typeface="DejaVu Sans"/>
                    </a:rPr>
                    <a:t>-4 -2  0 2  4  6</a:t>
                  </a:r>
                  <a:endParaRPr lang="en-US" sz="600" b="0" strike="noStrike" spc="-1">
                    <a:latin typeface="Arial"/>
                  </a:endParaRPr>
                </a:p>
              </p:txBody>
            </p:sp>
            <p:sp>
              <p:nvSpPr>
                <p:cNvPr id="29" name="CustomShape 46">
                  <a:extLst>
                    <a:ext uri="{FF2B5EF4-FFF2-40B4-BE49-F238E27FC236}">
                      <a16:creationId xmlns:a16="http://schemas.microsoft.com/office/drawing/2014/main" id="{9E9D8307-94AE-2212-F1CD-E9B5ACC0A8B8}"/>
                    </a:ext>
                  </a:extLst>
                </p:cNvPr>
                <p:cNvSpPr/>
                <p:nvPr/>
              </p:nvSpPr>
              <p:spPr>
                <a:xfrm>
                  <a:off x="2224080" y="4767840"/>
                  <a:ext cx="359280" cy="748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p:style>
            </p:sp>
          </p:grpSp>
          <p:sp>
            <p:nvSpPr>
              <p:cNvPr id="25" name="CustomShape 47">
                <a:extLst>
                  <a:ext uri="{FF2B5EF4-FFF2-40B4-BE49-F238E27FC236}">
                    <a16:creationId xmlns:a16="http://schemas.microsoft.com/office/drawing/2014/main" id="{60BDD2D0-A813-53CF-1784-AC6E836BA167}"/>
                  </a:ext>
                </a:extLst>
              </p:cNvPr>
              <p:cNvSpPr/>
              <p:nvPr/>
            </p:nvSpPr>
            <p:spPr>
              <a:xfrm rot="18937800">
                <a:off x="1002240" y="1006892"/>
                <a:ext cx="870120" cy="242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CN" sz="1000" b="0" i="1" strike="noStrike" spc="-1" dirty="0">
                    <a:solidFill>
                      <a:srgbClr val="000000"/>
                    </a:solidFill>
                    <a:latin typeface="Calibri"/>
                    <a:ea typeface="DejaVu Sans"/>
                  </a:rPr>
                  <a:t>C. </a:t>
                </a:r>
                <a:r>
                  <a:rPr lang="en-GB" sz="1000" b="0" i="1" strike="noStrike" spc="-1" dirty="0">
                    <a:solidFill>
                      <a:srgbClr val="000000"/>
                    </a:solidFill>
                    <a:latin typeface="Calibri"/>
                    <a:ea typeface="DejaVu Sans"/>
                  </a:rPr>
                  <a:t>a</a:t>
                </a:r>
                <a:r>
                  <a:rPr lang="en-CN" sz="1000" b="0" i="1" strike="noStrike" spc="-1" dirty="0">
                    <a:solidFill>
                      <a:srgbClr val="000000"/>
                    </a:solidFill>
                    <a:latin typeface="Calibri"/>
                    <a:ea typeface="DejaVu Sans"/>
                  </a:rPr>
                  <a:t>lbicans</a:t>
                </a:r>
                <a:endParaRPr lang="en-US" sz="1000" b="0" strike="noStrike" spc="-1" dirty="0">
                  <a:latin typeface="Arial"/>
                </a:endParaRPr>
              </a:p>
            </p:txBody>
          </p:sp>
          <p:sp>
            <p:nvSpPr>
              <p:cNvPr id="26" name="CustomShape 48">
                <a:extLst>
                  <a:ext uri="{FF2B5EF4-FFF2-40B4-BE49-F238E27FC236}">
                    <a16:creationId xmlns:a16="http://schemas.microsoft.com/office/drawing/2014/main" id="{8F86F026-6E2D-9A9B-6E74-0EB1E306DA70}"/>
                  </a:ext>
                </a:extLst>
              </p:cNvPr>
              <p:cNvSpPr/>
              <p:nvPr/>
            </p:nvSpPr>
            <p:spPr>
              <a:xfrm rot="18892200">
                <a:off x="1537920" y="1050840"/>
                <a:ext cx="769320" cy="242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CN" sz="1000" b="0" i="1" strike="noStrike" spc="-1">
                    <a:solidFill>
                      <a:srgbClr val="000000"/>
                    </a:solidFill>
                    <a:latin typeface="Calibri"/>
                    <a:ea typeface="DejaVu Sans"/>
                  </a:rPr>
                  <a:t>R. </a:t>
                </a:r>
                <a:r>
                  <a:rPr lang="en-GB" sz="1000" b="0" i="1" strike="noStrike" spc="-1">
                    <a:solidFill>
                      <a:srgbClr val="000000"/>
                    </a:solidFill>
                    <a:latin typeface="Calibri"/>
                    <a:ea typeface="DejaVu Sans"/>
                  </a:rPr>
                  <a:t>o</a:t>
                </a:r>
                <a:r>
                  <a:rPr lang="en-CN" sz="1000" b="0" i="1" strike="noStrike" spc="-1">
                    <a:solidFill>
                      <a:srgbClr val="000000"/>
                    </a:solidFill>
                    <a:latin typeface="Calibri"/>
                    <a:ea typeface="DejaVu Sans"/>
                  </a:rPr>
                  <a:t>ryzae</a:t>
                </a:r>
                <a:endParaRPr lang="en-US" sz="1000" b="0" strike="noStrike" spc="-1">
                  <a:latin typeface="Arial"/>
                </a:endParaRPr>
              </a:p>
            </p:txBody>
          </p:sp>
          <p:sp>
            <p:nvSpPr>
              <p:cNvPr id="27" name="CustomShape 49">
                <a:extLst>
                  <a:ext uri="{FF2B5EF4-FFF2-40B4-BE49-F238E27FC236}">
                    <a16:creationId xmlns:a16="http://schemas.microsoft.com/office/drawing/2014/main" id="{F88DC839-1B80-FB84-A813-504FBC5B5E54}"/>
                  </a:ext>
                </a:extLst>
              </p:cNvPr>
              <p:cNvSpPr/>
              <p:nvPr/>
            </p:nvSpPr>
            <p:spPr>
              <a:xfrm>
                <a:off x="2106360" y="1453320"/>
                <a:ext cx="357120" cy="741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sp>
        </p:grpSp>
        <p:pic>
          <p:nvPicPr>
            <p:cNvPr id="20" name="Picture 15">
              <a:extLst>
                <a:ext uri="{FF2B5EF4-FFF2-40B4-BE49-F238E27FC236}">
                  <a16:creationId xmlns:a16="http://schemas.microsoft.com/office/drawing/2014/main" id="{0A6472D2-3486-1C9A-4146-5E7C368AC860}"/>
                </a:ext>
              </a:extLst>
            </p:cNvPr>
            <p:cNvPicPr/>
            <p:nvPr/>
          </p:nvPicPr>
          <p:blipFill rotWithShape="1">
            <a:blip r:embed="rId4"/>
            <a:srcRect t="6548" r="31446" b="12245"/>
            <a:stretch/>
          </p:blipFill>
          <p:spPr>
            <a:xfrm>
              <a:off x="271800" y="1419840"/>
              <a:ext cx="1791607" cy="3032280"/>
            </a:xfrm>
            <a:prstGeom prst="rect">
              <a:avLst/>
            </a:prstGeom>
            <a:ln>
              <a:noFill/>
            </a:ln>
          </p:spPr>
        </p:pic>
        <p:pic>
          <p:nvPicPr>
            <p:cNvPr id="21" name="Picture 17">
              <a:extLst>
                <a:ext uri="{FF2B5EF4-FFF2-40B4-BE49-F238E27FC236}">
                  <a16:creationId xmlns:a16="http://schemas.microsoft.com/office/drawing/2014/main" id="{F92298D7-7643-3156-A61F-9A88D99ABCD2}"/>
                </a:ext>
              </a:extLst>
            </p:cNvPr>
            <p:cNvPicPr/>
            <p:nvPr/>
          </p:nvPicPr>
          <p:blipFill rotWithShape="1">
            <a:blip r:embed="rId4"/>
            <a:srcRect l="27063" t="2370" r="51133" b="95807"/>
            <a:stretch/>
          </p:blipFill>
          <p:spPr>
            <a:xfrm>
              <a:off x="792720" y="4633920"/>
              <a:ext cx="1076400" cy="128520"/>
            </a:xfrm>
            <a:prstGeom prst="rect">
              <a:avLst/>
            </a:prstGeom>
            <a:ln>
              <a:noFill/>
            </a:ln>
          </p:spPr>
        </p:pic>
        <p:sp>
          <p:nvSpPr>
            <p:cNvPr id="22" name="CustomShape 50">
              <a:extLst>
                <a:ext uri="{FF2B5EF4-FFF2-40B4-BE49-F238E27FC236}">
                  <a16:creationId xmlns:a16="http://schemas.microsoft.com/office/drawing/2014/main" id="{4E3485E3-7F79-8CD7-8EEC-5CDF6C3BCBD1}"/>
                </a:ext>
              </a:extLst>
            </p:cNvPr>
            <p:cNvSpPr/>
            <p:nvPr/>
          </p:nvSpPr>
          <p:spPr>
            <a:xfrm>
              <a:off x="2065680" y="1349640"/>
              <a:ext cx="376560" cy="1166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p:style>
        </p:sp>
      </p:grpSp>
      <p:sp>
        <p:nvSpPr>
          <p:cNvPr id="33" name="TextBox 32">
            <a:extLst>
              <a:ext uri="{FF2B5EF4-FFF2-40B4-BE49-F238E27FC236}">
                <a16:creationId xmlns:a16="http://schemas.microsoft.com/office/drawing/2014/main" id="{17DB3646-6062-B139-7F87-32441DD9486A}"/>
              </a:ext>
            </a:extLst>
          </p:cNvPr>
          <p:cNvSpPr txBox="1"/>
          <p:nvPr/>
        </p:nvSpPr>
        <p:spPr>
          <a:xfrm>
            <a:off x="1482555" y="4836071"/>
            <a:ext cx="1127232" cy="230832"/>
          </a:xfrm>
          <a:prstGeom prst="rect">
            <a:avLst/>
          </a:prstGeom>
          <a:noFill/>
        </p:spPr>
        <p:txBody>
          <a:bodyPr wrap="none" rtlCol="0">
            <a:spAutoFit/>
          </a:bodyPr>
          <a:lstStyle/>
          <a:p>
            <a:r>
              <a:rPr lang="en-CN" sz="900" dirty="0"/>
              <a:t>-4  -2   0   2   4    6</a:t>
            </a:r>
            <a:endParaRPr lang="en-CN" sz="1000" dirty="0"/>
          </a:p>
        </p:txBody>
      </p:sp>
      <p:sp>
        <p:nvSpPr>
          <p:cNvPr id="34" name="TextBox 33">
            <a:extLst>
              <a:ext uri="{FF2B5EF4-FFF2-40B4-BE49-F238E27FC236}">
                <a16:creationId xmlns:a16="http://schemas.microsoft.com/office/drawing/2014/main" id="{4F1AD6FB-C442-9C32-406C-A9C65D9FF963}"/>
              </a:ext>
            </a:extLst>
          </p:cNvPr>
          <p:cNvSpPr txBox="1"/>
          <p:nvPr/>
        </p:nvSpPr>
        <p:spPr>
          <a:xfrm>
            <a:off x="2787740" y="1379646"/>
            <a:ext cx="535724" cy="3468129"/>
          </a:xfrm>
          <a:prstGeom prst="rect">
            <a:avLst/>
          </a:prstGeom>
          <a:noFill/>
        </p:spPr>
        <p:txBody>
          <a:bodyPr wrap="none" rtlCol="0">
            <a:spAutoFit/>
          </a:bodyPr>
          <a:lstStyle/>
          <a:p>
            <a:pPr>
              <a:lnSpc>
                <a:spcPct val="70000"/>
              </a:lnSpc>
            </a:pPr>
            <a:r>
              <a:rPr lang="en-CN" sz="500" dirty="0"/>
              <a:t>PPARGC1A</a:t>
            </a:r>
          </a:p>
          <a:p>
            <a:pPr>
              <a:lnSpc>
                <a:spcPct val="70000"/>
              </a:lnSpc>
            </a:pPr>
            <a:r>
              <a:rPr lang="en-CN" sz="500" dirty="0"/>
              <a:t>HSPA8</a:t>
            </a:r>
          </a:p>
          <a:p>
            <a:pPr>
              <a:lnSpc>
                <a:spcPct val="70000"/>
              </a:lnSpc>
            </a:pPr>
            <a:r>
              <a:rPr lang="en-CN" sz="500" dirty="0"/>
              <a:t>EIF4A3</a:t>
            </a:r>
          </a:p>
          <a:p>
            <a:pPr>
              <a:lnSpc>
                <a:spcPct val="70000"/>
              </a:lnSpc>
            </a:pPr>
            <a:r>
              <a:rPr lang="en-CN" sz="500" dirty="0"/>
              <a:t>BCAS2</a:t>
            </a:r>
          </a:p>
          <a:p>
            <a:pPr>
              <a:lnSpc>
                <a:spcPct val="70000"/>
              </a:lnSpc>
            </a:pPr>
            <a:r>
              <a:rPr lang="en-CN" sz="500" dirty="0"/>
              <a:t>RBFOX3</a:t>
            </a:r>
          </a:p>
          <a:p>
            <a:pPr>
              <a:lnSpc>
                <a:spcPct val="70000"/>
              </a:lnSpc>
            </a:pPr>
            <a:r>
              <a:rPr lang="en-CN" sz="500" dirty="0"/>
              <a:t>RBM24</a:t>
            </a:r>
          </a:p>
          <a:p>
            <a:pPr>
              <a:lnSpc>
                <a:spcPct val="70000"/>
              </a:lnSpc>
            </a:pPr>
            <a:r>
              <a:rPr lang="en-CN" sz="500" dirty="0"/>
              <a:t>SRSF7</a:t>
            </a:r>
          </a:p>
          <a:p>
            <a:pPr>
              <a:lnSpc>
                <a:spcPct val="70000"/>
              </a:lnSpc>
            </a:pPr>
            <a:r>
              <a:rPr lang="en-CN" sz="500" dirty="0"/>
              <a:t>JMJD6</a:t>
            </a:r>
          </a:p>
          <a:p>
            <a:pPr>
              <a:lnSpc>
                <a:spcPct val="70000"/>
              </a:lnSpc>
            </a:pPr>
            <a:r>
              <a:rPr lang="en-CN" sz="500" dirty="0"/>
              <a:t>STRAP</a:t>
            </a:r>
          </a:p>
          <a:p>
            <a:pPr>
              <a:lnSpc>
                <a:spcPct val="70000"/>
              </a:lnSpc>
            </a:pPr>
            <a:r>
              <a:rPr lang="en-CN" sz="500" dirty="0"/>
              <a:t>XAB2</a:t>
            </a:r>
          </a:p>
          <a:p>
            <a:pPr>
              <a:lnSpc>
                <a:spcPct val="70000"/>
              </a:lnSpc>
            </a:pPr>
            <a:r>
              <a:rPr lang="en-CN" sz="500" dirty="0"/>
              <a:t>SRSF2</a:t>
            </a:r>
          </a:p>
          <a:p>
            <a:pPr>
              <a:lnSpc>
                <a:spcPct val="70000"/>
              </a:lnSpc>
            </a:pPr>
            <a:r>
              <a:rPr lang="en-CN" sz="500" dirty="0"/>
              <a:t>SAP18</a:t>
            </a:r>
          </a:p>
          <a:p>
            <a:pPr>
              <a:lnSpc>
                <a:spcPct val="70000"/>
              </a:lnSpc>
            </a:pPr>
            <a:r>
              <a:rPr lang="en-CN" sz="500" dirty="0"/>
              <a:t>LGALS3</a:t>
            </a:r>
          </a:p>
          <a:p>
            <a:pPr>
              <a:lnSpc>
                <a:spcPct val="70000"/>
              </a:lnSpc>
            </a:pPr>
            <a:r>
              <a:rPr lang="en-CN" sz="500" dirty="0"/>
              <a:t>WT1</a:t>
            </a:r>
          </a:p>
          <a:p>
            <a:pPr>
              <a:lnSpc>
                <a:spcPct val="70000"/>
              </a:lnSpc>
            </a:pPr>
            <a:r>
              <a:rPr lang="en-CN" sz="500" dirty="0"/>
              <a:t>RRAGC</a:t>
            </a:r>
          </a:p>
          <a:p>
            <a:pPr>
              <a:lnSpc>
                <a:spcPct val="70000"/>
              </a:lnSpc>
            </a:pPr>
            <a:r>
              <a:rPr lang="en-CN" sz="500" dirty="0"/>
              <a:t>SNRPD2</a:t>
            </a:r>
          </a:p>
          <a:p>
            <a:pPr>
              <a:lnSpc>
                <a:spcPct val="70000"/>
              </a:lnSpc>
            </a:pPr>
            <a:r>
              <a:rPr lang="en-CN" sz="500" dirty="0"/>
              <a:t>SF3B5</a:t>
            </a:r>
          </a:p>
          <a:p>
            <a:pPr>
              <a:lnSpc>
                <a:spcPct val="70000"/>
              </a:lnSpc>
            </a:pPr>
            <a:r>
              <a:rPr lang="en-CN" sz="500" dirty="0"/>
              <a:t>SMN1</a:t>
            </a:r>
          </a:p>
          <a:p>
            <a:pPr>
              <a:lnSpc>
                <a:spcPct val="70000"/>
              </a:lnSpc>
            </a:pPr>
            <a:r>
              <a:rPr lang="en-CN" sz="500" dirty="0"/>
              <a:t>ZPR1</a:t>
            </a:r>
          </a:p>
          <a:p>
            <a:pPr>
              <a:lnSpc>
                <a:spcPct val="70000"/>
              </a:lnSpc>
            </a:pPr>
            <a:r>
              <a:rPr lang="en-CN" sz="500" dirty="0"/>
              <a:t>RBM11</a:t>
            </a:r>
          </a:p>
          <a:p>
            <a:pPr>
              <a:lnSpc>
                <a:spcPct val="70000"/>
              </a:lnSpc>
            </a:pPr>
            <a:r>
              <a:rPr lang="en-CN" sz="500" dirty="0"/>
              <a:t>HABP4</a:t>
            </a:r>
          </a:p>
          <a:p>
            <a:pPr>
              <a:lnSpc>
                <a:spcPct val="70000"/>
              </a:lnSpc>
            </a:pPr>
            <a:r>
              <a:rPr lang="en-CN" sz="500" dirty="0"/>
              <a:t>SNU13</a:t>
            </a:r>
          </a:p>
          <a:p>
            <a:pPr>
              <a:lnSpc>
                <a:spcPct val="70000"/>
              </a:lnSpc>
            </a:pPr>
            <a:r>
              <a:rPr lang="en-CN" sz="500" dirty="0"/>
              <a:t>DDX39A</a:t>
            </a:r>
          </a:p>
          <a:p>
            <a:pPr>
              <a:lnSpc>
                <a:spcPct val="70000"/>
              </a:lnSpc>
            </a:pPr>
            <a:r>
              <a:rPr lang="en-CN" sz="500" dirty="0"/>
              <a:t>SNRPF</a:t>
            </a:r>
          </a:p>
          <a:p>
            <a:pPr>
              <a:lnSpc>
                <a:spcPct val="70000"/>
              </a:lnSpc>
            </a:pPr>
            <a:r>
              <a:rPr lang="en-CN" sz="500" dirty="0"/>
              <a:t>SF3A2</a:t>
            </a:r>
          </a:p>
          <a:p>
            <a:pPr>
              <a:lnSpc>
                <a:spcPct val="70000"/>
              </a:lnSpc>
            </a:pPr>
            <a:r>
              <a:rPr lang="en-CN" sz="500" dirty="0"/>
              <a:t>YBX1</a:t>
            </a:r>
          </a:p>
          <a:p>
            <a:pPr>
              <a:lnSpc>
                <a:spcPct val="70000"/>
              </a:lnSpc>
            </a:pPr>
            <a:r>
              <a:rPr lang="en-CN" sz="500" dirty="0"/>
              <a:t>RNF113A</a:t>
            </a:r>
          </a:p>
          <a:p>
            <a:pPr>
              <a:lnSpc>
                <a:spcPct val="70000"/>
              </a:lnSpc>
            </a:pPr>
            <a:r>
              <a:rPr lang="en-CN" sz="500" dirty="0"/>
              <a:t>DDX5</a:t>
            </a:r>
          </a:p>
          <a:p>
            <a:pPr>
              <a:lnSpc>
                <a:spcPct val="70000"/>
              </a:lnSpc>
            </a:pPr>
            <a:r>
              <a:rPr lang="en-CN" sz="500" dirty="0"/>
              <a:t>SRSF5</a:t>
            </a:r>
          </a:p>
          <a:p>
            <a:pPr>
              <a:lnSpc>
                <a:spcPct val="70000"/>
              </a:lnSpc>
            </a:pPr>
            <a:r>
              <a:rPr lang="en-CN" sz="500" dirty="0"/>
              <a:t>C9orf78</a:t>
            </a:r>
          </a:p>
          <a:p>
            <a:pPr>
              <a:lnSpc>
                <a:spcPct val="70000"/>
              </a:lnSpc>
            </a:pPr>
            <a:r>
              <a:rPr lang="en-CN" sz="500" dirty="0"/>
              <a:t>SRRM4</a:t>
            </a:r>
          </a:p>
          <a:p>
            <a:pPr>
              <a:lnSpc>
                <a:spcPct val="70000"/>
              </a:lnSpc>
            </a:pPr>
            <a:r>
              <a:rPr lang="en-CN" sz="500" dirty="0"/>
              <a:t>HNRNPU</a:t>
            </a:r>
          </a:p>
          <a:p>
            <a:pPr>
              <a:lnSpc>
                <a:spcPct val="70000"/>
              </a:lnSpc>
            </a:pPr>
            <a:r>
              <a:rPr lang="en-CN" sz="500" dirty="0"/>
              <a:t>SFPQ</a:t>
            </a:r>
          </a:p>
          <a:p>
            <a:pPr>
              <a:lnSpc>
                <a:spcPct val="70000"/>
              </a:lnSpc>
            </a:pPr>
            <a:r>
              <a:rPr lang="en-CN" sz="500" dirty="0"/>
              <a:t>SRSF6</a:t>
            </a:r>
          </a:p>
          <a:p>
            <a:pPr>
              <a:lnSpc>
                <a:spcPct val="70000"/>
              </a:lnSpc>
            </a:pPr>
            <a:r>
              <a:rPr lang="en-CN" sz="500" dirty="0"/>
              <a:t>RALY</a:t>
            </a:r>
          </a:p>
          <a:p>
            <a:pPr>
              <a:lnSpc>
                <a:spcPct val="70000"/>
              </a:lnSpc>
            </a:pPr>
            <a:r>
              <a:rPr lang="en-CN" sz="500" dirty="0"/>
              <a:t>TCERG1</a:t>
            </a:r>
          </a:p>
          <a:p>
            <a:pPr>
              <a:lnSpc>
                <a:spcPct val="70000"/>
              </a:lnSpc>
            </a:pPr>
            <a:r>
              <a:rPr lang="en-CN" sz="500" dirty="0"/>
              <a:t>HTATSF1</a:t>
            </a:r>
          </a:p>
          <a:p>
            <a:pPr>
              <a:lnSpc>
                <a:spcPct val="70000"/>
              </a:lnSpc>
            </a:pPr>
            <a:r>
              <a:rPr lang="en-CN" sz="500" dirty="0"/>
              <a:t>CLASRP</a:t>
            </a:r>
          </a:p>
          <a:p>
            <a:pPr>
              <a:lnSpc>
                <a:spcPct val="70000"/>
              </a:lnSpc>
            </a:pPr>
            <a:r>
              <a:rPr lang="en-CN" sz="500" dirty="0"/>
              <a:t>U2AF1L4</a:t>
            </a:r>
          </a:p>
          <a:p>
            <a:pPr>
              <a:lnSpc>
                <a:spcPct val="70000"/>
              </a:lnSpc>
            </a:pPr>
            <a:r>
              <a:rPr lang="en-CN" sz="500" dirty="0"/>
              <a:t>YTHDC1</a:t>
            </a:r>
          </a:p>
          <a:p>
            <a:pPr>
              <a:lnSpc>
                <a:spcPct val="70000"/>
              </a:lnSpc>
            </a:pPr>
            <a:r>
              <a:rPr lang="en-CN" sz="500" dirty="0"/>
              <a:t>FAM50A</a:t>
            </a:r>
          </a:p>
          <a:p>
            <a:pPr>
              <a:lnSpc>
                <a:spcPct val="70000"/>
              </a:lnSpc>
            </a:pPr>
            <a:r>
              <a:rPr lang="en-CN" sz="500" dirty="0"/>
              <a:t>PQBP1</a:t>
            </a:r>
          </a:p>
          <a:p>
            <a:pPr>
              <a:lnSpc>
                <a:spcPct val="70000"/>
              </a:lnSpc>
            </a:pPr>
            <a:r>
              <a:rPr lang="en-CN" sz="500" dirty="0"/>
              <a:t>RBFOX1</a:t>
            </a:r>
          </a:p>
          <a:p>
            <a:pPr>
              <a:lnSpc>
                <a:spcPct val="70000"/>
              </a:lnSpc>
            </a:pPr>
            <a:r>
              <a:rPr lang="en-CN" sz="500" dirty="0"/>
              <a:t>SF3B6</a:t>
            </a:r>
          </a:p>
          <a:p>
            <a:pPr>
              <a:lnSpc>
                <a:spcPct val="70000"/>
              </a:lnSpc>
            </a:pPr>
            <a:r>
              <a:rPr lang="en-CN" sz="500" dirty="0"/>
              <a:t>PPIL3</a:t>
            </a:r>
          </a:p>
          <a:p>
            <a:pPr>
              <a:lnSpc>
                <a:spcPct val="70000"/>
              </a:lnSpc>
            </a:pPr>
            <a:r>
              <a:rPr lang="en-CN" sz="500" dirty="0"/>
              <a:t>ARVCF</a:t>
            </a:r>
          </a:p>
          <a:p>
            <a:pPr>
              <a:lnSpc>
                <a:spcPct val="70000"/>
              </a:lnSpc>
            </a:pPr>
            <a:r>
              <a:rPr lang="en-CN" sz="500" dirty="0"/>
              <a:t>WTAP</a:t>
            </a:r>
          </a:p>
          <a:p>
            <a:pPr>
              <a:lnSpc>
                <a:spcPct val="70000"/>
              </a:lnSpc>
            </a:pPr>
            <a:r>
              <a:rPr lang="en-CN" sz="500" dirty="0"/>
              <a:t>GEMIN6</a:t>
            </a:r>
          </a:p>
          <a:p>
            <a:pPr>
              <a:lnSpc>
                <a:spcPct val="70000"/>
              </a:lnSpc>
            </a:pPr>
            <a:r>
              <a:rPr lang="en-CN" sz="500" dirty="0"/>
              <a:t>GEMIN5</a:t>
            </a:r>
          </a:p>
          <a:p>
            <a:pPr>
              <a:lnSpc>
                <a:spcPct val="70000"/>
              </a:lnSpc>
            </a:pPr>
            <a:r>
              <a:rPr lang="en-CN" sz="500" dirty="0"/>
              <a:t>RBM47</a:t>
            </a:r>
          </a:p>
          <a:p>
            <a:pPr>
              <a:lnSpc>
                <a:spcPct val="70000"/>
              </a:lnSpc>
            </a:pPr>
            <a:r>
              <a:rPr lang="en-CN" sz="500" dirty="0"/>
              <a:t>ZC3H13</a:t>
            </a:r>
          </a:p>
          <a:p>
            <a:pPr>
              <a:lnSpc>
                <a:spcPct val="70000"/>
              </a:lnSpc>
            </a:pPr>
            <a:r>
              <a:rPr lang="en-CN" sz="500" dirty="0"/>
              <a:t>TIA1</a:t>
            </a:r>
          </a:p>
          <a:p>
            <a:pPr>
              <a:lnSpc>
                <a:spcPct val="70000"/>
              </a:lnSpc>
            </a:pPr>
            <a:r>
              <a:rPr lang="en-CN" sz="500" dirty="0"/>
              <a:t>PUS7</a:t>
            </a:r>
          </a:p>
          <a:p>
            <a:pPr>
              <a:lnSpc>
                <a:spcPct val="70000"/>
              </a:lnSpc>
            </a:pPr>
            <a:r>
              <a:rPr lang="en-CN" sz="500" dirty="0"/>
              <a:t>NOVA2</a:t>
            </a:r>
          </a:p>
          <a:p>
            <a:pPr>
              <a:lnSpc>
                <a:spcPct val="70000"/>
              </a:lnSpc>
            </a:pPr>
            <a:r>
              <a:rPr lang="en-CN" sz="500" dirty="0"/>
              <a:t>ESRP2</a:t>
            </a:r>
          </a:p>
          <a:p>
            <a:pPr>
              <a:lnSpc>
                <a:spcPct val="70000"/>
              </a:lnSpc>
            </a:pPr>
            <a:r>
              <a:rPr lang="en-CN" sz="500" dirty="0"/>
              <a:t>RSRC1</a:t>
            </a:r>
          </a:p>
          <a:p>
            <a:pPr>
              <a:lnSpc>
                <a:spcPct val="70000"/>
              </a:lnSpc>
            </a:pPr>
            <a:r>
              <a:rPr lang="en-CN" sz="500" dirty="0"/>
              <a:t>CELF4</a:t>
            </a:r>
          </a:p>
          <a:p>
            <a:pPr>
              <a:lnSpc>
                <a:spcPct val="70000"/>
              </a:lnSpc>
            </a:pPr>
            <a:r>
              <a:rPr lang="en-CN" sz="500" dirty="0"/>
              <a:t>AFF2</a:t>
            </a:r>
          </a:p>
          <a:p>
            <a:pPr>
              <a:lnSpc>
                <a:spcPct val="70000"/>
              </a:lnSpc>
            </a:pPr>
            <a:r>
              <a:rPr lang="en-CN" sz="500" dirty="0"/>
              <a:t>ELAVL4</a:t>
            </a:r>
          </a:p>
          <a:p>
            <a:pPr>
              <a:lnSpc>
                <a:spcPct val="70000"/>
              </a:lnSpc>
            </a:pPr>
            <a:endParaRPr lang="en-CN" dirty="0"/>
          </a:p>
        </p:txBody>
      </p:sp>
      <p:sp>
        <p:nvSpPr>
          <p:cNvPr id="35" name="CustomShape 45">
            <a:extLst>
              <a:ext uri="{FF2B5EF4-FFF2-40B4-BE49-F238E27FC236}">
                <a16:creationId xmlns:a16="http://schemas.microsoft.com/office/drawing/2014/main" id="{29A70B96-1551-3E09-79F2-D3F7B65831C4}"/>
              </a:ext>
            </a:extLst>
          </p:cNvPr>
          <p:cNvSpPr/>
          <p:nvPr/>
        </p:nvSpPr>
        <p:spPr>
          <a:xfrm>
            <a:off x="1550823" y="4568284"/>
            <a:ext cx="1030066" cy="227461"/>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CN" sz="900" b="0" strike="noStrike" spc="-1" dirty="0">
                <a:solidFill>
                  <a:srgbClr val="000000"/>
                </a:solidFill>
                <a:latin typeface="Arial"/>
                <a:ea typeface="DejaVu Sans"/>
              </a:rPr>
              <a:t>log2FoldChange</a:t>
            </a:r>
            <a:endParaRPr lang="en-US" sz="900" b="0" strike="noStrike" spc="-1" dirty="0">
              <a:latin typeface="Arial"/>
            </a:endParaRPr>
          </a:p>
        </p:txBody>
      </p:sp>
      <p:sp>
        <p:nvSpPr>
          <p:cNvPr id="2" name="TextBox 1">
            <a:extLst>
              <a:ext uri="{FF2B5EF4-FFF2-40B4-BE49-F238E27FC236}">
                <a16:creationId xmlns:a16="http://schemas.microsoft.com/office/drawing/2014/main" id="{E8B47A39-3316-385A-5463-F1FCBF77F37C}"/>
              </a:ext>
            </a:extLst>
          </p:cNvPr>
          <p:cNvSpPr txBox="1"/>
          <p:nvPr/>
        </p:nvSpPr>
        <p:spPr>
          <a:xfrm>
            <a:off x="5255793" y="4821528"/>
            <a:ext cx="1420966" cy="461665"/>
          </a:xfrm>
          <a:prstGeom prst="rect">
            <a:avLst/>
          </a:prstGeom>
          <a:noFill/>
        </p:spPr>
        <p:txBody>
          <a:bodyPr wrap="none" rtlCol="0">
            <a:spAutoFit/>
          </a:bodyPr>
          <a:lstStyle/>
          <a:p>
            <a:r>
              <a:rPr lang="en-GB" sz="1200" dirty="0"/>
              <a:t>T</a:t>
            </a:r>
            <a:r>
              <a:rPr lang="en-CN" sz="1200" dirty="0"/>
              <a:t>ool: rMATS-turbo</a:t>
            </a:r>
          </a:p>
          <a:p>
            <a:endParaRPr lang="en-CN" sz="1200" dirty="0"/>
          </a:p>
        </p:txBody>
      </p:sp>
      <p:sp>
        <p:nvSpPr>
          <p:cNvPr id="3" name="TextBox 2">
            <a:extLst>
              <a:ext uri="{FF2B5EF4-FFF2-40B4-BE49-F238E27FC236}">
                <a16:creationId xmlns:a16="http://schemas.microsoft.com/office/drawing/2014/main" id="{E66ABBA8-17DF-7E35-3C37-AB0B213FEF9E}"/>
              </a:ext>
            </a:extLst>
          </p:cNvPr>
          <p:cNvSpPr txBox="1"/>
          <p:nvPr/>
        </p:nvSpPr>
        <p:spPr>
          <a:xfrm>
            <a:off x="2816638" y="4821528"/>
            <a:ext cx="1123000" cy="276999"/>
          </a:xfrm>
          <a:prstGeom prst="rect">
            <a:avLst/>
          </a:prstGeom>
          <a:noFill/>
        </p:spPr>
        <p:txBody>
          <a:bodyPr wrap="none" rtlCol="0">
            <a:spAutoFit/>
          </a:bodyPr>
          <a:lstStyle/>
          <a:p>
            <a:r>
              <a:rPr lang="en-GB" sz="1200" dirty="0"/>
              <a:t>T</a:t>
            </a:r>
            <a:r>
              <a:rPr lang="en-CN" sz="1200" dirty="0"/>
              <a:t>ool: DESeq2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
                                        </p:tgtEl>
                                        <p:attrNameLst>
                                          <p:attrName>style.visibility</p:attrName>
                                        </p:attrNameLst>
                                      </p:cBhvr>
                                      <p:to>
                                        <p:strVal val="visible"/>
                                      </p:to>
                                    </p:set>
                                  </p:childTnLst>
                                </p:cTn>
                              </p:par>
                              <p:par>
                                <p:cTn id="7" presetID="2" presetClass="entr" presetSubtype="4"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anim calcmode="lin" valueType="num">
                                      <p:cBhvr additive="base">
                                        <p:cTn id="9" dur="500" fill="hold"/>
                                        <p:tgtEl>
                                          <p:spTgt spid="2"/>
                                        </p:tgtEl>
                                        <p:attrNameLst>
                                          <p:attrName>ppt_x</p:attrName>
                                        </p:attrNameLst>
                                      </p:cBhvr>
                                      <p:tavLst>
                                        <p:tav tm="0">
                                          <p:val>
                                            <p:strVal val="#ppt_x"/>
                                          </p:val>
                                        </p:tav>
                                        <p:tav tm="100000">
                                          <p:val>
                                            <p:strVal val="#ppt_x"/>
                                          </p:val>
                                        </p:tav>
                                      </p:tavLst>
                                    </p:anim>
                                    <p:anim calcmode="lin" valueType="num">
                                      <p:cBhvr additive="base">
                                        <p:cTn id="1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a:extLst>
              <a:ext uri="{FF2B5EF4-FFF2-40B4-BE49-F238E27FC236}">
                <a16:creationId xmlns:a16="http://schemas.microsoft.com/office/drawing/2014/main" id="{394EEDFA-C343-D63A-1665-663246C63E7F}"/>
              </a:ext>
            </a:extLst>
          </p:cNvPr>
          <p:cNvSpPr/>
          <p:nvPr/>
        </p:nvSpPr>
        <p:spPr>
          <a:xfrm>
            <a:off x="1327294" y="1114896"/>
            <a:ext cx="6489412" cy="1881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pPr>
            <a:endParaRPr lang="en-US" sz="4000" b="0" strike="noStrike" spc="-1" dirty="0">
              <a:solidFill>
                <a:srgbClr val="000000"/>
              </a:solidFill>
              <a:ea typeface="DejaVu Sans"/>
              <a:cs typeface="Calibri" panose="020F0502020204030204" pitchFamily="34" charset="0"/>
            </a:endParaRPr>
          </a:p>
          <a:p>
            <a:pPr algn="ctr">
              <a:lnSpc>
                <a:spcPct val="100000"/>
              </a:lnSpc>
            </a:pPr>
            <a:r>
              <a:rPr lang="en-US" sz="4000" spc="-1" dirty="0">
                <a:solidFill>
                  <a:srgbClr val="000000"/>
                </a:solidFill>
                <a:ea typeface="DejaVu Sans"/>
                <a:cs typeface="Calibri" panose="020F0502020204030204" pitchFamily="34" charset="0"/>
              </a:rPr>
              <a:t>What is the role of alternative splicing during fungal </a:t>
            </a:r>
            <a:r>
              <a:rPr lang="en-US" altLang="zh-CN" sz="4000" spc="-1" dirty="0">
                <a:solidFill>
                  <a:srgbClr val="000000"/>
                </a:solidFill>
                <a:ea typeface="DejaVu Sans"/>
                <a:cs typeface="Calibri" panose="020F0502020204030204" pitchFamily="34" charset="0"/>
              </a:rPr>
              <a:t>c</a:t>
            </a:r>
            <a:r>
              <a:rPr lang="en-US" sz="4000" spc="-1" dirty="0">
                <a:solidFill>
                  <a:srgbClr val="000000"/>
                </a:solidFill>
                <a:ea typeface="DejaVu Sans"/>
                <a:cs typeface="Calibri" panose="020F0502020204030204" pitchFamily="34" charset="0"/>
              </a:rPr>
              <a:t>hallenge</a:t>
            </a:r>
            <a:r>
              <a:rPr lang="en-US" altLang="zh-CN" sz="4000" spc="-1" dirty="0">
                <a:solidFill>
                  <a:srgbClr val="000000"/>
                </a:solidFill>
                <a:ea typeface="DejaVu Sans"/>
                <a:cs typeface="Calibri" panose="020F0502020204030204" pitchFamily="34" charset="0"/>
              </a:rPr>
              <a:t>s</a:t>
            </a:r>
            <a:r>
              <a:rPr lang="en-US" sz="4000" spc="-1" dirty="0">
                <a:solidFill>
                  <a:srgbClr val="000000"/>
                </a:solidFill>
                <a:ea typeface="DejaVu Sans"/>
                <a:cs typeface="Calibri" panose="020F0502020204030204" pitchFamily="34" charset="0"/>
              </a:rPr>
              <a:t>?</a:t>
            </a:r>
            <a:endParaRPr lang="en-US" sz="4000" b="0" strike="noStrike" spc="-1" dirty="0">
              <a:cs typeface="Calibri" panose="020F0502020204030204" pitchFamily="34" charset="0"/>
            </a:endParaRPr>
          </a:p>
        </p:txBody>
      </p:sp>
      <p:sp>
        <p:nvSpPr>
          <p:cNvPr id="2" name="CustomShape 8">
            <a:extLst>
              <a:ext uri="{FF2B5EF4-FFF2-40B4-BE49-F238E27FC236}">
                <a16:creationId xmlns:a16="http://schemas.microsoft.com/office/drawing/2014/main" id="{DF1E46F9-9AF2-C36A-3292-A9737FB4FCA9}"/>
              </a:ext>
            </a:extLst>
          </p:cNvPr>
          <p:cNvSpPr/>
          <p:nvPr/>
        </p:nvSpPr>
        <p:spPr>
          <a:xfrm>
            <a:off x="8258760" y="4807800"/>
            <a:ext cx="566280" cy="1274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F59ECA62-244B-481E-9EA5-997647DFA9F0}" type="slidenum">
              <a:rPr lang="de-DE" sz="1000" b="0" strike="noStrike" spc="-1">
                <a:solidFill>
                  <a:srgbClr val="0949A7"/>
                </a:solidFill>
                <a:ea typeface="DejaVu Sans"/>
                <a:cs typeface="Calibri" panose="020F0502020204030204" pitchFamily="34" charset="0"/>
              </a:rPr>
              <a:t>19</a:t>
            </a:fld>
            <a:endParaRPr lang="en-US" sz="1000" b="0" strike="noStrike" spc="-1" dirty="0">
              <a:cs typeface="Calibri" panose="020F0502020204030204" pitchFamily="34" charset="0"/>
            </a:endParaRPr>
          </a:p>
        </p:txBody>
      </p:sp>
    </p:spTree>
    <p:extLst>
      <p:ext uri="{BB962C8B-B14F-4D97-AF65-F5344CB8AC3E}">
        <p14:creationId xmlns:p14="http://schemas.microsoft.com/office/powerpoint/2010/main" val="32199932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CustomShape 2"/>
          <p:cNvSpPr/>
          <p:nvPr/>
        </p:nvSpPr>
        <p:spPr>
          <a:xfrm>
            <a:off x="213481" y="245160"/>
            <a:ext cx="8290440" cy="64487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1800" b="1" i="1" strike="noStrike" spc="-1" dirty="0">
                <a:solidFill>
                  <a:srgbClr val="000000"/>
                </a:solidFill>
                <a:latin typeface="Arial"/>
                <a:ea typeface="DejaVu Sans"/>
              </a:rPr>
              <a:t>R. </a:t>
            </a:r>
            <a:r>
              <a:rPr lang="en-US" sz="1800" b="1" i="1" strike="noStrike" spc="-1" dirty="0" err="1">
                <a:solidFill>
                  <a:srgbClr val="000000"/>
                </a:solidFill>
                <a:latin typeface="Arial"/>
                <a:ea typeface="DejaVu Sans"/>
              </a:rPr>
              <a:t>oryzae</a:t>
            </a:r>
            <a:r>
              <a:rPr lang="en-US" sz="1800" b="1" strike="noStrike" spc="-1" dirty="0">
                <a:solidFill>
                  <a:srgbClr val="000000"/>
                </a:solidFill>
                <a:latin typeface="Arial"/>
                <a:ea typeface="DejaVu Sans"/>
              </a:rPr>
              <a:t>-induced intron retention is associated with YBX1 and SRSF2 binding motifs. </a:t>
            </a:r>
            <a:endParaRPr lang="en-US" sz="1800" b="0" strike="noStrike" spc="-1" dirty="0">
              <a:latin typeface="Arial"/>
            </a:endParaRPr>
          </a:p>
        </p:txBody>
      </p:sp>
      <p:sp>
        <p:nvSpPr>
          <p:cNvPr id="293" name="CustomShape 4"/>
          <p:cNvSpPr/>
          <p:nvPr/>
        </p:nvSpPr>
        <p:spPr>
          <a:xfrm>
            <a:off x="8258760" y="4809240"/>
            <a:ext cx="561600" cy="122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0613EE6E-5AE3-469D-B35E-FE362A3C4118}" type="slidenum">
              <a:rPr lang="de-DE" sz="1000" b="0" strike="noStrike" spc="-1">
                <a:solidFill>
                  <a:srgbClr val="0949A7"/>
                </a:solidFill>
                <a:ea typeface="DejaVu Sans"/>
              </a:rPr>
              <a:t>20</a:t>
            </a:fld>
            <a:endParaRPr lang="en-US" sz="1000" b="0" strike="noStrike" spc="-1"/>
          </a:p>
        </p:txBody>
      </p:sp>
      <p:grpSp>
        <p:nvGrpSpPr>
          <p:cNvPr id="2" name="Group 34">
            <a:extLst>
              <a:ext uri="{FF2B5EF4-FFF2-40B4-BE49-F238E27FC236}">
                <a16:creationId xmlns:a16="http://schemas.microsoft.com/office/drawing/2014/main" id="{CD9FB4C0-52D5-5FC7-564F-A1E9363AEBD8}"/>
              </a:ext>
            </a:extLst>
          </p:cNvPr>
          <p:cNvGrpSpPr/>
          <p:nvPr/>
        </p:nvGrpSpPr>
        <p:grpSpPr>
          <a:xfrm>
            <a:off x="640080" y="905310"/>
            <a:ext cx="3324240" cy="363960"/>
            <a:chOff x="658800" y="314640"/>
            <a:chExt cx="3324240" cy="363960"/>
          </a:xfrm>
        </p:grpSpPr>
        <p:sp>
          <p:nvSpPr>
            <p:cNvPr id="3" name="CustomShape 35">
              <a:extLst>
                <a:ext uri="{FF2B5EF4-FFF2-40B4-BE49-F238E27FC236}">
                  <a16:creationId xmlns:a16="http://schemas.microsoft.com/office/drawing/2014/main" id="{2B75E7E2-F877-C62F-A8F3-F9991A69616D}"/>
                </a:ext>
              </a:extLst>
            </p:cNvPr>
            <p:cNvSpPr/>
            <p:nvPr/>
          </p:nvSpPr>
          <p:spPr>
            <a:xfrm>
              <a:off x="1817280" y="492840"/>
              <a:ext cx="127800" cy="53280"/>
            </a:xfrm>
            <a:prstGeom prst="rect">
              <a:avLst/>
            </a:prstGeom>
            <a:ln w="6480">
              <a:solidFill>
                <a:schemeClr val="dk1"/>
              </a:solidFill>
            </a:ln>
          </p:spPr>
          <p:style>
            <a:lnRef idx="2">
              <a:schemeClr val="dk1"/>
            </a:lnRef>
            <a:fillRef idx="1">
              <a:schemeClr val="lt1"/>
            </a:fillRef>
            <a:effectRef idx="0">
              <a:schemeClr val="dk1"/>
            </a:effectRef>
            <a:fontRef idx="minor"/>
          </p:style>
        </p:sp>
        <p:sp>
          <p:nvSpPr>
            <p:cNvPr id="4" name="CustomShape 36">
              <a:extLst>
                <a:ext uri="{FF2B5EF4-FFF2-40B4-BE49-F238E27FC236}">
                  <a16:creationId xmlns:a16="http://schemas.microsoft.com/office/drawing/2014/main" id="{D52C734B-E03C-3FB1-22B4-4AEBF7751689}"/>
                </a:ext>
              </a:extLst>
            </p:cNvPr>
            <p:cNvSpPr/>
            <p:nvPr/>
          </p:nvSpPr>
          <p:spPr>
            <a:xfrm>
              <a:off x="2033640" y="492840"/>
              <a:ext cx="127800" cy="53280"/>
            </a:xfrm>
            <a:prstGeom prst="rect">
              <a:avLst/>
            </a:prstGeom>
            <a:ln w="6480">
              <a:solidFill>
                <a:schemeClr val="dk1"/>
              </a:solidFill>
            </a:ln>
          </p:spPr>
          <p:style>
            <a:lnRef idx="2">
              <a:schemeClr val="dk1"/>
            </a:lnRef>
            <a:fillRef idx="1">
              <a:schemeClr val="lt1"/>
            </a:fillRef>
            <a:effectRef idx="0">
              <a:schemeClr val="dk1"/>
            </a:effectRef>
            <a:fontRef idx="minor"/>
          </p:style>
        </p:sp>
        <p:sp>
          <p:nvSpPr>
            <p:cNvPr id="5" name="CustomShape 37">
              <a:extLst>
                <a:ext uri="{FF2B5EF4-FFF2-40B4-BE49-F238E27FC236}">
                  <a16:creationId xmlns:a16="http://schemas.microsoft.com/office/drawing/2014/main" id="{15E14B2D-5E96-1157-28A1-233188116EE6}"/>
                </a:ext>
              </a:extLst>
            </p:cNvPr>
            <p:cNvSpPr/>
            <p:nvPr/>
          </p:nvSpPr>
          <p:spPr>
            <a:xfrm>
              <a:off x="2268360" y="492840"/>
              <a:ext cx="127800" cy="53280"/>
            </a:xfrm>
            <a:prstGeom prst="rect">
              <a:avLst/>
            </a:prstGeom>
            <a:ln w="6480">
              <a:solidFill>
                <a:schemeClr val="dk1"/>
              </a:solidFill>
            </a:ln>
          </p:spPr>
          <p:style>
            <a:lnRef idx="2">
              <a:schemeClr val="dk1"/>
            </a:lnRef>
            <a:fillRef idx="1">
              <a:schemeClr val="lt1"/>
            </a:fillRef>
            <a:effectRef idx="0">
              <a:schemeClr val="dk1"/>
            </a:effectRef>
            <a:fontRef idx="minor"/>
          </p:style>
        </p:sp>
        <p:sp>
          <p:nvSpPr>
            <p:cNvPr id="6" name="Line 38">
              <a:extLst>
                <a:ext uri="{FF2B5EF4-FFF2-40B4-BE49-F238E27FC236}">
                  <a16:creationId xmlns:a16="http://schemas.microsoft.com/office/drawing/2014/main" id="{0356D1AE-04E4-7368-6291-884A99617814}"/>
                </a:ext>
              </a:extLst>
            </p:cNvPr>
            <p:cNvSpPr/>
            <p:nvPr/>
          </p:nvSpPr>
          <p:spPr>
            <a:xfrm>
              <a:off x="2162160" y="519840"/>
              <a:ext cx="105480" cy="0"/>
            </a:xfrm>
            <a:prstGeom prst="line">
              <a:avLst/>
            </a:prstGeom>
            <a:ln w="25560"/>
          </p:spPr>
          <p:style>
            <a:lnRef idx="1">
              <a:schemeClr val="dk1"/>
            </a:lnRef>
            <a:fillRef idx="0">
              <a:schemeClr val="dk1"/>
            </a:fillRef>
            <a:effectRef idx="0">
              <a:schemeClr val="dk1"/>
            </a:effectRef>
            <a:fontRef idx="minor"/>
          </p:style>
        </p:sp>
        <p:sp>
          <p:nvSpPr>
            <p:cNvPr id="7" name="Line 39">
              <a:extLst>
                <a:ext uri="{FF2B5EF4-FFF2-40B4-BE49-F238E27FC236}">
                  <a16:creationId xmlns:a16="http://schemas.microsoft.com/office/drawing/2014/main" id="{BEE86166-D490-EC18-8FB4-510BF6EFF6B2}"/>
                </a:ext>
              </a:extLst>
            </p:cNvPr>
            <p:cNvSpPr/>
            <p:nvPr/>
          </p:nvSpPr>
          <p:spPr>
            <a:xfrm>
              <a:off x="1945800" y="519840"/>
              <a:ext cx="87120" cy="0"/>
            </a:xfrm>
            <a:prstGeom prst="line">
              <a:avLst/>
            </a:prstGeom>
            <a:ln w="6480"/>
          </p:spPr>
          <p:style>
            <a:lnRef idx="1">
              <a:schemeClr val="dk1"/>
            </a:lnRef>
            <a:fillRef idx="0">
              <a:schemeClr val="dk1"/>
            </a:fillRef>
            <a:effectRef idx="0">
              <a:schemeClr val="dk1"/>
            </a:effectRef>
            <a:fontRef idx="minor"/>
          </p:style>
        </p:sp>
        <p:sp>
          <p:nvSpPr>
            <p:cNvPr id="8" name="CustomShape 40">
              <a:extLst>
                <a:ext uri="{FF2B5EF4-FFF2-40B4-BE49-F238E27FC236}">
                  <a16:creationId xmlns:a16="http://schemas.microsoft.com/office/drawing/2014/main" id="{1D58D2C2-3E90-92EB-B036-0060F06D89A8}"/>
                </a:ext>
              </a:extLst>
            </p:cNvPr>
            <p:cNvSpPr/>
            <p:nvPr/>
          </p:nvSpPr>
          <p:spPr>
            <a:xfrm>
              <a:off x="2746440" y="402840"/>
              <a:ext cx="127800" cy="53280"/>
            </a:xfrm>
            <a:prstGeom prst="rect">
              <a:avLst/>
            </a:prstGeom>
            <a:ln w="6480">
              <a:solidFill>
                <a:schemeClr val="dk1"/>
              </a:solidFill>
            </a:ln>
          </p:spPr>
          <p:style>
            <a:lnRef idx="2">
              <a:schemeClr val="dk1"/>
            </a:lnRef>
            <a:fillRef idx="1">
              <a:schemeClr val="lt1"/>
            </a:fillRef>
            <a:effectRef idx="0">
              <a:schemeClr val="dk1"/>
            </a:effectRef>
            <a:fontRef idx="minor"/>
          </p:style>
        </p:sp>
        <p:sp>
          <p:nvSpPr>
            <p:cNvPr id="9" name="CustomShape 41">
              <a:extLst>
                <a:ext uri="{FF2B5EF4-FFF2-40B4-BE49-F238E27FC236}">
                  <a16:creationId xmlns:a16="http://schemas.microsoft.com/office/drawing/2014/main" id="{4601AAC0-A1C4-84D0-AEDF-DE8E4DBA4357}"/>
                </a:ext>
              </a:extLst>
            </p:cNvPr>
            <p:cNvSpPr/>
            <p:nvPr/>
          </p:nvSpPr>
          <p:spPr>
            <a:xfrm>
              <a:off x="2877120" y="402840"/>
              <a:ext cx="127800" cy="53280"/>
            </a:xfrm>
            <a:prstGeom prst="rect">
              <a:avLst/>
            </a:prstGeom>
            <a:ln w="6480">
              <a:solidFill>
                <a:schemeClr val="dk1"/>
              </a:solidFill>
            </a:ln>
          </p:spPr>
          <p:style>
            <a:lnRef idx="2">
              <a:schemeClr val="dk1"/>
            </a:lnRef>
            <a:fillRef idx="1">
              <a:schemeClr val="lt1"/>
            </a:fillRef>
            <a:effectRef idx="0">
              <a:schemeClr val="dk1"/>
            </a:effectRef>
            <a:fontRef idx="minor"/>
          </p:style>
        </p:sp>
        <p:sp>
          <p:nvSpPr>
            <p:cNvPr id="10" name="CustomShape 42">
              <a:extLst>
                <a:ext uri="{FF2B5EF4-FFF2-40B4-BE49-F238E27FC236}">
                  <a16:creationId xmlns:a16="http://schemas.microsoft.com/office/drawing/2014/main" id="{3059C326-C465-79AA-612B-A6501A75BEA1}"/>
                </a:ext>
              </a:extLst>
            </p:cNvPr>
            <p:cNvSpPr/>
            <p:nvPr/>
          </p:nvSpPr>
          <p:spPr>
            <a:xfrm>
              <a:off x="3111840" y="402840"/>
              <a:ext cx="127800" cy="53280"/>
            </a:xfrm>
            <a:prstGeom prst="rect">
              <a:avLst/>
            </a:prstGeom>
            <a:ln w="6480">
              <a:solidFill>
                <a:schemeClr val="dk1"/>
              </a:solidFill>
            </a:ln>
          </p:spPr>
          <p:style>
            <a:lnRef idx="2">
              <a:schemeClr val="dk1"/>
            </a:lnRef>
            <a:fillRef idx="1">
              <a:schemeClr val="lt1"/>
            </a:fillRef>
            <a:effectRef idx="0">
              <a:schemeClr val="dk1"/>
            </a:effectRef>
            <a:fontRef idx="minor"/>
          </p:style>
        </p:sp>
        <p:sp>
          <p:nvSpPr>
            <p:cNvPr id="11" name="Line 43">
              <a:extLst>
                <a:ext uri="{FF2B5EF4-FFF2-40B4-BE49-F238E27FC236}">
                  <a16:creationId xmlns:a16="http://schemas.microsoft.com/office/drawing/2014/main" id="{DF0AFED9-BC2D-3419-62FF-104BE62231E4}"/>
                </a:ext>
              </a:extLst>
            </p:cNvPr>
            <p:cNvSpPr/>
            <p:nvPr/>
          </p:nvSpPr>
          <p:spPr>
            <a:xfrm>
              <a:off x="3005640" y="430200"/>
              <a:ext cx="105480" cy="0"/>
            </a:xfrm>
            <a:prstGeom prst="line">
              <a:avLst/>
            </a:prstGeom>
            <a:ln w="25560"/>
          </p:spPr>
          <p:style>
            <a:lnRef idx="1">
              <a:schemeClr val="dk1"/>
            </a:lnRef>
            <a:fillRef idx="0">
              <a:schemeClr val="dk1"/>
            </a:fillRef>
            <a:effectRef idx="0">
              <a:schemeClr val="dk1"/>
            </a:effectRef>
            <a:fontRef idx="minor"/>
          </p:style>
        </p:sp>
        <p:sp>
          <p:nvSpPr>
            <p:cNvPr id="12" name="CustomShape 44">
              <a:extLst>
                <a:ext uri="{FF2B5EF4-FFF2-40B4-BE49-F238E27FC236}">
                  <a16:creationId xmlns:a16="http://schemas.microsoft.com/office/drawing/2014/main" id="{96B2B3C0-5FE8-7C65-0746-A0D84997A6BF}"/>
                </a:ext>
              </a:extLst>
            </p:cNvPr>
            <p:cNvSpPr/>
            <p:nvPr/>
          </p:nvSpPr>
          <p:spPr>
            <a:xfrm>
              <a:off x="2746440" y="571320"/>
              <a:ext cx="127800" cy="53280"/>
            </a:xfrm>
            <a:prstGeom prst="rect">
              <a:avLst/>
            </a:prstGeom>
            <a:ln w="6480">
              <a:solidFill>
                <a:schemeClr val="dk1"/>
              </a:solidFill>
            </a:ln>
          </p:spPr>
          <p:style>
            <a:lnRef idx="2">
              <a:schemeClr val="dk1"/>
            </a:lnRef>
            <a:fillRef idx="1">
              <a:schemeClr val="lt1"/>
            </a:fillRef>
            <a:effectRef idx="0">
              <a:schemeClr val="dk1"/>
            </a:effectRef>
            <a:fontRef idx="minor"/>
          </p:style>
        </p:sp>
        <p:sp>
          <p:nvSpPr>
            <p:cNvPr id="13" name="CustomShape 45">
              <a:extLst>
                <a:ext uri="{FF2B5EF4-FFF2-40B4-BE49-F238E27FC236}">
                  <a16:creationId xmlns:a16="http://schemas.microsoft.com/office/drawing/2014/main" id="{6364396A-9855-9E3E-1AF0-A30BC1B7E573}"/>
                </a:ext>
              </a:extLst>
            </p:cNvPr>
            <p:cNvSpPr/>
            <p:nvPr/>
          </p:nvSpPr>
          <p:spPr>
            <a:xfrm>
              <a:off x="2877120" y="571320"/>
              <a:ext cx="127800" cy="53280"/>
            </a:xfrm>
            <a:prstGeom prst="rect">
              <a:avLst/>
            </a:prstGeom>
            <a:ln w="6480">
              <a:solidFill>
                <a:schemeClr val="dk1"/>
              </a:solidFill>
            </a:ln>
          </p:spPr>
          <p:style>
            <a:lnRef idx="2">
              <a:schemeClr val="dk1"/>
            </a:lnRef>
            <a:fillRef idx="1">
              <a:schemeClr val="lt1"/>
            </a:fillRef>
            <a:effectRef idx="0">
              <a:schemeClr val="dk1"/>
            </a:effectRef>
            <a:fontRef idx="minor"/>
          </p:style>
        </p:sp>
        <p:sp>
          <p:nvSpPr>
            <p:cNvPr id="14" name="CustomShape 46">
              <a:extLst>
                <a:ext uri="{FF2B5EF4-FFF2-40B4-BE49-F238E27FC236}">
                  <a16:creationId xmlns:a16="http://schemas.microsoft.com/office/drawing/2014/main" id="{32EE1934-E44F-D84A-5DA4-876BF75327C5}"/>
                </a:ext>
              </a:extLst>
            </p:cNvPr>
            <p:cNvSpPr/>
            <p:nvPr/>
          </p:nvSpPr>
          <p:spPr>
            <a:xfrm>
              <a:off x="3007080" y="571320"/>
              <a:ext cx="127800" cy="53280"/>
            </a:xfrm>
            <a:prstGeom prst="rect">
              <a:avLst/>
            </a:prstGeom>
            <a:ln w="6480">
              <a:solidFill>
                <a:schemeClr val="dk1"/>
              </a:solidFill>
            </a:ln>
          </p:spPr>
          <p:style>
            <a:lnRef idx="2">
              <a:schemeClr val="dk1"/>
            </a:lnRef>
            <a:fillRef idx="1">
              <a:schemeClr val="lt1"/>
            </a:fillRef>
            <a:effectRef idx="0">
              <a:schemeClr val="dk1"/>
            </a:effectRef>
            <a:fontRef idx="minor"/>
          </p:style>
        </p:sp>
        <p:sp>
          <p:nvSpPr>
            <p:cNvPr id="15" name="CustomShape 47">
              <a:extLst>
                <a:ext uri="{FF2B5EF4-FFF2-40B4-BE49-F238E27FC236}">
                  <a16:creationId xmlns:a16="http://schemas.microsoft.com/office/drawing/2014/main" id="{D999F8FF-7052-66BF-DF3F-F8C08E3423D3}"/>
                </a:ext>
              </a:extLst>
            </p:cNvPr>
            <p:cNvSpPr/>
            <p:nvPr/>
          </p:nvSpPr>
          <p:spPr>
            <a:xfrm>
              <a:off x="2514240" y="430200"/>
              <a:ext cx="125640" cy="194400"/>
            </a:xfrm>
            <a:prstGeom prst="leftBrace">
              <a:avLst>
                <a:gd name="adj1" fmla="val 8333"/>
                <a:gd name="adj2" fmla="val 50000"/>
              </a:avLst>
            </a:prstGeom>
            <a:noFill/>
            <a:ln w="6480"/>
          </p:spPr>
          <p:style>
            <a:lnRef idx="1">
              <a:schemeClr val="dk1"/>
            </a:lnRef>
            <a:fillRef idx="0">
              <a:schemeClr val="dk1"/>
            </a:fillRef>
            <a:effectRef idx="0">
              <a:schemeClr val="dk1"/>
            </a:effectRef>
            <a:fontRef idx="minor"/>
          </p:style>
        </p:sp>
        <p:sp>
          <p:nvSpPr>
            <p:cNvPr id="16" name="CustomShape 48">
              <a:extLst>
                <a:ext uri="{FF2B5EF4-FFF2-40B4-BE49-F238E27FC236}">
                  <a16:creationId xmlns:a16="http://schemas.microsoft.com/office/drawing/2014/main" id="{3FAD4459-2848-FFC3-E10D-D053360945AA}"/>
                </a:ext>
              </a:extLst>
            </p:cNvPr>
            <p:cNvSpPr/>
            <p:nvPr/>
          </p:nvSpPr>
          <p:spPr>
            <a:xfrm>
              <a:off x="658800" y="394560"/>
              <a:ext cx="1177200" cy="2268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CN" sz="900" b="0" strike="noStrike" spc="-1" dirty="0">
                  <a:solidFill>
                    <a:srgbClr val="000000"/>
                  </a:solidFill>
                  <a:latin typeface="Arial"/>
                  <a:ea typeface="DejaVu Sans"/>
                </a:rPr>
                <a:t>Intron retention (RI)</a:t>
              </a:r>
              <a:endParaRPr lang="en-US" sz="900" b="0" strike="noStrike" spc="-1" dirty="0">
                <a:latin typeface="Arial"/>
              </a:endParaRPr>
            </a:p>
          </p:txBody>
        </p:sp>
        <p:sp>
          <p:nvSpPr>
            <p:cNvPr id="17" name="CustomShape 49">
              <a:extLst>
                <a:ext uri="{FF2B5EF4-FFF2-40B4-BE49-F238E27FC236}">
                  <a16:creationId xmlns:a16="http://schemas.microsoft.com/office/drawing/2014/main" id="{22928872-6D19-F057-3F59-B3BF5CC044AD}"/>
                </a:ext>
              </a:extLst>
            </p:cNvPr>
            <p:cNvSpPr/>
            <p:nvPr/>
          </p:nvSpPr>
          <p:spPr>
            <a:xfrm>
              <a:off x="3226680" y="314640"/>
              <a:ext cx="756360" cy="3639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GB" sz="900" b="0" strike="noStrike" spc="-1" dirty="0">
                  <a:solidFill>
                    <a:srgbClr val="000000"/>
                  </a:solidFill>
                  <a:latin typeface="Arial"/>
                  <a:ea typeface="DejaVu Sans"/>
                </a:rPr>
                <a:t>S</a:t>
              </a:r>
              <a:r>
                <a:rPr lang="en-CN" sz="900" b="0" strike="noStrike" spc="-1" dirty="0">
                  <a:solidFill>
                    <a:srgbClr val="000000"/>
                  </a:solidFill>
                  <a:latin typeface="Arial"/>
                  <a:ea typeface="DejaVu Sans"/>
                </a:rPr>
                <a:t>pliced-in</a:t>
              </a:r>
              <a:endParaRPr lang="en-US" sz="900" b="0" strike="noStrike" spc="-1" dirty="0">
                <a:latin typeface="Arial"/>
              </a:endParaRPr>
            </a:p>
            <a:p>
              <a:pPr>
                <a:lnSpc>
                  <a:spcPct val="100000"/>
                </a:lnSpc>
              </a:pPr>
              <a:r>
                <a:rPr lang="en-CN" sz="900" b="0" strike="noStrike" spc="-1" dirty="0">
                  <a:solidFill>
                    <a:srgbClr val="000000"/>
                  </a:solidFill>
                  <a:latin typeface="Arial"/>
                  <a:ea typeface="DejaVu Sans"/>
                </a:rPr>
                <a:t>Spliced-out</a:t>
              </a:r>
              <a:endParaRPr lang="en-US" sz="900" b="0" strike="noStrike" spc="-1" dirty="0">
                <a:latin typeface="Arial"/>
              </a:endParaRPr>
            </a:p>
          </p:txBody>
        </p:sp>
      </p:grpSp>
      <p:sp>
        <p:nvSpPr>
          <p:cNvPr id="19" name="Rectangle 18">
            <a:extLst>
              <a:ext uri="{FF2B5EF4-FFF2-40B4-BE49-F238E27FC236}">
                <a16:creationId xmlns:a16="http://schemas.microsoft.com/office/drawing/2014/main" id="{ACBCEC68-85E6-8594-E1DD-1DC05114E3C6}"/>
              </a:ext>
            </a:extLst>
          </p:cNvPr>
          <p:cNvSpPr/>
          <p:nvPr/>
        </p:nvSpPr>
        <p:spPr>
          <a:xfrm>
            <a:off x="4480560" y="793800"/>
            <a:ext cx="465513" cy="3639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pic>
        <p:nvPicPr>
          <p:cNvPr id="37" name="Picture 36">
            <a:extLst>
              <a:ext uri="{FF2B5EF4-FFF2-40B4-BE49-F238E27FC236}">
                <a16:creationId xmlns:a16="http://schemas.microsoft.com/office/drawing/2014/main" id="{D2635FC0-C2BD-0229-A2E4-A95706D166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728" y="1264203"/>
            <a:ext cx="4077186" cy="3325631"/>
          </a:xfrm>
          <a:prstGeom prst="rect">
            <a:avLst/>
          </a:prstGeom>
        </p:spPr>
      </p:pic>
      <p:sp>
        <p:nvSpPr>
          <p:cNvPr id="49" name="CustomShape 3">
            <a:extLst>
              <a:ext uri="{FF2B5EF4-FFF2-40B4-BE49-F238E27FC236}">
                <a16:creationId xmlns:a16="http://schemas.microsoft.com/office/drawing/2014/main" id="{DECB5EE9-927F-1898-FCF9-47C2FE6A1462}"/>
              </a:ext>
            </a:extLst>
          </p:cNvPr>
          <p:cNvSpPr/>
          <p:nvPr/>
        </p:nvSpPr>
        <p:spPr>
          <a:xfrm>
            <a:off x="4497510" y="796380"/>
            <a:ext cx="4322850" cy="345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dirty="0">
                <a:solidFill>
                  <a:srgbClr val="000000"/>
                </a:solidFill>
                <a:latin typeface="Arial"/>
                <a:ea typeface="DejaVu Sans"/>
              </a:rPr>
              <a:t>RNA binding motif analysis by </a:t>
            </a:r>
            <a:r>
              <a:rPr lang="en-US" sz="1800" b="0" strike="noStrike" spc="-1" dirty="0" err="1">
                <a:solidFill>
                  <a:srgbClr val="000000"/>
                </a:solidFill>
                <a:latin typeface="Arial"/>
                <a:ea typeface="DejaVu Sans"/>
              </a:rPr>
              <a:t>rMAPS</a:t>
            </a:r>
            <a:endParaRPr lang="en-US" sz="1800" b="0" strike="noStrike" spc="-1" dirty="0">
              <a:latin typeface="Arial"/>
            </a:endParaRPr>
          </a:p>
        </p:txBody>
      </p:sp>
      <p:sp>
        <p:nvSpPr>
          <p:cNvPr id="50" name="TextBox 49">
            <a:extLst>
              <a:ext uri="{FF2B5EF4-FFF2-40B4-BE49-F238E27FC236}">
                <a16:creationId xmlns:a16="http://schemas.microsoft.com/office/drawing/2014/main" id="{3D55DF3E-A73B-D893-5D3E-F20E5EC67A36}"/>
              </a:ext>
            </a:extLst>
          </p:cNvPr>
          <p:cNvSpPr txBox="1"/>
          <p:nvPr/>
        </p:nvSpPr>
        <p:spPr>
          <a:xfrm>
            <a:off x="991323" y="4586544"/>
            <a:ext cx="2045753" cy="461665"/>
          </a:xfrm>
          <a:prstGeom prst="rect">
            <a:avLst/>
          </a:prstGeom>
          <a:noFill/>
        </p:spPr>
        <p:txBody>
          <a:bodyPr wrap="none" rtlCol="0">
            <a:spAutoFit/>
          </a:bodyPr>
          <a:lstStyle/>
          <a:p>
            <a:r>
              <a:rPr lang="en-GB" sz="1200" dirty="0"/>
              <a:t>FDR: False Discovery Rate</a:t>
            </a:r>
          </a:p>
          <a:p>
            <a:r>
              <a:rPr lang="en-GB" sz="1200" dirty="0"/>
              <a:t>PSI: Percent Spliced In</a:t>
            </a:r>
            <a:endParaRPr lang="en-CN" sz="1200" dirty="0"/>
          </a:p>
        </p:txBody>
      </p:sp>
      <p:sp>
        <p:nvSpPr>
          <p:cNvPr id="52" name="Rectangle 51">
            <a:extLst>
              <a:ext uri="{FF2B5EF4-FFF2-40B4-BE49-F238E27FC236}">
                <a16:creationId xmlns:a16="http://schemas.microsoft.com/office/drawing/2014/main" id="{453247CA-516D-6080-E853-B99E01FCB7AF}"/>
              </a:ext>
            </a:extLst>
          </p:cNvPr>
          <p:cNvSpPr/>
          <p:nvPr/>
        </p:nvSpPr>
        <p:spPr>
          <a:xfrm>
            <a:off x="2978398" y="4273420"/>
            <a:ext cx="382555" cy="3131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grpSp>
        <p:nvGrpSpPr>
          <p:cNvPr id="20" name="Group 19">
            <a:extLst>
              <a:ext uri="{FF2B5EF4-FFF2-40B4-BE49-F238E27FC236}">
                <a16:creationId xmlns:a16="http://schemas.microsoft.com/office/drawing/2014/main" id="{D685DD7F-8CEF-D2AC-2257-A5B6AB3E8495}"/>
              </a:ext>
            </a:extLst>
          </p:cNvPr>
          <p:cNvGrpSpPr/>
          <p:nvPr/>
        </p:nvGrpSpPr>
        <p:grpSpPr>
          <a:xfrm>
            <a:off x="4631442" y="1747342"/>
            <a:ext cx="3595146" cy="1668923"/>
            <a:chOff x="4631442" y="1881154"/>
            <a:chExt cx="3595146" cy="1668923"/>
          </a:xfrm>
        </p:grpSpPr>
        <p:grpSp>
          <p:nvGrpSpPr>
            <p:cNvPr id="51" name="Group 50">
              <a:extLst>
                <a:ext uri="{FF2B5EF4-FFF2-40B4-BE49-F238E27FC236}">
                  <a16:creationId xmlns:a16="http://schemas.microsoft.com/office/drawing/2014/main" id="{3178292B-6E6E-73DF-F9BA-4F411F75882A}"/>
                </a:ext>
              </a:extLst>
            </p:cNvPr>
            <p:cNvGrpSpPr/>
            <p:nvPr/>
          </p:nvGrpSpPr>
          <p:grpSpPr>
            <a:xfrm>
              <a:off x="4631442" y="1893115"/>
              <a:ext cx="3534710" cy="1656962"/>
              <a:chOff x="4631442" y="1893115"/>
              <a:chExt cx="3534710" cy="1656962"/>
            </a:xfrm>
          </p:grpSpPr>
          <p:sp>
            <p:nvSpPr>
              <p:cNvPr id="287" name="CustomShape 1"/>
              <p:cNvSpPr/>
              <p:nvPr/>
            </p:nvSpPr>
            <p:spPr>
              <a:xfrm>
                <a:off x="6721773" y="3171688"/>
                <a:ext cx="204480" cy="159120"/>
              </a:xfrm>
              <a:prstGeom prst="rect">
                <a:avLst/>
              </a:prstGeom>
              <a:solidFill>
                <a:srgbClr val="FFFFFF">
                  <a:alpha val="50000"/>
                </a:srgbClr>
              </a:solidFill>
              <a:ln w="25560">
                <a:solidFill>
                  <a:srgbClr val="FFFFFF"/>
                </a:solidFill>
                <a:miter/>
              </a:ln>
            </p:spPr>
            <p:style>
              <a:lnRef idx="0">
                <a:scrgbClr r="0" g="0" b="0"/>
              </a:lnRef>
              <a:fillRef idx="0">
                <a:scrgbClr r="0" g="0" b="0"/>
              </a:fillRef>
              <a:effectRef idx="0">
                <a:scrgbClr r="0" g="0" b="0"/>
              </a:effectRef>
              <a:fontRef idx="minor"/>
            </p:style>
          </p:sp>
          <p:sp>
            <p:nvSpPr>
              <p:cNvPr id="41" name="Rectangle 40">
                <a:extLst>
                  <a:ext uri="{FF2B5EF4-FFF2-40B4-BE49-F238E27FC236}">
                    <a16:creationId xmlns:a16="http://schemas.microsoft.com/office/drawing/2014/main" id="{51F0BF5B-9544-FC4B-327B-2E21643E5827}"/>
                  </a:ext>
                </a:extLst>
              </p:cNvPr>
              <p:cNvSpPr/>
              <p:nvPr/>
            </p:nvSpPr>
            <p:spPr>
              <a:xfrm>
                <a:off x="4788470" y="2232646"/>
                <a:ext cx="1136469" cy="43853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43" name="Straight Connector 42">
                <a:extLst>
                  <a:ext uri="{FF2B5EF4-FFF2-40B4-BE49-F238E27FC236}">
                    <a16:creationId xmlns:a16="http://schemas.microsoft.com/office/drawing/2014/main" id="{5E8FED01-CF9C-247A-B595-784D5E57FF91}"/>
                  </a:ext>
                </a:extLst>
              </p:cNvPr>
              <p:cNvCxnSpPr>
                <a:stCxn id="41" idx="3"/>
              </p:cNvCxnSpPr>
              <p:nvPr/>
            </p:nvCxnSpPr>
            <p:spPr>
              <a:xfrm flipV="1">
                <a:off x="5924939" y="2447250"/>
                <a:ext cx="1104744" cy="4665"/>
              </a:xfrm>
              <a:prstGeom prst="line">
                <a:avLst/>
              </a:prstGeom>
              <a:ln w="76200"/>
            </p:spPr>
            <p:style>
              <a:lnRef idx="1">
                <a:schemeClr val="dk1"/>
              </a:lnRef>
              <a:fillRef idx="0">
                <a:schemeClr val="dk1"/>
              </a:fillRef>
              <a:effectRef idx="0">
                <a:schemeClr val="dk1"/>
              </a:effectRef>
              <a:fontRef idx="minor">
                <a:schemeClr val="tx1"/>
              </a:fontRef>
            </p:style>
          </p:cxnSp>
          <p:sp>
            <p:nvSpPr>
              <p:cNvPr id="44" name="Rectangle 43">
                <a:extLst>
                  <a:ext uri="{FF2B5EF4-FFF2-40B4-BE49-F238E27FC236}">
                    <a16:creationId xmlns:a16="http://schemas.microsoft.com/office/drawing/2014/main" id="{04FFBCAC-78F0-7545-32BD-614CA0179EA6}"/>
                  </a:ext>
                </a:extLst>
              </p:cNvPr>
              <p:cNvSpPr/>
              <p:nvPr/>
            </p:nvSpPr>
            <p:spPr>
              <a:xfrm>
                <a:off x="7029683" y="2233806"/>
                <a:ext cx="1136469" cy="43853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5" name="Oval 44">
                <a:extLst>
                  <a:ext uri="{FF2B5EF4-FFF2-40B4-BE49-F238E27FC236}">
                    <a16:creationId xmlns:a16="http://schemas.microsoft.com/office/drawing/2014/main" id="{2A59D840-F9B4-C670-A945-4BCC315F7645}"/>
                  </a:ext>
                </a:extLst>
              </p:cNvPr>
              <p:cNvSpPr/>
              <p:nvPr/>
            </p:nvSpPr>
            <p:spPr>
              <a:xfrm>
                <a:off x="4713316" y="1893115"/>
                <a:ext cx="1257342" cy="340691"/>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dirty="0">
                    <a:solidFill>
                      <a:schemeClr val="tx1"/>
                    </a:solidFill>
                  </a:rPr>
                  <a:t>YBX1</a:t>
                </a:r>
              </a:p>
            </p:txBody>
          </p:sp>
          <p:sp>
            <p:nvSpPr>
              <p:cNvPr id="46" name="Oval 45">
                <a:extLst>
                  <a:ext uri="{FF2B5EF4-FFF2-40B4-BE49-F238E27FC236}">
                    <a16:creationId xmlns:a16="http://schemas.microsoft.com/office/drawing/2014/main" id="{269152DA-2B8D-B585-C0CC-B259A7A77D00}"/>
                  </a:ext>
                </a:extLst>
              </p:cNvPr>
              <p:cNvSpPr/>
              <p:nvPr/>
            </p:nvSpPr>
            <p:spPr>
              <a:xfrm>
                <a:off x="4631442" y="2769969"/>
                <a:ext cx="1502502" cy="340691"/>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dirty="0">
                    <a:solidFill>
                      <a:schemeClr val="tx1"/>
                    </a:solidFill>
                  </a:rPr>
                  <a:t>SRSF2</a:t>
                </a:r>
              </a:p>
            </p:txBody>
          </p:sp>
          <p:sp>
            <p:nvSpPr>
              <p:cNvPr id="47" name="Rectangle 46">
                <a:extLst>
                  <a:ext uri="{FF2B5EF4-FFF2-40B4-BE49-F238E27FC236}">
                    <a16:creationId xmlns:a16="http://schemas.microsoft.com/office/drawing/2014/main" id="{4C1A492C-BF0D-E18F-FA71-420927AAAFC2}"/>
                  </a:ext>
                </a:extLst>
              </p:cNvPr>
              <p:cNvSpPr/>
              <p:nvPr/>
            </p:nvSpPr>
            <p:spPr>
              <a:xfrm>
                <a:off x="4788470" y="3111539"/>
                <a:ext cx="1136469" cy="43853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8" name="Rectangle 47">
                <a:extLst>
                  <a:ext uri="{FF2B5EF4-FFF2-40B4-BE49-F238E27FC236}">
                    <a16:creationId xmlns:a16="http://schemas.microsoft.com/office/drawing/2014/main" id="{F660AB3C-93EB-AA00-3D6D-E55D4710750A}"/>
                  </a:ext>
                </a:extLst>
              </p:cNvPr>
              <p:cNvSpPr/>
              <p:nvPr/>
            </p:nvSpPr>
            <p:spPr>
              <a:xfrm>
                <a:off x="7029683" y="3111539"/>
                <a:ext cx="1136469" cy="43853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grpSp>
        <p:cxnSp>
          <p:nvCxnSpPr>
            <p:cNvPr id="53" name="Straight Connector 52">
              <a:extLst>
                <a:ext uri="{FF2B5EF4-FFF2-40B4-BE49-F238E27FC236}">
                  <a16:creationId xmlns:a16="http://schemas.microsoft.com/office/drawing/2014/main" id="{C550F079-4835-1E4E-A8F0-441CBBA62486}"/>
                </a:ext>
              </a:extLst>
            </p:cNvPr>
            <p:cNvCxnSpPr/>
            <p:nvPr/>
          </p:nvCxnSpPr>
          <p:spPr>
            <a:xfrm flipV="1">
              <a:off x="5924939" y="3330808"/>
              <a:ext cx="1104744" cy="4665"/>
            </a:xfrm>
            <a:prstGeom prst="line">
              <a:avLst/>
            </a:prstGeom>
            <a:ln w="76200"/>
          </p:spPr>
          <p:style>
            <a:lnRef idx="1">
              <a:schemeClr val="dk1"/>
            </a:lnRef>
            <a:fillRef idx="0">
              <a:schemeClr val="dk1"/>
            </a:fillRef>
            <a:effectRef idx="0">
              <a:schemeClr val="dk1"/>
            </a:effectRef>
            <a:fontRef idx="minor">
              <a:schemeClr val="tx1"/>
            </a:fontRef>
          </p:style>
        </p:cxnSp>
        <p:sp>
          <p:nvSpPr>
            <p:cNvPr id="54" name="Oval 53">
              <a:extLst>
                <a:ext uri="{FF2B5EF4-FFF2-40B4-BE49-F238E27FC236}">
                  <a16:creationId xmlns:a16="http://schemas.microsoft.com/office/drawing/2014/main" id="{D6C54C56-2A3E-FBBB-7DA8-85A6A6A69809}"/>
                </a:ext>
              </a:extLst>
            </p:cNvPr>
            <p:cNvSpPr/>
            <p:nvPr/>
          </p:nvSpPr>
          <p:spPr>
            <a:xfrm>
              <a:off x="6969246" y="1881154"/>
              <a:ext cx="1257342" cy="340691"/>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dirty="0">
                  <a:solidFill>
                    <a:schemeClr val="tx1"/>
                  </a:solidFill>
                </a:rPr>
                <a:t>YBX1</a:t>
              </a:r>
            </a:p>
          </p:txBody>
        </p:sp>
      </p:grpSp>
      <p:sp>
        <p:nvSpPr>
          <p:cNvPr id="18" name="TextBox 17">
            <a:extLst>
              <a:ext uri="{FF2B5EF4-FFF2-40B4-BE49-F238E27FC236}">
                <a16:creationId xmlns:a16="http://schemas.microsoft.com/office/drawing/2014/main" id="{929984AF-1333-3683-A960-52D92657C9CA}"/>
              </a:ext>
            </a:extLst>
          </p:cNvPr>
          <p:cNvSpPr txBox="1"/>
          <p:nvPr/>
        </p:nvSpPr>
        <p:spPr>
          <a:xfrm>
            <a:off x="4322835" y="3733985"/>
            <a:ext cx="4322850" cy="830997"/>
          </a:xfrm>
          <a:prstGeom prst="rect">
            <a:avLst/>
          </a:prstGeom>
          <a:noFill/>
        </p:spPr>
        <p:txBody>
          <a:bodyPr wrap="square" rtlCol="0">
            <a:spAutoFit/>
          </a:bodyPr>
          <a:lstStyle/>
          <a:p>
            <a:pPr algn="just"/>
            <a:r>
              <a:rPr lang="en-GB" sz="1200" b="1" i="0" dirty="0">
                <a:solidFill>
                  <a:srgbClr val="202122"/>
                </a:solidFill>
                <a:effectLst/>
              </a:rPr>
              <a:t>YBX1</a:t>
            </a:r>
            <a:r>
              <a:rPr lang="en-GB" sz="1200" b="0" i="0" dirty="0">
                <a:solidFill>
                  <a:srgbClr val="202122"/>
                </a:solidFill>
                <a:effectLst/>
              </a:rPr>
              <a:t> </a:t>
            </a:r>
            <a:r>
              <a:rPr lang="en-GB" sz="1200" dirty="0">
                <a:solidFill>
                  <a:srgbClr val="202122"/>
                </a:solidFill>
              </a:rPr>
              <a:t>(Y box binding protein 1) </a:t>
            </a:r>
            <a:r>
              <a:rPr lang="en-GB" sz="1200" b="0" i="0" dirty="0">
                <a:solidFill>
                  <a:srgbClr val="202122"/>
                </a:solidFill>
                <a:effectLst/>
              </a:rPr>
              <a:t>stabilises messenger RNAs </a:t>
            </a:r>
            <a:r>
              <a:rPr lang="en-GB" sz="1200" b="1" dirty="0">
                <a:solidFill>
                  <a:srgbClr val="202122"/>
                </a:solidFill>
              </a:rPr>
              <a:t>SRSF2 (</a:t>
            </a:r>
            <a:r>
              <a:rPr lang="en-GB" sz="1200" b="0" u="none" strike="noStrike" dirty="0">
                <a:effectLst/>
              </a:rPr>
              <a:t>Serine and Arginine Rich Splicing Factor 2) is responsible for pre-mRNA splicing, regulating gene expression, and maintaining genomic stability</a:t>
            </a:r>
            <a:endParaRPr lang="en-CN" sz="1200" dirty="0"/>
          </a:p>
        </p:txBody>
      </p:sp>
    </p:spTree>
    <p:extLst>
      <p:ext uri="{BB962C8B-B14F-4D97-AF65-F5344CB8AC3E}">
        <p14:creationId xmlns:p14="http://schemas.microsoft.com/office/powerpoint/2010/main" val="881151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1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CustomShape 4"/>
          <p:cNvSpPr/>
          <p:nvPr/>
        </p:nvSpPr>
        <p:spPr>
          <a:xfrm>
            <a:off x="457200" y="276120"/>
            <a:ext cx="784692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strike="noStrike" spc="-1" dirty="0">
                <a:solidFill>
                  <a:srgbClr val="000000"/>
                </a:solidFill>
                <a:latin typeface="Arial"/>
                <a:ea typeface="DejaVu Sans"/>
              </a:rPr>
              <a:t>Intron retention results in more structured RNA. </a:t>
            </a:r>
            <a:endParaRPr lang="en-US" sz="1800" b="0" strike="noStrike" spc="-1" dirty="0">
              <a:latin typeface="Arial"/>
            </a:endParaRPr>
          </a:p>
        </p:txBody>
      </p:sp>
      <p:sp>
        <p:nvSpPr>
          <p:cNvPr id="299" name="CustomShape 5"/>
          <p:cNvSpPr/>
          <p:nvPr/>
        </p:nvSpPr>
        <p:spPr>
          <a:xfrm>
            <a:off x="8258760" y="4809240"/>
            <a:ext cx="561600" cy="122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B87A1C19-26AB-42F5-B999-BE8D904763FA}" type="slidenum">
              <a:rPr lang="de-DE" sz="1000" b="0" strike="noStrike" spc="-1">
                <a:solidFill>
                  <a:srgbClr val="0949A7"/>
                </a:solidFill>
                <a:ea typeface="DejaVu Sans"/>
              </a:rPr>
              <a:t>21</a:t>
            </a:fld>
            <a:endParaRPr lang="en-US" sz="1000" b="0" strike="noStrike" spc="-1" dirty="0"/>
          </a:p>
        </p:txBody>
      </p:sp>
      <p:grpSp>
        <p:nvGrpSpPr>
          <p:cNvPr id="4" name="Group 3">
            <a:extLst>
              <a:ext uri="{FF2B5EF4-FFF2-40B4-BE49-F238E27FC236}">
                <a16:creationId xmlns:a16="http://schemas.microsoft.com/office/drawing/2014/main" id="{EEE53EB3-0D27-1D1A-B6D5-E4C0CBE13488}"/>
              </a:ext>
            </a:extLst>
          </p:cNvPr>
          <p:cNvGrpSpPr/>
          <p:nvPr/>
        </p:nvGrpSpPr>
        <p:grpSpPr>
          <a:xfrm>
            <a:off x="258223" y="1287889"/>
            <a:ext cx="3497613" cy="1591478"/>
            <a:chOff x="2471998" y="1046038"/>
            <a:chExt cx="3497613" cy="1591478"/>
          </a:xfrm>
        </p:grpSpPr>
        <p:sp>
          <p:nvSpPr>
            <p:cNvPr id="294" name="CustomShape 1"/>
            <p:cNvSpPr/>
            <p:nvPr/>
          </p:nvSpPr>
          <p:spPr>
            <a:xfrm>
              <a:off x="2805778" y="2130485"/>
              <a:ext cx="204480" cy="159120"/>
            </a:xfrm>
            <a:prstGeom prst="rect">
              <a:avLst/>
            </a:prstGeom>
            <a:solidFill>
              <a:srgbClr val="FFFFFF">
                <a:alpha val="50000"/>
              </a:srgbClr>
            </a:solidFill>
            <a:ln w="25560">
              <a:solidFill>
                <a:srgbClr val="FFFFFF"/>
              </a:solidFill>
              <a:miter/>
            </a:ln>
          </p:spPr>
          <p:style>
            <a:lnRef idx="0">
              <a:scrgbClr r="0" g="0" b="0"/>
            </a:lnRef>
            <a:fillRef idx="0">
              <a:scrgbClr r="0" g="0" b="0"/>
            </a:fillRef>
            <a:effectRef idx="0">
              <a:scrgbClr r="0" g="0" b="0"/>
            </a:effectRef>
            <a:fontRef idx="minor"/>
          </p:style>
        </p:sp>
        <p:sp>
          <p:nvSpPr>
            <p:cNvPr id="2" name="TextBox 1">
              <a:extLst>
                <a:ext uri="{FF2B5EF4-FFF2-40B4-BE49-F238E27FC236}">
                  <a16:creationId xmlns:a16="http://schemas.microsoft.com/office/drawing/2014/main" id="{186C9AD5-32F8-EA94-4D82-D21907F6A420}"/>
                </a:ext>
              </a:extLst>
            </p:cNvPr>
            <p:cNvSpPr txBox="1"/>
            <p:nvPr/>
          </p:nvSpPr>
          <p:spPr>
            <a:xfrm>
              <a:off x="3010258" y="2383710"/>
              <a:ext cx="992579" cy="230832"/>
            </a:xfrm>
            <a:prstGeom prst="rect">
              <a:avLst/>
            </a:prstGeom>
            <a:noFill/>
          </p:spPr>
          <p:txBody>
            <a:bodyPr wrap="none" rtlCol="0">
              <a:spAutoFit/>
            </a:bodyPr>
            <a:lstStyle/>
            <a:p>
              <a:r>
                <a:rPr lang="en-GB" sz="900" dirty="0"/>
                <a:t>M</a:t>
              </a:r>
              <a:r>
                <a:rPr lang="en-CN" sz="900" dirty="0"/>
                <a:t>ore structured</a:t>
              </a:r>
            </a:p>
          </p:txBody>
        </p:sp>
        <p:sp>
          <p:nvSpPr>
            <p:cNvPr id="3" name="TextBox 2">
              <a:extLst>
                <a:ext uri="{FF2B5EF4-FFF2-40B4-BE49-F238E27FC236}">
                  <a16:creationId xmlns:a16="http://schemas.microsoft.com/office/drawing/2014/main" id="{438130E5-421F-7EF6-5178-3E7D9A202A02}"/>
                </a:ext>
              </a:extLst>
            </p:cNvPr>
            <p:cNvSpPr txBox="1"/>
            <p:nvPr/>
          </p:nvSpPr>
          <p:spPr>
            <a:xfrm>
              <a:off x="4780013" y="2382592"/>
              <a:ext cx="973343" cy="230832"/>
            </a:xfrm>
            <a:prstGeom prst="rect">
              <a:avLst/>
            </a:prstGeom>
            <a:noFill/>
          </p:spPr>
          <p:txBody>
            <a:bodyPr wrap="none" rtlCol="0">
              <a:spAutoFit/>
            </a:bodyPr>
            <a:lstStyle/>
            <a:p>
              <a:r>
                <a:rPr lang="en-CN" sz="900" dirty="0"/>
                <a:t>Less structured</a:t>
              </a:r>
            </a:p>
          </p:txBody>
        </p:sp>
        <p:cxnSp>
          <p:nvCxnSpPr>
            <p:cNvPr id="7" name="Straight Arrow Connector 6">
              <a:extLst>
                <a:ext uri="{FF2B5EF4-FFF2-40B4-BE49-F238E27FC236}">
                  <a16:creationId xmlns:a16="http://schemas.microsoft.com/office/drawing/2014/main" id="{BAF771B8-723D-701F-4521-F177633364FA}"/>
                </a:ext>
              </a:extLst>
            </p:cNvPr>
            <p:cNvCxnSpPr/>
            <p:nvPr/>
          </p:nvCxnSpPr>
          <p:spPr>
            <a:xfrm>
              <a:off x="4838934" y="2634107"/>
              <a:ext cx="997527"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9F4C136C-C0B3-48E6-45FC-75E1FF485C24}"/>
                </a:ext>
              </a:extLst>
            </p:cNvPr>
            <p:cNvCxnSpPr>
              <a:cxnSpLocks/>
            </p:cNvCxnSpPr>
            <p:nvPr/>
          </p:nvCxnSpPr>
          <p:spPr>
            <a:xfrm flipH="1" flipV="1">
              <a:off x="2968571" y="2634107"/>
              <a:ext cx="908858" cy="340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3072068C-2623-96A6-5E0F-2B274683DAAB}"/>
                </a:ext>
              </a:extLst>
            </p:cNvPr>
            <p:cNvPicPr/>
            <p:nvPr/>
          </p:nvPicPr>
          <p:blipFill rotWithShape="1">
            <a:blip r:embed="rId2"/>
            <a:srcRect l="18249" t="23682" r="1" b="60932"/>
            <a:stretch/>
          </p:blipFill>
          <p:spPr>
            <a:xfrm>
              <a:off x="2764065" y="1472689"/>
              <a:ext cx="3062798" cy="448275"/>
            </a:xfrm>
            <a:prstGeom prst="rect">
              <a:avLst/>
            </a:prstGeom>
            <a:ln>
              <a:noFill/>
            </a:ln>
          </p:spPr>
        </p:pic>
        <p:sp>
          <p:nvSpPr>
            <p:cNvPr id="12" name="CustomShape 20">
              <a:extLst>
                <a:ext uri="{FF2B5EF4-FFF2-40B4-BE49-F238E27FC236}">
                  <a16:creationId xmlns:a16="http://schemas.microsoft.com/office/drawing/2014/main" id="{55EBEF7E-853B-4194-A8E9-26389943822F}"/>
                </a:ext>
              </a:extLst>
            </p:cNvPr>
            <p:cNvSpPr/>
            <p:nvPr/>
          </p:nvSpPr>
          <p:spPr>
            <a:xfrm>
              <a:off x="2968571" y="1084315"/>
              <a:ext cx="151560" cy="139320"/>
            </a:xfrm>
            <a:prstGeom prst="rect">
              <a:avLst/>
            </a:prstGeom>
            <a:solidFill>
              <a:srgbClr val="E79F00">
                <a:alpha val="70000"/>
              </a:srgbClr>
            </a:solidFill>
            <a:ln>
              <a:noFill/>
            </a:ln>
          </p:spPr>
          <p:style>
            <a:lnRef idx="2">
              <a:schemeClr val="accent1">
                <a:shade val="15000"/>
              </a:schemeClr>
            </a:lnRef>
            <a:fillRef idx="1">
              <a:schemeClr val="accent1"/>
            </a:fillRef>
            <a:effectRef idx="0">
              <a:schemeClr val="accent1"/>
            </a:effectRef>
            <a:fontRef idx="minor"/>
          </p:style>
        </p:sp>
        <p:sp>
          <p:nvSpPr>
            <p:cNvPr id="13" name="CustomShape 21">
              <a:extLst>
                <a:ext uri="{FF2B5EF4-FFF2-40B4-BE49-F238E27FC236}">
                  <a16:creationId xmlns:a16="http://schemas.microsoft.com/office/drawing/2014/main" id="{08B2D331-CE2F-139A-DBDF-6872593BF526}"/>
                </a:ext>
              </a:extLst>
            </p:cNvPr>
            <p:cNvSpPr/>
            <p:nvPr/>
          </p:nvSpPr>
          <p:spPr>
            <a:xfrm>
              <a:off x="4208559" y="1094137"/>
              <a:ext cx="151560" cy="139320"/>
            </a:xfrm>
            <a:prstGeom prst="rect">
              <a:avLst/>
            </a:prstGeom>
            <a:solidFill>
              <a:srgbClr val="78C3EE">
                <a:alpha val="70000"/>
              </a:srgbClr>
            </a:solidFill>
            <a:ln>
              <a:noFill/>
            </a:ln>
          </p:spPr>
          <p:style>
            <a:lnRef idx="2">
              <a:schemeClr val="accent1">
                <a:shade val="15000"/>
              </a:schemeClr>
            </a:lnRef>
            <a:fillRef idx="1">
              <a:schemeClr val="accent1"/>
            </a:fillRef>
            <a:effectRef idx="0">
              <a:schemeClr val="accent1"/>
            </a:effectRef>
            <a:fontRef idx="minor"/>
          </p:style>
        </p:sp>
        <p:sp>
          <p:nvSpPr>
            <p:cNvPr id="14" name="CustomShape 22">
              <a:extLst>
                <a:ext uri="{FF2B5EF4-FFF2-40B4-BE49-F238E27FC236}">
                  <a16:creationId xmlns:a16="http://schemas.microsoft.com/office/drawing/2014/main" id="{BC5E87F3-F485-CB9E-C809-BD1801B06A3D}"/>
                </a:ext>
              </a:extLst>
            </p:cNvPr>
            <p:cNvSpPr/>
            <p:nvPr/>
          </p:nvSpPr>
          <p:spPr>
            <a:xfrm>
              <a:off x="3108341" y="1046038"/>
              <a:ext cx="1178073" cy="22937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900" b="0" strike="noStrike" spc="-1" dirty="0">
                  <a:solidFill>
                    <a:srgbClr val="000000"/>
                  </a:solidFill>
                  <a:latin typeface="Calibri"/>
                  <a:ea typeface="DejaVu Sans"/>
                </a:rPr>
                <a:t>Introns included</a:t>
              </a:r>
              <a:endParaRPr lang="en-US" sz="900" b="0" strike="noStrike" spc="-1" dirty="0">
                <a:latin typeface="Arial"/>
              </a:endParaRPr>
            </a:p>
          </p:txBody>
        </p:sp>
        <p:sp>
          <p:nvSpPr>
            <p:cNvPr id="15" name="CustomShape 23">
              <a:extLst>
                <a:ext uri="{FF2B5EF4-FFF2-40B4-BE49-F238E27FC236}">
                  <a16:creationId xmlns:a16="http://schemas.microsoft.com/office/drawing/2014/main" id="{072BDDEC-69C2-AA9B-CB81-743E5CD15A08}"/>
                </a:ext>
              </a:extLst>
            </p:cNvPr>
            <p:cNvSpPr/>
            <p:nvPr/>
          </p:nvSpPr>
          <p:spPr>
            <a:xfrm>
              <a:off x="4360584" y="1051508"/>
              <a:ext cx="1609027" cy="22937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900" b="0" strike="noStrike" spc="-1" dirty="0">
                  <a:solidFill>
                    <a:srgbClr val="000000"/>
                  </a:solidFill>
                  <a:latin typeface="Calibri"/>
                  <a:ea typeface="DejaVu Sans"/>
                </a:rPr>
                <a:t>Introns skipped</a:t>
              </a:r>
              <a:endParaRPr lang="en-US" sz="900" b="0" strike="noStrike" spc="-1" dirty="0">
                <a:latin typeface="Arial"/>
              </a:endParaRPr>
            </a:p>
          </p:txBody>
        </p:sp>
        <p:sp>
          <p:nvSpPr>
            <p:cNvPr id="17" name="TextBox 16">
              <a:extLst>
                <a:ext uri="{FF2B5EF4-FFF2-40B4-BE49-F238E27FC236}">
                  <a16:creationId xmlns:a16="http://schemas.microsoft.com/office/drawing/2014/main" id="{40E66692-6AC7-4391-ACE6-838F50453A73}"/>
                </a:ext>
              </a:extLst>
            </p:cNvPr>
            <p:cNvSpPr txBox="1"/>
            <p:nvPr/>
          </p:nvSpPr>
          <p:spPr>
            <a:xfrm>
              <a:off x="2471998" y="1543450"/>
              <a:ext cx="300082" cy="230832"/>
            </a:xfrm>
            <a:prstGeom prst="rect">
              <a:avLst/>
            </a:prstGeom>
            <a:noFill/>
          </p:spPr>
          <p:txBody>
            <a:bodyPr wrap="square" rtlCol="0">
              <a:spAutoFit/>
            </a:bodyPr>
            <a:lstStyle/>
            <a:p>
              <a:r>
                <a:rPr lang="en-CN" sz="900" dirty="0"/>
                <a:t>RI</a:t>
              </a:r>
            </a:p>
          </p:txBody>
        </p:sp>
        <p:sp>
          <p:nvSpPr>
            <p:cNvPr id="21" name="TextBox 20">
              <a:extLst>
                <a:ext uri="{FF2B5EF4-FFF2-40B4-BE49-F238E27FC236}">
                  <a16:creationId xmlns:a16="http://schemas.microsoft.com/office/drawing/2014/main" id="{1BD78EEF-AE37-ACE0-58D8-DAC94F932C66}"/>
                </a:ext>
              </a:extLst>
            </p:cNvPr>
            <p:cNvSpPr txBox="1"/>
            <p:nvPr/>
          </p:nvSpPr>
          <p:spPr>
            <a:xfrm>
              <a:off x="3474655" y="2184964"/>
              <a:ext cx="1511952" cy="230832"/>
            </a:xfrm>
            <a:prstGeom prst="rect">
              <a:avLst/>
            </a:prstGeom>
            <a:noFill/>
          </p:spPr>
          <p:txBody>
            <a:bodyPr wrap="square" rtlCol="0">
              <a:spAutoFit/>
            </a:bodyPr>
            <a:lstStyle/>
            <a:p>
              <a:r>
                <a:rPr lang="en-CN" sz="900" dirty="0"/>
                <a:t>Minimum Free Energy / nt</a:t>
              </a:r>
            </a:p>
          </p:txBody>
        </p:sp>
        <p:sp>
          <p:nvSpPr>
            <p:cNvPr id="22" name="TextBox 21">
              <a:extLst>
                <a:ext uri="{FF2B5EF4-FFF2-40B4-BE49-F238E27FC236}">
                  <a16:creationId xmlns:a16="http://schemas.microsoft.com/office/drawing/2014/main" id="{94088552-D075-C451-FF1E-08C4C1BF0A23}"/>
                </a:ext>
              </a:extLst>
            </p:cNvPr>
            <p:cNvSpPr txBox="1"/>
            <p:nvPr/>
          </p:nvSpPr>
          <p:spPr>
            <a:xfrm rot="19246926">
              <a:off x="3109381" y="1998885"/>
              <a:ext cx="383438" cy="230832"/>
            </a:xfrm>
            <a:prstGeom prst="rect">
              <a:avLst/>
            </a:prstGeom>
            <a:noFill/>
          </p:spPr>
          <p:txBody>
            <a:bodyPr wrap="square" rtlCol="0">
              <a:spAutoFit/>
            </a:bodyPr>
            <a:lstStyle/>
            <a:p>
              <a:r>
                <a:rPr lang="en-CN" sz="900" dirty="0"/>
                <a:t>-0.5</a:t>
              </a:r>
            </a:p>
          </p:txBody>
        </p:sp>
        <p:sp>
          <p:nvSpPr>
            <p:cNvPr id="23" name="TextBox 22">
              <a:extLst>
                <a:ext uri="{FF2B5EF4-FFF2-40B4-BE49-F238E27FC236}">
                  <a16:creationId xmlns:a16="http://schemas.microsoft.com/office/drawing/2014/main" id="{4BA3BDB8-BD01-EA8F-6E37-920DE4C6CF1D}"/>
                </a:ext>
              </a:extLst>
            </p:cNvPr>
            <p:cNvSpPr txBox="1"/>
            <p:nvPr/>
          </p:nvSpPr>
          <p:spPr>
            <a:xfrm rot="19246926">
              <a:off x="3617340" y="1998884"/>
              <a:ext cx="383438" cy="230832"/>
            </a:xfrm>
            <a:prstGeom prst="rect">
              <a:avLst/>
            </a:prstGeom>
            <a:noFill/>
          </p:spPr>
          <p:txBody>
            <a:bodyPr wrap="square" rtlCol="0">
              <a:spAutoFit/>
            </a:bodyPr>
            <a:lstStyle/>
            <a:p>
              <a:r>
                <a:rPr lang="en-CN" sz="900" dirty="0"/>
                <a:t>-0.4</a:t>
              </a:r>
            </a:p>
          </p:txBody>
        </p:sp>
        <p:sp>
          <p:nvSpPr>
            <p:cNvPr id="24" name="TextBox 23">
              <a:extLst>
                <a:ext uri="{FF2B5EF4-FFF2-40B4-BE49-F238E27FC236}">
                  <a16:creationId xmlns:a16="http://schemas.microsoft.com/office/drawing/2014/main" id="{DDDAE21C-034A-D7DE-C938-498E698C15B2}"/>
                </a:ext>
              </a:extLst>
            </p:cNvPr>
            <p:cNvSpPr txBox="1"/>
            <p:nvPr/>
          </p:nvSpPr>
          <p:spPr>
            <a:xfrm rot="19246926">
              <a:off x="4146185" y="1986092"/>
              <a:ext cx="383438" cy="230832"/>
            </a:xfrm>
            <a:prstGeom prst="rect">
              <a:avLst/>
            </a:prstGeom>
            <a:noFill/>
          </p:spPr>
          <p:txBody>
            <a:bodyPr wrap="square" rtlCol="0">
              <a:spAutoFit/>
            </a:bodyPr>
            <a:lstStyle/>
            <a:p>
              <a:r>
                <a:rPr lang="en-CN" sz="900" dirty="0"/>
                <a:t>-0.3</a:t>
              </a:r>
            </a:p>
          </p:txBody>
        </p:sp>
        <p:sp>
          <p:nvSpPr>
            <p:cNvPr id="25" name="TextBox 24">
              <a:extLst>
                <a:ext uri="{FF2B5EF4-FFF2-40B4-BE49-F238E27FC236}">
                  <a16:creationId xmlns:a16="http://schemas.microsoft.com/office/drawing/2014/main" id="{4F9C4FDE-001C-ED78-213E-08334B341E14}"/>
                </a:ext>
              </a:extLst>
            </p:cNvPr>
            <p:cNvSpPr txBox="1"/>
            <p:nvPr/>
          </p:nvSpPr>
          <p:spPr>
            <a:xfrm rot="19246926">
              <a:off x="4690709" y="2003791"/>
              <a:ext cx="383438" cy="230832"/>
            </a:xfrm>
            <a:prstGeom prst="rect">
              <a:avLst/>
            </a:prstGeom>
            <a:noFill/>
          </p:spPr>
          <p:txBody>
            <a:bodyPr wrap="square" rtlCol="0">
              <a:spAutoFit/>
            </a:bodyPr>
            <a:lstStyle/>
            <a:p>
              <a:r>
                <a:rPr lang="en-CN" sz="900" dirty="0"/>
                <a:t>-0.2</a:t>
              </a:r>
            </a:p>
          </p:txBody>
        </p:sp>
        <p:sp>
          <p:nvSpPr>
            <p:cNvPr id="26" name="TextBox 25">
              <a:extLst>
                <a:ext uri="{FF2B5EF4-FFF2-40B4-BE49-F238E27FC236}">
                  <a16:creationId xmlns:a16="http://schemas.microsoft.com/office/drawing/2014/main" id="{87C6B18F-02F3-25E0-83EC-CCF15A55F692}"/>
                </a:ext>
              </a:extLst>
            </p:cNvPr>
            <p:cNvSpPr txBox="1"/>
            <p:nvPr/>
          </p:nvSpPr>
          <p:spPr>
            <a:xfrm rot="19246926">
              <a:off x="5192606" y="1998883"/>
              <a:ext cx="383438" cy="230832"/>
            </a:xfrm>
            <a:prstGeom prst="rect">
              <a:avLst/>
            </a:prstGeom>
            <a:noFill/>
          </p:spPr>
          <p:txBody>
            <a:bodyPr wrap="square" rtlCol="0">
              <a:spAutoFit/>
            </a:bodyPr>
            <a:lstStyle/>
            <a:p>
              <a:r>
                <a:rPr lang="en-CN" sz="900" dirty="0"/>
                <a:t>-0.1</a:t>
              </a:r>
            </a:p>
          </p:txBody>
        </p:sp>
      </p:grpSp>
      <p:sp>
        <p:nvSpPr>
          <p:cNvPr id="5" name="TextBox 4">
            <a:extLst>
              <a:ext uri="{FF2B5EF4-FFF2-40B4-BE49-F238E27FC236}">
                <a16:creationId xmlns:a16="http://schemas.microsoft.com/office/drawing/2014/main" id="{5D502711-0965-1113-E977-DFF623C5A42D}"/>
              </a:ext>
            </a:extLst>
          </p:cNvPr>
          <p:cNvSpPr txBox="1"/>
          <p:nvPr/>
        </p:nvSpPr>
        <p:spPr>
          <a:xfrm>
            <a:off x="503294" y="3105714"/>
            <a:ext cx="1123000" cy="276999"/>
          </a:xfrm>
          <a:prstGeom prst="rect">
            <a:avLst/>
          </a:prstGeom>
          <a:noFill/>
        </p:spPr>
        <p:txBody>
          <a:bodyPr wrap="none" rtlCol="0">
            <a:spAutoFit/>
          </a:bodyPr>
          <a:lstStyle/>
          <a:p>
            <a:r>
              <a:rPr lang="en-GB" sz="1200" dirty="0"/>
              <a:t>T</a:t>
            </a:r>
            <a:r>
              <a:rPr lang="en-CN" sz="1200" dirty="0"/>
              <a:t>ool: RNAfold</a:t>
            </a:r>
          </a:p>
        </p:txBody>
      </p:sp>
      <p:sp>
        <p:nvSpPr>
          <p:cNvPr id="41" name="TextBox 40">
            <a:extLst>
              <a:ext uri="{FF2B5EF4-FFF2-40B4-BE49-F238E27FC236}">
                <a16:creationId xmlns:a16="http://schemas.microsoft.com/office/drawing/2014/main" id="{01D35AB7-C69F-4A2C-7F3D-0D221F8EE9A2}"/>
              </a:ext>
            </a:extLst>
          </p:cNvPr>
          <p:cNvSpPr txBox="1"/>
          <p:nvPr/>
        </p:nvSpPr>
        <p:spPr>
          <a:xfrm>
            <a:off x="503294" y="4191473"/>
            <a:ext cx="7810856" cy="369332"/>
          </a:xfrm>
          <a:prstGeom prst="rect">
            <a:avLst/>
          </a:prstGeom>
          <a:noFill/>
        </p:spPr>
        <p:txBody>
          <a:bodyPr wrap="none" rtlCol="0">
            <a:spAutoFit/>
          </a:bodyPr>
          <a:lstStyle/>
          <a:p>
            <a:r>
              <a:rPr lang="en-US" dirty="0"/>
              <a:t>We hypothesized that structured RNA could be substrates for hyper editing</a:t>
            </a:r>
            <a:endParaRPr lang="en-CN" dirty="0"/>
          </a:p>
        </p:txBody>
      </p:sp>
      <p:sp>
        <p:nvSpPr>
          <p:cNvPr id="43" name="Rectangle 42">
            <a:extLst>
              <a:ext uri="{FF2B5EF4-FFF2-40B4-BE49-F238E27FC236}">
                <a16:creationId xmlns:a16="http://schemas.microsoft.com/office/drawing/2014/main" id="{C191B5AB-EA1E-11D6-49C1-D3CDA063E667}"/>
              </a:ext>
            </a:extLst>
          </p:cNvPr>
          <p:cNvSpPr/>
          <p:nvPr/>
        </p:nvSpPr>
        <p:spPr>
          <a:xfrm>
            <a:off x="7595118" y="3425876"/>
            <a:ext cx="373224" cy="5171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16" name="Straight Connector 15">
            <a:extLst>
              <a:ext uri="{FF2B5EF4-FFF2-40B4-BE49-F238E27FC236}">
                <a16:creationId xmlns:a16="http://schemas.microsoft.com/office/drawing/2014/main" id="{5E20F6DA-1DB1-2024-A5D9-0AEB6E8EB52E}"/>
              </a:ext>
            </a:extLst>
          </p:cNvPr>
          <p:cNvCxnSpPr>
            <a:cxnSpLocks/>
          </p:cNvCxnSpPr>
          <p:nvPr/>
        </p:nvCxnSpPr>
        <p:spPr>
          <a:xfrm flipH="1" flipV="1">
            <a:off x="583536" y="2145513"/>
            <a:ext cx="3021085" cy="17302"/>
          </a:xfrm>
          <a:prstGeom prst="line">
            <a:avLst/>
          </a:prstGeom>
        </p:spPr>
        <p:style>
          <a:lnRef idx="1">
            <a:schemeClr val="dk1"/>
          </a:lnRef>
          <a:fillRef idx="0">
            <a:schemeClr val="dk1"/>
          </a:fillRef>
          <a:effectRef idx="0">
            <a:schemeClr val="dk1"/>
          </a:effectRef>
          <a:fontRef idx="minor">
            <a:schemeClr val="tx1"/>
          </a:fontRef>
        </p:style>
      </p:cxnSp>
      <p:grpSp>
        <p:nvGrpSpPr>
          <p:cNvPr id="44" name="Group 43">
            <a:extLst>
              <a:ext uri="{FF2B5EF4-FFF2-40B4-BE49-F238E27FC236}">
                <a16:creationId xmlns:a16="http://schemas.microsoft.com/office/drawing/2014/main" id="{EE2FC37B-17BF-BCA6-C4BB-9EF4EEC4EA7B}"/>
              </a:ext>
            </a:extLst>
          </p:cNvPr>
          <p:cNvGrpSpPr/>
          <p:nvPr/>
        </p:nvGrpSpPr>
        <p:grpSpPr>
          <a:xfrm>
            <a:off x="4729289" y="824696"/>
            <a:ext cx="3959768" cy="3007989"/>
            <a:chOff x="4729289" y="824696"/>
            <a:chExt cx="3959768" cy="3007989"/>
          </a:xfrm>
        </p:grpSpPr>
        <p:sp>
          <p:nvSpPr>
            <p:cNvPr id="34" name="Rectangle 33">
              <a:extLst>
                <a:ext uri="{FF2B5EF4-FFF2-40B4-BE49-F238E27FC236}">
                  <a16:creationId xmlns:a16="http://schemas.microsoft.com/office/drawing/2014/main" id="{1A13CAD4-2DDF-DF2C-4B76-DDDDF6E3B326}"/>
                </a:ext>
              </a:extLst>
            </p:cNvPr>
            <p:cNvSpPr/>
            <p:nvPr/>
          </p:nvSpPr>
          <p:spPr>
            <a:xfrm>
              <a:off x="6121252" y="1013725"/>
              <a:ext cx="582757" cy="22903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35" name="Straight Connector 34">
              <a:extLst>
                <a:ext uri="{FF2B5EF4-FFF2-40B4-BE49-F238E27FC236}">
                  <a16:creationId xmlns:a16="http://schemas.microsoft.com/office/drawing/2014/main" id="{6719A62D-3599-8B39-13CE-C389D44BCFED}"/>
                </a:ext>
              </a:extLst>
            </p:cNvPr>
            <p:cNvCxnSpPr>
              <a:cxnSpLocks/>
              <a:stCxn id="34" idx="3"/>
            </p:cNvCxnSpPr>
            <p:nvPr/>
          </p:nvCxnSpPr>
          <p:spPr>
            <a:xfrm flipV="1">
              <a:off x="6704010" y="1125806"/>
              <a:ext cx="566489" cy="2436"/>
            </a:xfrm>
            <a:prstGeom prst="line">
              <a:avLst/>
            </a:prstGeom>
            <a:ln w="76200"/>
          </p:spPr>
          <p:style>
            <a:lnRef idx="1">
              <a:schemeClr val="dk1"/>
            </a:lnRef>
            <a:fillRef idx="0">
              <a:schemeClr val="dk1"/>
            </a:fillRef>
            <a:effectRef idx="0">
              <a:schemeClr val="dk1"/>
            </a:effectRef>
            <a:fontRef idx="minor">
              <a:schemeClr val="tx1"/>
            </a:fontRef>
          </p:style>
        </p:cxnSp>
        <p:grpSp>
          <p:nvGrpSpPr>
            <p:cNvPr id="39" name="Group 38">
              <a:extLst>
                <a:ext uri="{FF2B5EF4-FFF2-40B4-BE49-F238E27FC236}">
                  <a16:creationId xmlns:a16="http://schemas.microsoft.com/office/drawing/2014/main" id="{4A74260C-BA4F-FCEF-928B-829BC601B5CA}"/>
                </a:ext>
              </a:extLst>
            </p:cNvPr>
            <p:cNvGrpSpPr/>
            <p:nvPr/>
          </p:nvGrpSpPr>
          <p:grpSpPr>
            <a:xfrm>
              <a:off x="4729289" y="824696"/>
              <a:ext cx="3959768" cy="3007989"/>
              <a:chOff x="4729289" y="824696"/>
              <a:chExt cx="3959768" cy="3007989"/>
            </a:xfrm>
          </p:grpSpPr>
          <p:grpSp>
            <p:nvGrpSpPr>
              <p:cNvPr id="42" name="Group 41">
                <a:extLst>
                  <a:ext uri="{FF2B5EF4-FFF2-40B4-BE49-F238E27FC236}">
                    <a16:creationId xmlns:a16="http://schemas.microsoft.com/office/drawing/2014/main" id="{85344D9F-7338-743A-FD1A-86DF8B7D28B2}"/>
                  </a:ext>
                </a:extLst>
              </p:cNvPr>
              <p:cNvGrpSpPr/>
              <p:nvPr/>
            </p:nvGrpSpPr>
            <p:grpSpPr>
              <a:xfrm>
                <a:off x="4729289" y="824696"/>
                <a:ext cx="3959768" cy="3007989"/>
                <a:chOff x="4926009" y="827489"/>
                <a:chExt cx="3959768" cy="3007989"/>
              </a:xfrm>
            </p:grpSpPr>
            <p:grpSp>
              <p:nvGrpSpPr>
                <p:cNvPr id="6" name="Group 5">
                  <a:extLst>
                    <a:ext uri="{FF2B5EF4-FFF2-40B4-BE49-F238E27FC236}">
                      <a16:creationId xmlns:a16="http://schemas.microsoft.com/office/drawing/2014/main" id="{6AE0EDBE-262B-CA6E-1C76-29B23A90F52E}"/>
                    </a:ext>
                  </a:extLst>
                </p:cNvPr>
                <p:cNvGrpSpPr/>
                <p:nvPr/>
              </p:nvGrpSpPr>
              <p:grpSpPr>
                <a:xfrm>
                  <a:off x="4926009" y="827489"/>
                  <a:ext cx="2188548" cy="1158276"/>
                  <a:chOff x="4490402" y="1113023"/>
                  <a:chExt cx="4268016" cy="2217785"/>
                </a:xfrm>
              </p:grpSpPr>
              <p:sp>
                <p:nvSpPr>
                  <p:cNvPr id="9" name="CustomShape 1">
                    <a:extLst>
                      <a:ext uri="{FF2B5EF4-FFF2-40B4-BE49-F238E27FC236}">
                        <a16:creationId xmlns:a16="http://schemas.microsoft.com/office/drawing/2014/main" id="{8984E785-DBB4-7D64-6E2D-4EB7BF84D40F}"/>
                      </a:ext>
                    </a:extLst>
                  </p:cNvPr>
                  <p:cNvSpPr/>
                  <p:nvPr/>
                </p:nvSpPr>
                <p:spPr>
                  <a:xfrm>
                    <a:off x="6721773" y="3171688"/>
                    <a:ext cx="204480" cy="159120"/>
                  </a:xfrm>
                  <a:prstGeom prst="rect">
                    <a:avLst/>
                  </a:prstGeom>
                  <a:solidFill>
                    <a:srgbClr val="FFFFFF">
                      <a:alpha val="50000"/>
                    </a:srgbClr>
                  </a:solidFill>
                  <a:ln w="25560">
                    <a:solidFill>
                      <a:srgbClr val="FFFFFF"/>
                    </a:solidFill>
                    <a:miter/>
                  </a:ln>
                </p:spPr>
                <p:style>
                  <a:lnRef idx="0">
                    <a:scrgbClr r="0" g="0" b="0"/>
                  </a:lnRef>
                  <a:fillRef idx="0">
                    <a:scrgbClr r="0" g="0" b="0"/>
                  </a:fillRef>
                  <a:effectRef idx="0">
                    <a:scrgbClr r="0" g="0" b="0"/>
                  </a:effectRef>
                  <a:fontRef idx="minor"/>
                </p:style>
              </p:sp>
              <p:sp>
                <p:nvSpPr>
                  <p:cNvPr id="27" name="Rectangle 26">
                    <a:extLst>
                      <a:ext uri="{FF2B5EF4-FFF2-40B4-BE49-F238E27FC236}">
                        <a16:creationId xmlns:a16="http://schemas.microsoft.com/office/drawing/2014/main" id="{5A5AB1BD-F8A8-46E6-392F-56B1D93DD946}"/>
                      </a:ext>
                    </a:extLst>
                  </p:cNvPr>
                  <p:cNvSpPr/>
                  <p:nvPr/>
                </p:nvSpPr>
                <p:spPr>
                  <a:xfrm>
                    <a:off x="4788470" y="2232646"/>
                    <a:ext cx="1136469" cy="43853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28" name="Straight Connector 27">
                    <a:extLst>
                      <a:ext uri="{FF2B5EF4-FFF2-40B4-BE49-F238E27FC236}">
                        <a16:creationId xmlns:a16="http://schemas.microsoft.com/office/drawing/2014/main" id="{458C448F-1604-F170-C40B-70B2CBCEDBB4}"/>
                      </a:ext>
                    </a:extLst>
                  </p:cNvPr>
                  <p:cNvCxnSpPr>
                    <a:cxnSpLocks/>
                    <a:stCxn id="27" idx="3"/>
                  </p:cNvCxnSpPr>
                  <p:nvPr/>
                </p:nvCxnSpPr>
                <p:spPr>
                  <a:xfrm flipV="1">
                    <a:off x="5924939" y="2447250"/>
                    <a:ext cx="1104744" cy="4665"/>
                  </a:xfrm>
                  <a:prstGeom prst="line">
                    <a:avLst/>
                  </a:prstGeom>
                  <a:ln w="76200"/>
                </p:spPr>
                <p:style>
                  <a:lnRef idx="1">
                    <a:schemeClr val="dk1"/>
                  </a:lnRef>
                  <a:fillRef idx="0">
                    <a:schemeClr val="dk1"/>
                  </a:fillRef>
                  <a:effectRef idx="0">
                    <a:schemeClr val="dk1"/>
                  </a:effectRef>
                  <a:fontRef idx="minor">
                    <a:schemeClr val="tx1"/>
                  </a:fontRef>
                </p:style>
              </p:cxnSp>
              <p:sp>
                <p:nvSpPr>
                  <p:cNvPr id="29" name="Rectangle 28">
                    <a:extLst>
                      <a:ext uri="{FF2B5EF4-FFF2-40B4-BE49-F238E27FC236}">
                        <a16:creationId xmlns:a16="http://schemas.microsoft.com/office/drawing/2014/main" id="{FBCD17C6-64FA-EFD4-3448-3CA98B8D6F21}"/>
                      </a:ext>
                    </a:extLst>
                  </p:cNvPr>
                  <p:cNvSpPr/>
                  <p:nvPr/>
                </p:nvSpPr>
                <p:spPr>
                  <a:xfrm>
                    <a:off x="7029683" y="2233806"/>
                    <a:ext cx="1136469" cy="43853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0" name="Oval 29">
                    <a:extLst>
                      <a:ext uri="{FF2B5EF4-FFF2-40B4-BE49-F238E27FC236}">
                        <a16:creationId xmlns:a16="http://schemas.microsoft.com/office/drawing/2014/main" id="{5B95B2FA-25AE-0E3B-C2FC-DAAEDA59521C}"/>
                      </a:ext>
                    </a:extLst>
                  </p:cNvPr>
                  <p:cNvSpPr/>
                  <p:nvPr/>
                </p:nvSpPr>
                <p:spPr>
                  <a:xfrm>
                    <a:off x="4490402" y="1893114"/>
                    <a:ext cx="1819360" cy="333707"/>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SRSF2</a:t>
                    </a:r>
                    <a:endParaRPr lang="en-CN" sz="900" dirty="0">
                      <a:solidFill>
                        <a:schemeClr val="tx1"/>
                      </a:solidFill>
                    </a:endParaRPr>
                  </a:p>
                </p:txBody>
              </p:sp>
              <p:sp>
                <p:nvSpPr>
                  <p:cNvPr id="31" name="Oval 30">
                    <a:extLst>
                      <a:ext uri="{FF2B5EF4-FFF2-40B4-BE49-F238E27FC236}">
                        <a16:creationId xmlns:a16="http://schemas.microsoft.com/office/drawing/2014/main" id="{4877E51C-2F5D-227C-A1FC-A221A83F3E59}"/>
                      </a:ext>
                    </a:extLst>
                  </p:cNvPr>
                  <p:cNvSpPr/>
                  <p:nvPr/>
                </p:nvSpPr>
                <p:spPr>
                  <a:xfrm>
                    <a:off x="6824011" y="1113023"/>
                    <a:ext cx="1934407" cy="33602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YBX1</a:t>
                    </a:r>
                    <a:endParaRPr lang="en-CN" sz="900" dirty="0">
                      <a:solidFill>
                        <a:schemeClr val="tx1"/>
                      </a:solidFill>
                    </a:endParaRPr>
                  </a:p>
                </p:txBody>
              </p:sp>
            </p:grpSp>
            <p:pic>
              <p:nvPicPr>
                <p:cNvPr id="37" name="Picture 36">
                  <a:extLst>
                    <a:ext uri="{FF2B5EF4-FFF2-40B4-BE49-F238E27FC236}">
                      <a16:creationId xmlns:a16="http://schemas.microsoft.com/office/drawing/2014/main" id="{4C330D6E-75FD-E003-4295-DE724E63D499}"/>
                    </a:ext>
                  </a:extLst>
                </p:cNvPr>
                <p:cNvPicPr>
                  <a:picLocks noChangeAspect="1"/>
                </p:cNvPicPr>
                <p:nvPr/>
              </p:nvPicPr>
              <p:blipFill rotWithShape="1">
                <a:blip r:embed="rId3">
                  <a:extLst>
                    <a:ext uri="{28A0092B-C50C-407E-A947-70E740481C1C}">
                      <a14:useLocalDpi xmlns:a14="http://schemas.microsoft.com/office/drawing/2010/main" val="0"/>
                    </a:ext>
                  </a:extLst>
                </a:blip>
                <a:srcRect l="46599" t="31660" b="27232"/>
                <a:stretch/>
              </p:blipFill>
              <p:spPr>
                <a:xfrm>
                  <a:off x="5078851" y="2236995"/>
                  <a:ext cx="3806926" cy="1598483"/>
                </a:xfrm>
                <a:prstGeom prst="rect">
                  <a:avLst/>
                </a:prstGeom>
              </p:spPr>
            </p:pic>
            <p:pic>
              <p:nvPicPr>
                <p:cNvPr id="40" name="Picture 39">
                  <a:extLst>
                    <a:ext uri="{FF2B5EF4-FFF2-40B4-BE49-F238E27FC236}">
                      <a16:creationId xmlns:a16="http://schemas.microsoft.com/office/drawing/2014/main" id="{A6ADA193-33A0-3430-DF77-345EC26E54BA}"/>
                    </a:ext>
                  </a:extLst>
                </p:cNvPr>
                <p:cNvPicPr>
                  <a:picLocks noChangeAspect="1"/>
                </p:cNvPicPr>
                <p:nvPr/>
              </p:nvPicPr>
              <p:blipFill rotWithShape="1">
                <a:blip r:embed="rId3">
                  <a:extLst>
                    <a:ext uri="{28A0092B-C50C-407E-A947-70E740481C1C}">
                      <a14:useLocalDpi xmlns:a14="http://schemas.microsoft.com/office/drawing/2010/main" val="0"/>
                    </a:ext>
                  </a:extLst>
                </a:blip>
                <a:srcRect l="83590" t="60254" r="9538" b="23145"/>
                <a:stretch/>
              </p:blipFill>
              <p:spPr>
                <a:xfrm>
                  <a:off x="5483299" y="1771994"/>
                  <a:ext cx="489944" cy="645551"/>
                </a:xfrm>
                <a:prstGeom prst="rect">
                  <a:avLst/>
                </a:prstGeom>
              </p:spPr>
            </p:pic>
          </p:grpSp>
          <p:sp>
            <p:nvSpPr>
              <p:cNvPr id="36" name="Rectangle 35">
                <a:extLst>
                  <a:ext uri="{FF2B5EF4-FFF2-40B4-BE49-F238E27FC236}">
                    <a16:creationId xmlns:a16="http://schemas.microsoft.com/office/drawing/2014/main" id="{8AC40F2B-F16B-7088-C24E-0326357CA90A}"/>
                  </a:ext>
                </a:extLst>
              </p:cNvPr>
              <p:cNvSpPr/>
              <p:nvPr/>
            </p:nvSpPr>
            <p:spPr>
              <a:xfrm>
                <a:off x="7270499" y="1014331"/>
                <a:ext cx="582757" cy="22903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8" name="Oval 37">
                <a:extLst>
                  <a:ext uri="{FF2B5EF4-FFF2-40B4-BE49-F238E27FC236}">
                    <a16:creationId xmlns:a16="http://schemas.microsoft.com/office/drawing/2014/main" id="{113553F3-9A8A-6DAF-1055-4AEC3ECC4755}"/>
                  </a:ext>
                </a:extLst>
              </p:cNvPr>
              <p:cNvSpPr/>
              <p:nvPr/>
            </p:nvSpPr>
            <p:spPr>
              <a:xfrm>
                <a:off x="7065915" y="824707"/>
                <a:ext cx="991923" cy="17549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YBX1</a:t>
                </a:r>
                <a:endParaRPr lang="en-CN" sz="900" dirty="0">
                  <a:solidFill>
                    <a:schemeClr val="tx1"/>
                  </a:solidFill>
                </a:endParaRPr>
              </a:p>
            </p:txBody>
          </p:sp>
        </p:grpSp>
      </p:grpSp>
      <p:sp>
        <p:nvSpPr>
          <p:cNvPr id="45" name="Rectangle 44">
            <a:extLst>
              <a:ext uri="{FF2B5EF4-FFF2-40B4-BE49-F238E27FC236}">
                <a16:creationId xmlns:a16="http://schemas.microsoft.com/office/drawing/2014/main" id="{AD637404-2F7A-B273-CC56-3E542F9912C0}"/>
              </a:ext>
            </a:extLst>
          </p:cNvPr>
          <p:cNvSpPr/>
          <p:nvPr/>
        </p:nvSpPr>
        <p:spPr>
          <a:xfrm>
            <a:off x="7195942" y="3386348"/>
            <a:ext cx="1171575" cy="69294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solidFill>
                <a:schemeClr val="tx1"/>
              </a:solidFill>
            </a:endParaRPr>
          </a:p>
        </p:txBody>
      </p:sp>
    </p:spTree>
    <p:extLst>
      <p:ext uri="{BB962C8B-B14F-4D97-AF65-F5344CB8AC3E}">
        <p14:creationId xmlns:p14="http://schemas.microsoft.com/office/powerpoint/2010/main" val="1054116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CustomShape 1"/>
          <p:cNvSpPr/>
          <p:nvPr/>
        </p:nvSpPr>
        <p:spPr>
          <a:xfrm>
            <a:off x="373320" y="751386"/>
            <a:ext cx="8564760" cy="85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dirty="0">
                <a:solidFill>
                  <a:srgbClr val="000000"/>
                </a:solidFill>
                <a:latin typeface="Arial"/>
                <a:ea typeface="DejaVu Sans"/>
              </a:rPr>
              <a:t>NLRC5: NOD-like receptor family CARD domain containing 5 </a:t>
            </a:r>
          </a:p>
          <a:p>
            <a:pPr>
              <a:lnSpc>
                <a:spcPct val="100000"/>
              </a:lnSpc>
            </a:pPr>
            <a:r>
              <a:rPr lang="en-US" sz="1400" spc="-1" dirty="0">
                <a:solidFill>
                  <a:srgbClr val="000000"/>
                </a:solidFill>
                <a:latin typeface="Arial"/>
                <a:ea typeface="DejaVu Sans"/>
              </a:rPr>
              <a:t>              </a:t>
            </a:r>
            <a:r>
              <a:rPr lang="en-US" sz="1400" b="0" strike="noStrike" spc="-1" dirty="0">
                <a:solidFill>
                  <a:srgbClr val="000000"/>
                </a:solidFill>
                <a:latin typeface="Arial"/>
                <a:ea typeface="DejaVu Sans"/>
              </a:rPr>
              <a:t>a cytosolic pathogen recognition receptor</a:t>
            </a:r>
            <a:endParaRPr lang="en-US" sz="1400" b="0" strike="noStrike" spc="-1" dirty="0">
              <a:latin typeface="Arial"/>
            </a:endParaRPr>
          </a:p>
        </p:txBody>
      </p:sp>
      <p:sp>
        <p:nvSpPr>
          <p:cNvPr id="310" name="CustomShape 2"/>
          <p:cNvSpPr/>
          <p:nvPr/>
        </p:nvSpPr>
        <p:spPr>
          <a:xfrm>
            <a:off x="373320" y="274320"/>
            <a:ext cx="4767629" cy="367878"/>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1" strike="noStrike" spc="-1" dirty="0">
                <a:solidFill>
                  <a:srgbClr val="000000"/>
                </a:solidFill>
                <a:latin typeface="Arial"/>
                <a:ea typeface="DejaVu Sans"/>
              </a:rPr>
              <a:t>Exon skipping results in truncated NLRC5</a:t>
            </a:r>
            <a:endParaRPr lang="en-US" sz="1800" b="0" strike="noStrike" spc="-1" dirty="0">
              <a:latin typeface="Arial"/>
            </a:endParaRPr>
          </a:p>
        </p:txBody>
      </p:sp>
      <p:sp>
        <p:nvSpPr>
          <p:cNvPr id="311" name="CustomShape 3"/>
          <p:cNvSpPr/>
          <p:nvPr/>
        </p:nvSpPr>
        <p:spPr>
          <a:xfrm>
            <a:off x="8258760" y="4809240"/>
            <a:ext cx="561600" cy="122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endParaRPr lang="en-US" sz="1000" b="0" strike="noStrike" spc="-1" dirty="0">
              <a:latin typeface="Arial"/>
            </a:endParaRPr>
          </a:p>
        </p:txBody>
      </p:sp>
      <p:grpSp>
        <p:nvGrpSpPr>
          <p:cNvPr id="4" name="Group 10">
            <a:extLst>
              <a:ext uri="{FF2B5EF4-FFF2-40B4-BE49-F238E27FC236}">
                <a16:creationId xmlns:a16="http://schemas.microsoft.com/office/drawing/2014/main" id="{74C33FAF-8CC6-0E10-B5D1-4E955285AE80}"/>
              </a:ext>
            </a:extLst>
          </p:cNvPr>
          <p:cNvGrpSpPr/>
          <p:nvPr/>
        </p:nvGrpSpPr>
        <p:grpSpPr>
          <a:xfrm>
            <a:off x="5848879" y="2449231"/>
            <a:ext cx="3231507" cy="1281472"/>
            <a:chOff x="505080" y="4779720"/>
            <a:chExt cx="3450960" cy="1281472"/>
          </a:xfrm>
        </p:grpSpPr>
        <p:sp>
          <p:nvSpPr>
            <p:cNvPr id="5" name="CustomShape 11">
              <a:extLst>
                <a:ext uri="{FF2B5EF4-FFF2-40B4-BE49-F238E27FC236}">
                  <a16:creationId xmlns:a16="http://schemas.microsoft.com/office/drawing/2014/main" id="{B0A77983-9034-D880-2C4C-04317C644A26}"/>
                </a:ext>
              </a:extLst>
            </p:cNvPr>
            <p:cNvSpPr/>
            <p:nvPr/>
          </p:nvSpPr>
          <p:spPr>
            <a:xfrm>
              <a:off x="1662120" y="4860762"/>
              <a:ext cx="2019600" cy="97200"/>
            </a:xfrm>
            <a:prstGeom prst="rect">
              <a:avLst/>
            </a:prstGeom>
            <a:solidFill>
              <a:srgbClr val="808080"/>
            </a:solidFill>
            <a:ln>
              <a:noFill/>
            </a:ln>
          </p:spPr>
          <p:style>
            <a:lnRef idx="0">
              <a:scrgbClr r="0" g="0" b="0"/>
            </a:lnRef>
            <a:fillRef idx="0">
              <a:scrgbClr r="0" g="0" b="0"/>
            </a:fillRef>
            <a:effectRef idx="0">
              <a:scrgbClr r="0" g="0" b="0"/>
            </a:effectRef>
            <a:fontRef idx="minor"/>
          </p:style>
        </p:sp>
        <p:sp>
          <p:nvSpPr>
            <p:cNvPr id="6" name="CustomShape 12">
              <a:extLst>
                <a:ext uri="{FF2B5EF4-FFF2-40B4-BE49-F238E27FC236}">
                  <a16:creationId xmlns:a16="http://schemas.microsoft.com/office/drawing/2014/main" id="{0C3AD9BF-38AB-079C-135D-A811256E9E16}"/>
                </a:ext>
              </a:extLst>
            </p:cNvPr>
            <p:cNvSpPr/>
            <p:nvPr/>
          </p:nvSpPr>
          <p:spPr>
            <a:xfrm>
              <a:off x="2128320" y="4799520"/>
              <a:ext cx="273240" cy="217800"/>
            </a:xfrm>
            <a:prstGeom prst="rect">
              <a:avLst/>
            </a:prstGeom>
            <a:solidFill>
              <a:srgbClr val="729FCF"/>
            </a:solidFill>
            <a:ln>
              <a:solidFill>
                <a:srgbClr val="729FCF"/>
              </a:solidFill>
            </a:ln>
          </p:spPr>
          <p:style>
            <a:lnRef idx="0">
              <a:scrgbClr r="0" g="0" b="0"/>
            </a:lnRef>
            <a:fillRef idx="0">
              <a:scrgbClr r="0" g="0" b="0"/>
            </a:fillRef>
            <a:effectRef idx="0">
              <a:scrgbClr r="0" g="0" b="0"/>
            </a:effectRef>
            <a:fontRef idx="minor"/>
          </p:style>
        </p:sp>
        <p:sp>
          <p:nvSpPr>
            <p:cNvPr id="7" name="CustomShape 13">
              <a:extLst>
                <a:ext uri="{FF2B5EF4-FFF2-40B4-BE49-F238E27FC236}">
                  <a16:creationId xmlns:a16="http://schemas.microsoft.com/office/drawing/2014/main" id="{8223CBF1-7174-6A45-7DCD-BE489733547C}"/>
                </a:ext>
              </a:extLst>
            </p:cNvPr>
            <p:cNvSpPr/>
            <p:nvPr/>
          </p:nvSpPr>
          <p:spPr>
            <a:xfrm>
              <a:off x="2676960" y="4780080"/>
              <a:ext cx="181800" cy="217800"/>
            </a:xfrm>
            <a:prstGeom prst="rect">
              <a:avLst/>
            </a:prstGeom>
            <a:solidFill>
              <a:srgbClr val="FFD74C"/>
            </a:solidFill>
            <a:ln>
              <a:solidFill>
                <a:srgbClr val="FFD74C"/>
              </a:solidFill>
            </a:ln>
          </p:spPr>
          <p:style>
            <a:lnRef idx="0">
              <a:scrgbClr r="0" g="0" b="0"/>
            </a:lnRef>
            <a:fillRef idx="0">
              <a:scrgbClr r="0" g="0" b="0"/>
            </a:fillRef>
            <a:effectRef idx="0">
              <a:scrgbClr r="0" g="0" b="0"/>
            </a:effectRef>
            <a:fontRef idx="minor"/>
          </p:style>
        </p:sp>
        <p:sp>
          <p:nvSpPr>
            <p:cNvPr id="8" name="CustomShape 14">
              <a:extLst>
                <a:ext uri="{FF2B5EF4-FFF2-40B4-BE49-F238E27FC236}">
                  <a16:creationId xmlns:a16="http://schemas.microsoft.com/office/drawing/2014/main" id="{DD6ECAFA-13C6-CE08-F6F2-B0B756B5A9D5}"/>
                </a:ext>
              </a:extLst>
            </p:cNvPr>
            <p:cNvSpPr/>
            <p:nvPr/>
          </p:nvSpPr>
          <p:spPr>
            <a:xfrm>
              <a:off x="2892960" y="4780080"/>
              <a:ext cx="148680" cy="217800"/>
            </a:xfrm>
            <a:prstGeom prst="rect">
              <a:avLst/>
            </a:prstGeom>
            <a:solidFill>
              <a:srgbClr val="FFD74C"/>
            </a:solidFill>
            <a:ln>
              <a:solidFill>
                <a:srgbClr val="FFD74C"/>
              </a:solidFill>
            </a:ln>
          </p:spPr>
          <p:style>
            <a:lnRef idx="0">
              <a:scrgbClr r="0" g="0" b="0"/>
            </a:lnRef>
            <a:fillRef idx="0">
              <a:scrgbClr r="0" g="0" b="0"/>
            </a:fillRef>
            <a:effectRef idx="0">
              <a:scrgbClr r="0" g="0" b="0"/>
            </a:effectRef>
            <a:fontRef idx="minor"/>
          </p:style>
        </p:sp>
        <p:sp>
          <p:nvSpPr>
            <p:cNvPr id="9" name="CustomShape 15">
              <a:extLst>
                <a:ext uri="{FF2B5EF4-FFF2-40B4-BE49-F238E27FC236}">
                  <a16:creationId xmlns:a16="http://schemas.microsoft.com/office/drawing/2014/main" id="{0E3C920B-9FF4-6988-B40F-B2F3794B4E1A}"/>
                </a:ext>
              </a:extLst>
            </p:cNvPr>
            <p:cNvSpPr/>
            <p:nvPr/>
          </p:nvSpPr>
          <p:spPr>
            <a:xfrm>
              <a:off x="3072960" y="4780080"/>
              <a:ext cx="60120" cy="217800"/>
            </a:xfrm>
            <a:prstGeom prst="rect">
              <a:avLst/>
            </a:prstGeom>
            <a:solidFill>
              <a:srgbClr val="FFD74C"/>
            </a:solidFill>
            <a:ln>
              <a:solidFill>
                <a:srgbClr val="FFD74C"/>
              </a:solidFill>
            </a:ln>
          </p:spPr>
          <p:style>
            <a:lnRef idx="0">
              <a:scrgbClr r="0" g="0" b="0"/>
            </a:lnRef>
            <a:fillRef idx="0">
              <a:scrgbClr r="0" g="0" b="0"/>
            </a:fillRef>
            <a:effectRef idx="0">
              <a:scrgbClr r="0" g="0" b="0"/>
            </a:effectRef>
            <a:fontRef idx="minor"/>
          </p:style>
        </p:sp>
        <p:sp>
          <p:nvSpPr>
            <p:cNvPr id="10" name="CustomShape 16">
              <a:extLst>
                <a:ext uri="{FF2B5EF4-FFF2-40B4-BE49-F238E27FC236}">
                  <a16:creationId xmlns:a16="http://schemas.microsoft.com/office/drawing/2014/main" id="{C0BDDAD8-8736-B0BB-D391-700B676F4A4C}"/>
                </a:ext>
              </a:extLst>
            </p:cNvPr>
            <p:cNvSpPr/>
            <p:nvPr/>
          </p:nvSpPr>
          <p:spPr>
            <a:xfrm>
              <a:off x="3180960" y="4780080"/>
              <a:ext cx="60120" cy="217800"/>
            </a:xfrm>
            <a:prstGeom prst="rect">
              <a:avLst/>
            </a:prstGeom>
            <a:solidFill>
              <a:srgbClr val="FFD74C"/>
            </a:solidFill>
            <a:ln>
              <a:solidFill>
                <a:srgbClr val="FFD74C"/>
              </a:solidFill>
            </a:ln>
          </p:spPr>
          <p:style>
            <a:lnRef idx="0">
              <a:scrgbClr r="0" g="0" b="0"/>
            </a:lnRef>
            <a:fillRef idx="0">
              <a:scrgbClr r="0" g="0" b="0"/>
            </a:fillRef>
            <a:effectRef idx="0">
              <a:scrgbClr r="0" g="0" b="0"/>
            </a:effectRef>
            <a:fontRef idx="minor"/>
          </p:style>
        </p:sp>
        <p:sp>
          <p:nvSpPr>
            <p:cNvPr id="11" name="CustomShape 17">
              <a:extLst>
                <a:ext uri="{FF2B5EF4-FFF2-40B4-BE49-F238E27FC236}">
                  <a16:creationId xmlns:a16="http://schemas.microsoft.com/office/drawing/2014/main" id="{3AE89C15-5F60-8821-3214-E20E8EA9C04E}"/>
                </a:ext>
              </a:extLst>
            </p:cNvPr>
            <p:cNvSpPr/>
            <p:nvPr/>
          </p:nvSpPr>
          <p:spPr>
            <a:xfrm>
              <a:off x="3360960" y="4780080"/>
              <a:ext cx="60120" cy="217800"/>
            </a:xfrm>
            <a:prstGeom prst="rect">
              <a:avLst/>
            </a:prstGeom>
            <a:solidFill>
              <a:srgbClr val="FF4C4C"/>
            </a:solidFill>
            <a:ln>
              <a:solidFill>
                <a:srgbClr val="FF4C4C"/>
              </a:solidFill>
            </a:ln>
          </p:spPr>
          <p:style>
            <a:lnRef idx="0">
              <a:scrgbClr r="0" g="0" b="0"/>
            </a:lnRef>
            <a:fillRef idx="0">
              <a:scrgbClr r="0" g="0" b="0"/>
            </a:fillRef>
            <a:effectRef idx="0">
              <a:scrgbClr r="0" g="0" b="0"/>
            </a:effectRef>
            <a:fontRef idx="minor"/>
          </p:style>
        </p:sp>
        <p:sp>
          <p:nvSpPr>
            <p:cNvPr id="12" name="CustomShape 18">
              <a:extLst>
                <a:ext uri="{FF2B5EF4-FFF2-40B4-BE49-F238E27FC236}">
                  <a16:creationId xmlns:a16="http://schemas.microsoft.com/office/drawing/2014/main" id="{D472BF7A-5F19-0D0D-6501-E4C8E3E5BB58}"/>
                </a:ext>
              </a:extLst>
            </p:cNvPr>
            <p:cNvSpPr/>
            <p:nvPr/>
          </p:nvSpPr>
          <p:spPr>
            <a:xfrm>
              <a:off x="1662120" y="5179383"/>
              <a:ext cx="1653840" cy="107640"/>
            </a:xfrm>
            <a:prstGeom prst="rect">
              <a:avLst/>
            </a:prstGeom>
            <a:solidFill>
              <a:srgbClr val="808080"/>
            </a:solidFill>
            <a:ln>
              <a:noFill/>
            </a:ln>
          </p:spPr>
          <p:style>
            <a:lnRef idx="0">
              <a:scrgbClr r="0" g="0" b="0"/>
            </a:lnRef>
            <a:fillRef idx="0">
              <a:scrgbClr r="0" g="0" b="0"/>
            </a:fillRef>
            <a:effectRef idx="0">
              <a:scrgbClr r="0" g="0" b="0"/>
            </a:effectRef>
            <a:fontRef idx="minor"/>
          </p:style>
        </p:sp>
        <p:sp>
          <p:nvSpPr>
            <p:cNvPr id="13" name="CustomShape 19">
              <a:extLst>
                <a:ext uri="{FF2B5EF4-FFF2-40B4-BE49-F238E27FC236}">
                  <a16:creationId xmlns:a16="http://schemas.microsoft.com/office/drawing/2014/main" id="{425C8BB5-4C73-D45B-1D9C-2AC10FB4F319}"/>
                </a:ext>
              </a:extLst>
            </p:cNvPr>
            <p:cNvSpPr/>
            <p:nvPr/>
          </p:nvSpPr>
          <p:spPr>
            <a:xfrm>
              <a:off x="2128320" y="5123520"/>
              <a:ext cx="273240" cy="217800"/>
            </a:xfrm>
            <a:prstGeom prst="rect">
              <a:avLst/>
            </a:prstGeom>
            <a:solidFill>
              <a:srgbClr val="729FCF"/>
            </a:solidFill>
            <a:ln>
              <a:solidFill>
                <a:srgbClr val="729FCF"/>
              </a:solidFill>
            </a:ln>
          </p:spPr>
          <p:style>
            <a:lnRef idx="0">
              <a:scrgbClr r="0" g="0" b="0"/>
            </a:lnRef>
            <a:fillRef idx="0">
              <a:scrgbClr r="0" g="0" b="0"/>
            </a:fillRef>
            <a:effectRef idx="0">
              <a:scrgbClr r="0" g="0" b="0"/>
            </a:effectRef>
            <a:fontRef idx="minor"/>
          </p:style>
        </p:sp>
        <p:sp>
          <p:nvSpPr>
            <p:cNvPr id="14" name="CustomShape 20">
              <a:extLst>
                <a:ext uri="{FF2B5EF4-FFF2-40B4-BE49-F238E27FC236}">
                  <a16:creationId xmlns:a16="http://schemas.microsoft.com/office/drawing/2014/main" id="{B9989112-3F4B-F341-E1A8-81A20C9FCA6F}"/>
                </a:ext>
              </a:extLst>
            </p:cNvPr>
            <p:cNvSpPr/>
            <p:nvPr/>
          </p:nvSpPr>
          <p:spPr>
            <a:xfrm>
              <a:off x="2676960" y="5104080"/>
              <a:ext cx="181800" cy="217800"/>
            </a:xfrm>
            <a:prstGeom prst="rect">
              <a:avLst/>
            </a:prstGeom>
            <a:solidFill>
              <a:srgbClr val="FFD74C"/>
            </a:solidFill>
            <a:ln>
              <a:solidFill>
                <a:srgbClr val="FFD74C"/>
              </a:solidFill>
            </a:ln>
          </p:spPr>
          <p:style>
            <a:lnRef idx="0">
              <a:scrgbClr r="0" g="0" b="0"/>
            </a:lnRef>
            <a:fillRef idx="0">
              <a:scrgbClr r="0" g="0" b="0"/>
            </a:fillRef>
            <a:effectRef idx="0">
              <a:scrgbClr r="0" g="0" b="0"/>
            </a:effectRef>
            <a:fontRef idx="minor"/>
          </p:style>
        </p:sp>
        <p:sp>
          <p:nvSpPr>
            <p:cNvPr id="15" name="CustomShape 21">
              <a:extLst>
                <a:ext uri="{FF2B5EF4-FFF2-40B4-BE49-F238E27FC236}">
                  <a16:creationId xmlns:a16="http://schemas.microsoft.com/office/drawing/2014/main" id="{3033928B-3DEC-3D3E-5306-74507AF01BBB}"/>
                </a:ext>
              </a:extLst>
            </p:cNvPr>
            <p:cNvSpPr/>
            <p:nvPr/>
          </p:nvSpPr>
          <p:spPr>
            <a:xfrm>
              <a:off x="2892960" y="5104080"/>
              <a:ext cx="148680" cy="217800"/>
            </a:xfrm>
            <a:prstGeom prst="rect">
              <a:avLst/>
            </a:prstGeom>
            <a:solidFill>
              <a:srgbClr val="FFD74C"/>
            </a:solidFill>
            <a:ln>
              <a:solidFill>
                <a:srgbClr val="FFD74C"/>
              </a:solidFill>
            </a:ln>
          </p:spPr>
          <p:style>
            <a:lnRef idx="0">
              <a:scrgbClr r="0" g="0" b="0"/>
            </a:lnRef>
            <a:fillRef idx="0">
              <a:scrgbClr r="0" g="0" b="0"/>
            </a:fillRef>
            <a:effectRef idx="0">
              <a:scrgbClr r="0" g="0" b="0"/>
            </a:effectRef>
            <a:fontRef idx="minor"/>
          </p:style>
        </p:sp>
        <p:sp>
          <p:nvSpPr>
            <p:cNvPr id="16" name="CustomShape 22">
              <a:extLst>
                <a:ext uri="{FF2B5EF4-FFF2-40B4-BE49-F238E27FC236}">
                  <a16:creationId xmlns:a16="http://schemas.microsoft.com/office/drawing/2014/main" id="{3E987AEB-67ED-9344-5B65-45082EB1A818}"/>
                </a:ext>
              </a:extLst>
            </p:cNvPr>
            <p:cNvSpPr/>
            <p:nvPr/>
          </p:nvSpPr>
          <p:spPr>
            <a:xfrm>
              <a:off x="3072960" y="5104080"/>
              <a:ext cx="60120" cy="217800"/>
            </a:xfrm>
            <a:prstGeom prst="rect">
              <a:avLst/>
            </a:prstGeom>
            <a:solidFill>
              <a:srgbClr val="FFD74C"/>
            </a:solidFill>
            <a:ln>
              <a:solidFill>
                <a:srgbClr val="FFD74C"/>
              </a:solidFill>
            </a:ln>
          </p:spPr>
          <p:style>
            <a:lnRef idx="0">
              <a:scrgbClr r="0" g="0" b="0"/>
            </a:lnRef>
            <a:fillRef idx="0">
              <a:scrgbClr r="0" g="0" b="0"/>
            </a:fillRef>
            <a:effectRef idx="0">
              <a:scrgbClr r="0" g="0" b="0"/>
            </a:effectRef>
            <a:fontRef idx="minor"/>
          </p:style>
        </p:sp>
        <p:sp>
          <p:nvSpPr>
            <p:cNvPr id="17" name="CustomShape 23">
              <a:extLst>
                <a:ext uri="{FF2B5EF4-FFF2-40B4-BE49-F238E27FC236}">
                  <a16:creationId xmlns:a16="http://schemas.microsoft.com/office/drawing/2014/main" id="{7213707C-781E-69C4-247E-17F05A118614}"/>
                </a:ext>
              </a:extLst>
            </p:cNvPr>
            <p:cNvSpPr/>
            <p:nvPr/>
          </p:nvSpPr>
          <p:spPr>
            <a:xfrm>
              <a:off x="3180960" y="5104080"/>
              <a:ext cx="60120" cy="217800"/>
            </a:xfrm>
            <a:prstGeom prst="rect">
              <a:avLst/>
            </a:prstGeom>
            <a:solidFill>
              <a:srgbClr val="FFD74C"/>
            </a:solidFill>
            <a:ln>
              <a:solidFill>
                <a:srgbClr val="FFD74C"/>
              </a:solidFill>
            </a:ln>
          </p:spPr>
          <p:style>
            <a:lnRef idx="0">
              <a:scrgbClr r="0" g="0" b="0"/>
            </a:lnRef>
            <a:fillRef idx="0">
              <a:scrgbClr r="0" g="0" b="0"/>
            </a:fillRef>
            <a:effectRef idx="0">
              <a:scrgbClr r="0" g="0" b="0"/>
            </a:effectRef>
            <a:fontRef idx="minor"/>
          </p:style>
        </p:sp>
        <p:sp>
          <p:nvSpPr>
            <p:cNvPr id="18" name="CustomShape 24">
              <a:extLst>
                <a:ext uri="{FF2B5EF4-FFF2-40B4-BE49-F238E27FC236}">
                  <a16:creationId xmlns:a16="http://schemas.microsoft.com/office/drawing/2014/main" id="{EAF6318C-8F68-D70B-C532-0864DF623DE4}"/>
                </a:ext>
              </a:extLst>
            </p:cNvPr>
            <p:cNvSpPr/>
            <p:nvPr/>
          </p:nvSpPr>
          <p:spPr>
            <a:xfrm>
              <a:off x="1677602" y="5513632"/>
              <a:ext cx="60120" cy="112680"/>
            </a:xfrm>
            <a:prstGeom prst="rect">
              <a:avLst/>
            </a:prstGeom>
            <a:solidFill>
              <a:srgbClr val="729FCF"/>
            </a:solidFill>
            <a:ln>
              <a:solidFill>
                <a:srgbClr val="729FCF"/>
              </a:solidFill>
            </a:ln>
          </p:spPr>
          <p:style>
            <a:lnRef idx="0">
              <a:scrgbClr r="0" g="0" b="0"/>
            </a:lnRef>
            <a:fillRef idx="0">
              <a:scrgbClr r="0" g="0" b="0"/>
            </a:fillRef>
            <a:effectRef idx="0">
              <a:scrgbClr r="0" g="0" b="0"/>
            </a:effectRef>
            <a:fontRef idx="minor"/>
          </p:style>
        </p:sp>
        <p:sp>
          <p:nvSpPr>
            <p:cNvPr id="19" name="CustomShape 25">
              <a:extLst>
                <a:ext uri="{FF2B5EF4-FFF2-40B4-BE49-F238E27FC236}">
                  <a16:creationId xmlns:a16="http://schemas.microsoft.com/office/drawing/2014/main" id="{24E11064-40B0-C423-68AE-44E041D38A20}"/>
                </a:ext>
              </a:extLst>
            </p:cNvPr>
            <p:cNvSpPr/>
            <p:nvPr/>
          </p:nvSpPr>
          <p:spPr>
            <a:xfrm>
              <a:off x="1677602" y="5695432"/>
              <a:ext cx="60120" cy="112680"/>
            </a:xfrm>
            <a:prstGeom prst="rect">
              <a:avLst/>
            </a:prstGeom>
            <a:solidFill>
              <a:srgbClr val="FFD74C"/>
            </a:solidFill>
            <a:ln>
              <a:solidFill>
                <a:srgbClr val="FFD74C"/>
              </a:solidFill>
            </a:ln>
          </p:spPr>
          <p:style>
            <a:lnRef idx="0">
              <a:scrgbClr r="0" g="0" b="0"/>
            </a:lnRef>
            <a:fillRef idx="0">
              <a:scrgbClr r="0" g="0" b="0"/>
            </a:fillRef>
            <a:effectRef idx="0">
              <a:scrgbClr r="0" g="0" b="0"/>
            </a:effectRef>
            <a:fontRef idx="minor"/>
          </p:style>
        </p:sp>
        <p:sp>
          <p:nvSpPr>
            <p:cNvPr id="20" name="CustomShape 26">
              <a:extLst>
                <a:ext uri="{FF2B5EF4-FFF2-40B4-BE49-F238E27FC236}">
                  <a16:creationId xmlns:a16="http://schemas.microsoft.com/office/drawing/2014/main" id="{218C6BC6-E778-46AE-B437-7989BBEEFEA8}"/>
                </a:ext>
              </a:extLst>
            </p:cNvPr>
            <p:cNvSpPr/>
            <p:nvPr/>
          </p:nvSpPr>
          <p:spPr>
            <a:xfrm>
              <a:off x="1677602" y="5878672"/>
              <a:ext cx="60120" cy="112680"/>
            </a:xfrm>
            <a:prstGeom prst="rect">
              <a:avLst/>
            </a:prstGeom>
            <a:solidFill>
              <a:srgbClr val="FF4C4C"/>
            </a:solidFill>
            <a:ln>
              <a:solidFill>
                <a:srgbClr val="FF4C4C"/>
              </a:solidFill>
            </a:ln>
          </p:spPr>
          <p:style>
            <a:lnRef idx="0">
              <a:scrgbClr r="0" g="0" b="0"/>
            </a:lnRef>
            <a:fillRef idx="0">
              <a:scrgbClr r="0" g="0" b="0"/>
            </a:fillRef>
            <a:effectRef idx="0">
              <a:scrgbClr r="0" g="0" b="0"/>
            </a:effectRef>
            <a:fontRef idx="minor"/>
          </p:style>
        </p:sp>
        <p:sp>
          <p:nvSpPr>
            <p:cNvPr id="21" name="CustomShape 27">
              <a:extLst>
                <a:ext uri="{FF2B5EF4-FFF2-40B4-BE49-F238E27FC236}">
                  <a16:creationId xmlns:a16="http://schemas.microsoft.com/office/drawing/2014/main" id="{B3E37561-9AEF-FADA-56B4-5679B2B9CB27}"/>
                </a:ext>
              </a:extLst>
            </p:cNvPr>
            <p:cNvSpPr/>
            <p:nvPr/>
          </p:nvSpPr>
          <p:spPr>
            <a:xfrm>
              <a:off x="1701001" y="5464312"/>
              <a:ext cx="1157760" cy="231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000" b="0" strike="noStrike" spc="-1" dirty="0">
                  <a:solidFill>
                    <a:srgbClr val="000000"/>
                  </a:solidFill>
                  <a:latin typeface="Arial"/>
                  <a:ea typeface="DejaVu Sans"/>
                </a:rPr>
                <a:t>NACHT</a:t>
              </a:r>
              <a:endParaRPr lang="en-US" sz="1000" b="0" strike="noStrike" spc="-1" dirty="0">
                <a:latin typeface="Arial"/>
              </a:endParaRPr>
            </a:p>
          </p:txBody>
        </p:sp>
        <p:sp>
          <p:nvSpPr>
            <p:cNvPr id="22" name="CustomShape 28">
              <a:extLst>
                <a:ext uri="{FF2B5EF4-FFF2-40B4-BE49-F238E27FC236}">
                  <a16:creationId xmlns:a16="http://schemas.microsoft.com/office/drawing/2014/main" id="{DEF785F0-CF0E-901A-3FE7-A40934B1FC27}"/>
                </a:ext>
              </a:extLst>
            </p:cNvPr>
            <p:cNvSpPr/>
            <p:nvPr/>
          </p:nvSpPr>
          <p:spPr>
            <a:xfrm>
              <a:off x="1715041" y="5646472"/>
              <a:ext cx="1287720" cy="231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000" b="0" strike="noStrike" spc="-1" dirty="0">
                  <a:solidFill>
                    <a:srgbClr val="000000"/>
                  </a:solidFill>
                  <a:latin typeface="Arial"/>
                  <a:ea typeface="DejaVu Sans"/>
                </a:rPr>
                <a:t>RNI-like</a:t>
              </a:r>
              <a:endParaRPr lang="en-US" sz="1000" b="0" strike="noStrike" spc="-1" dirty="0">
                <a:latin typeface="Arial"/>
              </a:endParaRPr>
            </a:p>
          </p:txBody>
        </p:sp>
        <p:sp>
          <p:nvSpPr>
            <p:cNvPr id="23" name="CustomShape 29">
              <a:extLst>
                <a:ext uri="{FF2B5EF4-FFF2-40B4-BE49-F238E27FC236}">
                  <a16:creationId xmlns:a16="http://schemas.microsoft.com/office/drawing/2014/main" id="{C5BF2EE6-456D-2C65-2626-02DBA6427CB5}"/>
                </a:ext>
              </a:extLst>
            </p:cNvPr>
            <p:cNvSpPr/>
            <p:nvPr/>
          </p:nvSpPr>
          <p:spPr>
            <a:xfrm>
              <a:off x="1703880" y="5830072"/>
              <a:ext cx="2097407" cy="231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000" b="0" strike="noStrike" spc="-1" dirty="0">
                  <a:solidFill>
                    <a:srgbClr val="000000"/>
                  </a:solidFill>
                  <a:latin typeface="Arial"/>
                  <a:ea typeface="DejaVu Sans"/>
                </a:rPr>
                <a:t>Substrate Binding Site</a:t>
              </a:r>
              <a:endParaRPr lang="en-US" sz="1000" b="0" strike="noStrike" spc="-1" dirty="0">
                <a:latin typeface="Arial"/>
              </a:endParaRPr>
            </a:p>
          </p:txBody>
        </p:sp>
        <p:sp>
          <p:nvSpPr>
            <p:cNvPr id="24" name="CustomShape 30">
              <a:extLst>
                <a:ext uri="{FF2B5EF4-FFF2-40B4-BE49-F238E27FC236}">
                  <a16:creationId xmlns:a16="http://schemas.microsoft.com/office/drawing/2014/main" id="{EB95A19A-9B32-3DCF-69F2-7D57BD2C23DB}"/>
                </a:ext>
              </a:extLst>
            </p:cNvPr>
            <p:cNvSpPr/>
            <p:nvPr/>
          </p:nvSpPr>
          <p:spPr>
            <a:xfrm>
              <a:off x="1385640" y="4799520"/>
              <a:ext cx="275760" cy="237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050" b="0" strike="noStrike" spc="-1">
                  <a:solidFill>
                    <a:srgbClr val="000000"/>
                  </a:solidFill>
                  <a:latin typeface="Arial"/>
                  <a:ea typeface="DejaVu Sans"/>
                </a:rPr>
                <a:t>N</a:t>
              </a:r>
              <a:endParaRPr lang="en-US" sz="1050" b="0" strike="noStrike" spc="-1">
                <a:latin typeface="Arial"/>
              </a:endParaRPr>
            </a:p>
          </p:txBody>
        </p:sp>
        <p:sp>
          <p:nvSpPr>
            <p:cNvPr id="25" name="CustomShape 31">
              <a:extLst>
                <a:ext uri="{FF2B5EF4-FFF2-40B4-BE49-F238E27FC236}">
                  <a16:creationId xmlns:a16="http://schemas.microsoft.com/office/drawing/2014/main" id="{2EDD21BE-88DE-9D40-AB4B-6F293680B886}"/>
                </a:ext>
              </a:extLst>
            </p:cNvPr>
            <p:cNvSpPr/>
            <p:nvPr/>
          </p:nvSpPr>
          <p:spPr>
            <a:xfrm>
              <a:off x="1386000" y="5123520"/>
              <a:ext cx="275760" cy="237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050" b="0" strike="noStrike" spc="-1">
                  <a:solidFill>
                    <a:srgbClr val="000000"/>
                  </a:solidFill>
                  <a:latin typeface="Arial"/>
                  <a:ea typeface="DejaVu Sans"/>
                </a:rPr>
                <a:t>N</a:t>
              </a:r>
              <a:endParaRPr lang="en-US" sz="1050" b="0" strike="noStrike" spc="-1">
                <a:latin typeface="Arial"/>
              </a:endParaRPr>
            </a:p>
          </p:txBody>
        </p:sp>
        <p:sp>
          <p:nvSpPr>
            <p:cNvPr id="26" name="CustomShape 32">
              <a:extLst>
                <a:ext uri="{FF2B5EF4-FFF2-40B4-BE49-F238E27FC236}">
                  <a16:creationId xmlns:a16="http://schemas.microsoft.com/office/drawing/2014/main" id="{CBDCCF52-F3AF-AA49-6EA8-5090CA74E56F}"/>
                </a:ext>
              </a:extLst>
            </p:cNvPr>
            <p:cNvSpPr/>
            <p:nvPr/>
          </p:nvSpPr>
          <p:spPr>
            <a:xfrm>
              <a:off x="3314520" y="5109840"/>
              <a:ext cx="275760" cy="237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050" b="0" strike="noStrike" spc="-1">
                  <a:solidFill>
                    <a:srgbClr val="000000"/>
                  </a:solidFill>
                  <a:latin typeface="Arial"/>
                  <a:ea typeface="DejaVu Sans"/>
                </a:rPr>
                <a:t>C</a:t>
              </a:r>
              <a:endParaRPr lang="en-US" sz="1050" b="0" strike="noStrike" spc="-1">
                <a:latin typeface="Arial"/>
              </a:endParaRPr>
            </a:p>
          </p:txBody>
        </p:sp>
        <p:sp>
          <p:nvSpPr>
            <p:cNvPr id="27" name="CustomShape 33">
              <a:extLst>
                <a:ext uri="{FF2B5EF4-FFF2-40B4-BE49-F238E27FC236}">
                  <a16:creationId xmlns:a16="http://schemas.microsoft.com/office/drawing/2014/main" id="{F908732E-BBF0-BBF1-63BD-383EFBF609C5}"/>
                </a:ext>
              </a:extLst>
            </p:cNvPr>
            <p:cNvSpPr/>
            <p:nvPr/>
          </p:nvSpPr>
          <p:spPr>
            <a:xfrm>
              <a:off x="3680280" y="4780080"/>
              <a:ext cx="275760" cy="237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050" b="0" strike="noStrike" spc="-1">
                  <a:solidFill>
                    <a:srgbClr val="000000"/>
                  </a:solidFill>
                  <a:latin typeface="Arial"/>
                  <a:ea typeface="DejaVu Sans"/>
                </a:rPr>
                <a:t>C</a:t>
              </a:r>
              <a:endParaRPr lang="en-US" sz="1050" b="0" strike="noStrike" spc="-1">
                <a:latin typeface="Arial"/>
              </a:endParaRPr>
            </a:p>
          </p:txBody>
        </p:sp>
        <p:sp>
          <p:nvSpPr>
            <p:cNvPr id="28" name="CustomShape 34">
              <a:extLst>
                <a:ext uri="{FF2B5EF4-FFF2-40B4-BE49-F238E27FC236}">
                  <a16:creationId xmlns:a16="http://schemas.microsoft.com/office/drawing/2014/main" id="{38F9B8E6-D2E3-0C37-FDD6-F39BBB0044A5}"/>
                </a:ext>
              </a:extLst>
            </p:cNvPr>
            <p:cNvSpPr/>
            <p:nvPr/>
          </p:nvSpPr>
          <p:spPr>
            <a:xfrm>
              <a:off x="665280" y="4779720"/>
              <a:ext cx="1343160" cy="273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300" b="0" strike="noStrike" spc="-1" dirty="0">
                  <a:solidFill>
                    <a:srgbClr val="000000"/>
                  </a:solidFill>
                  <a:latin typeface="Arial"/>
                  <a:ea typeface="DejaVu Sans"/>
                </a:rPr>
                <a:t>NLRC5</a:t>
              </a:r>
              <a:endParaRPr lang="en-US" sz="1300" b="0" strike="noStrike" spc="-1" dirty="0">
                <a:latin typeface="Arial"/>
              </a:endParaRPr>
            </a:p>
          </p:txBody>
        </p:sp>
        <p:sp>
          <p:nvSpPr>
            <p:cNvPr id="29" name="CustomShape 35">
              <a:extLst>
                <a:ext uri="{FF2B5EF4-FFF2-40B4-BE49-F238E27FC236}">
                  <a16:creationId xmlns:a16="http://schemas.microsoft.com/office/drawing/2014/main" id="{E4B4BBD2-CBB1-40E9-6317-346C18773A8E}"/>
                </a:ext>
              </a:extLst>
            </p:cNvPr>
            <p:cNvSpPr/>
            <p:nvPr/>
          </p:nvSpPr>
          <p:spPr>
            <a:xfrm>
              <a:off x="505080" y="5090040"/>
              <a:ext cx="1682640" cy="273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300" b="0" strike="noStrike" spc="-1">
                  <a:solidFill>
                    <a:srgbClr val="000000"/>
                  </a:solidFill>
                  <a:latin typeface="Arial"/>
                  <a:ea typeface="DejaVu Sans"/>
                </a:rPr>
                <a:t>NLRC5-SE</a:t>
              </a:r>
              <a:endParaRPr lang="en-US" sz="1300" b="0" strike="noStrike" spc="-1">
                <a:latin typeface="Arial"/>
              </a:endParaRPr>
            </a:p>
          </p:txBody>
        </p:sp>
      </p:grpSp>
      <p:sp>
        <p:nvSpPr>
          <p:cNvPr id="30" name="CustomShape 8">
            <a:extLst>
              <a:ext uri="{FF2B5EF4-FFF2-40B4-BE49-F238E27FC236}">
                <a16:creationId xmlns:a16="http://schemas.microsoft.com/office/drawing/2014/main" id="{9EA1DA73-3343-7D54-BA0C-5ACB5FD889BB}"/>
              </a:ext>
            </a:extLst>
          </p:cNvPr>
          <p:cNvSpPr/>
          <p:nvPr/>
        </p:nvSpPr>
        <p:spPr>
          <a:xfrm>
            <a:off x="8258760" y="4807800"/>
            <a:ext cx="566280" cy="1274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F59ECA62-244B-481E-9EA5-997647DFA9F0}" type="slidenum">
              <a:rPr lang="de-DE" sz="1000" b="0" strike="noStrike" spc="-1">
                <a:solidFill>
                  <a:srgbClr val="0949A7"/>
                </a:solidFill>
                <a:ea typeface="DejaVu Sans"/>
                <a:cs typeface="Calibri" panose="020F0502020204030204" pitchFamily="34" charset="0"/>
              </a:rPr>
              <a:t>22</a:t>
            </a:fld>
            <a:endParaRPr lang="en-US" sz="1000" b="0" strike="noStrike" spc="-1" dirty="0">
              <a:cs typeface="Calibri" panose="020F0502020204030204" pitchFamily="34" charset="0"/>
            </a:endParaRPr>
          </a:p>
        </p:txBody>
      </p:sp>
      <p:pic>
        <p:nvPicPr>
          <p:cNvPr id="2" name="Picture 1">
            <a:extLst>
              <a:ext uri="{FF2B5EF4-FFF2-40B4-BE49-F238E27FC236}">
                <a16:creationId xmlns:a16="http://schemas.microsoft.com/office/drawing/2014/main" id="{1400E00C-D3C4-B7E3-60FE-B6EB24DF1966}"/>
              </a:ext>
            </a:extLst>
          </p:cNvPr>
          <p:cNvPicPr>
            <a:picLocks noChangeAspect="1"/>
          </p:cNvPicPr>
          <p:nvPr/>
        </p:nvPicPr>
        <p:blipFill>
          <a:blip r:embed="rId3"/>
          <a:stretch>
            <a:fillRect/>
          </a:stretch>
        </p:blipFill>
        <p:spPr>
          <a:xfrm>
            <a:off x="3424622" y="1419784"/>
            <a:ext cx="5028426" cy="254801"/>
          </a:xfrm>
          <a:prstGeom prst="rect">
            <a:avLst/>
          </a:prstGeom>
        </p:spPr>
      </p:pic>
      <p:pic>
        <p:nvPicPr>
          <p:cNvPr id="32" name="Picture 2">
            <a:extLst>
              <a:ext uri="{FF2B5EF4-FFF2-40B4-BE49-F238E27FC236}">
                <a16:creationId xmlns:a16="http://schemas.microsoft.com/office/drawing/2014/main" id="{FA07CCBA-4D60-C2CB-646A-6F589BABF17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83" t="6366" r="82143" b="32380"/>
          <a:stretch/>
        </p:blipFill>
        <p:spPr bwMode="auto">
          <a:xfrm>
            <a:off x="1575138" y="1329647"/>
            <a:ext cx="489177" cy="549334"/>
          </a:xfrm>
          <a:prstGeom prst="rect">
            <a:avLst/>
          </a:prstGeom>
          <a:noFill/>
          <a:extLst>
            <a:ext uri="{909E8E84-426E-40DD-AFC4-6F175D3DCCD1}">
              <a14:hiddenFill xmlns:a14="http://schemas.microsoft.com/office/drawing/2010/main">
                <a:solidFill>
                  <a:srgbClr val="FFFFFF"/>
                </a:solidFill>
              </a14:hiddenFill>
            </a:ext>
          </a:extLst>
        </p:spPr>
      </p:pic>
      <p:sp>
        <p:nvSpPr>
          <p:cNvPr id="33" name="Rounded Rectangle 32">
            <a:extLst>
              <a:ext uri="{FF2B5EF4-FFF2-40B4-BE49-F238E27FC236}">
                <a16:creationId xmlns:a16="http://schemas.microsoft.com/office/drawing/2014/main" id="{9815D229-D966-8540-19B9-2732AA6CD828}"/>
              </a:ext>
            </a:extLst>
          </p:cNvPr>
          <p:cNvSpPr/>
          <p:nvPr/>
        </p:nvSpPr>
        <p:spPr>
          <a:xfrm>
            <a:off x="1041416" y="1969484"/>
            <a:ext cx="1754395" cy="206206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34" name="Oval 33">
            <a:extLst>
              <a:ext uri="{FF2B5EF4-FFF2-40B4-BE49-F238E27FC236}">
                <a16:creationId xmlns:a16="http://schemas.microsoft.com/office/drawing/2014/main" id="{BFD7FDBB-3A09-DE08-A203-0D898717DDDF}"/>
              </a:ext>
            </a:extLst>
          </p:cNvPr>
          <p:cNvSpPr/>
          <p:nvPr/>
        </p:nvSpPr>
        <p:spPr>
          <a:xfrm>
            <a:off x="1091114" y="2861553"/>
            <a:ext cx="1641113" cy="997684"/>
          </a:xfrm>
          <a:prstGeom prst="ellipse">
            <a:avLst/>
          </a:prstGeom>
          <a:solidFill>
            <a:schemeClr val="bg1"/>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MHC class I</a:t>
            </a:r>
            <a:endParaRPr lang="en-CN" sz="1400" dirty="0">
              <a:solidFill>
                <a:schemeClr val="tx1"/>
              </a:solidFill>
            </a:endParaRPr>
          </a:p>
        </p:txBody>
      </p:sp>
      <p:pic>
        <p:nvPicPr>
          <p:cNvPr id="35" name="Picture 34">
            <a:extLst>
              <a:ext uri="{FF2B5EF4-FFF2-40B4-BE49-F238E27FC236}">
                <a16:creationId xmlns:a16="http://schemas.microsoft.com/office/drawing/2014/main" id="{577F975C-FEFB-2A12-A8B6-9E9DC780328E}"/>
              </a:ext>
            </a:extLst>
          </p:cNvPr>
          <p:cNvPicPr>
            <a:picLocks noChangeAspect="1"/>
          </p:cNvPicPr>
          <p:nvPr/>
        </p:nvPicPr>
        <p:blipFill>
          <a:blip r:embed="rId5"/>
          <a:stretch>
            <a:fillRect/>
          </a:stretch>
        </p:blipFill>
        <p:spPr>
          <a:xfrm>
            <a:off x="1465158" y="2194906"/>
            <a:ext cx="679271" cy="551487"/>
          </a:xfrm>
          <a:prstGeom prst="rect">
            <a:avLst/>
          </a:prstGeom>
        </p:spPr>
      </p:pic>
      <p:cxnSp>
        <p:nvCxnSpPr>
          <p:cNvPr id="37" name="Straight Arrow Connector 36">
            <a:extLst>
              <a:ext uri="{FF2B5EF4-FFF2-40B4-BE49-F238E27FC236}">
                <a16:creationId xmlns:a16="http://schemas.microsoft.com/office/drawing/2014/main" id="{58B358BA-E5A5-F57F-4794-F8857DFAC422}"/>
              </a:ext>
            </a:extLst>
          </p:cNvPr>
          <p:cNvCxnSpPr>
            <a:cxnSpLocks/>
          </p:cNvCxnSpPr>
          <p:nvPr/>
        </p:nvCxnSpPr>
        <p:spPr>
          <a:xfrm>
            <a:off x="1836349" y="2778561"/>
            <a:ext cx="6476" cy="2517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C6E1BE43-C788-D34C-EACA-2C560EAE487A}"/>
              </a:ext>
            </a:extLst>
          </p:cNvPr>
          <p:cNvCxnSpPr>
            <a:cxnSpLocks/>
          </p:cNvCxnSpPr>
          <p:nvPr/>
        </p:nvCxnSpPr>
        <p:spPr>
          <a:xfrm>
            <a:off x="1829123" y="1878981"/>
            <a:ext cx="0" cy="3069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46" name="Picture 136">
            <a:extLst>
              <a:ext uri="{FF2B5EF4-FFF2-40B4-BE49-F238E27FC236}">
                <a16:creationId xmlns:a16="http://schemas.microsoft.com/office/drawing/2014/main" id="{9EDB3D6E-F967-5C1C-B8B9-EE73236A4D10}"/>
              </a:ext>
            </a:extLst>
          </p:cNvPr>
          <p:cNvPicPr/>
          <p:nvPr/>
        </p:nvPicPr>
        <p:blipFill>
          <a:blip r:embed="rId6"/>
          <a:srcRect t="9675" r="7621" b="50982"/>
          <a:stretch/>
        </p:blipFill>
        <p:spPr>
          <a:xfrm>
            <a:off x="3284988" y="2237170"/>
            <a:ext cx="2556349" cy="1904473"/>
          </a:xfrm>
          <a:prstGeom prst="rect">
            <a:avLst/>
          </a:prstGeom>
          <a:ln>
            <a:noFill/>
          </a:ln>
        </p:spPr>
      </p:pic>
      <p:cxnSp>
        <p:nvCxnSpPr>
          <p:cNvPr id="47" name="Straight Arrow Connector 46">
            <a:extLst>
              <a:ext uri="{FF2B5EF4-FFF2-40B4-BE49-F238E27FC236}">
                <a16:creationId xmlns:a16="http://schemas.microsoft.com/office/drawing/2014/main" id="{E19B1FDD-5FFD-1FDE-842E-97075B69804E}"/>
              </a:ext>
            </a:extLst>
          </p:cNvPr>
          <p:cNvCxnSpPr>
            <a:cxnSpLocks/>
          </p:cNvCxnSpPr>
          <p:nvPr/>
        </p:nvCxnSpPr>
        <p:spPr>
          <a:xfrm flipH="1">
            <a:off x="3744299" y="1674585"/>
            <a:ext cx="3852952" cy="483788"/>
          </a:xfrm>
          <a:prstGeom prst="straightConnector1">
            <a:avLst/>
          </a:prstGeom>
          <a:ln w="12700">
            <a:solidFill>
              <a:srgbClr val="FF0000"/>
            </a:solidFill>
            <a:prstDash val="dash"/>
            <a:tailEnd type="triangle"/>
          </a:ln>
        </p:spPr>
        <p:style>
          <a:lnRef idx="1">
            <a:schemeClr val="accent2"/>
          </a:lnRef>
          <a:fillRef idx="0">
            <a:schemeClr val="accent2"/>
          </a:fillRef>
          <a:effectRef idx="0">
            <a:schemeClr val="accent2"/>
          </a:effectRef>
          <a:fontRef idx="minor">
            <a:schemeClr val="tx1"/>
          </a:fontRef>
        </p:style>
      </p:cxnSp>
      <p:cxnSp>
        <p:nvCxnSpPr>
          <p:cNvPr id="50" name="Straight Arrow Connector 49">
            <a:extLst>
              <a:ext uri="{FF2B5EF4-FFF2-40B4-BE49-F238E27FC236}">
                <a16:creationId xmlns:a16="http://schemas.microsoft.com/office/drawing/2014/main" id="{103B047B-F025-8647-C34E-8A7AC54EB725}"/>
              </a:ext>
            </a:extLst>
          </p:cNvPr>
          <p:cNvCxnSpPr>
            <a:cxnSpLocks/>
          </p:cNvCxnSpPr>
          <p:nvPr/>
        </p:nvCxnSpPr>
        <p:spPr>
          <a:xfrm flipH="1">
            <a:off x="5848879" y="1674585"/>
            <a:ext cx="1890067" cy="559706"/>
          </a:xfrm>
          <a:prstGeom prst="straightConnector1">
            <a:avLst/>
          </a:prstGeom>
          <a:ln w="12700">
            <a:solidFill>
              <a:srgbClr val="FF0000"/>
            </a:solidFill>
            <a:prstDash val="dash"/>
            <a:tailEnd type="triangle"/>
          </a:ln>
        </p:spPr>
        <p:style>
          <a:lnRef idx="1">
            <a:schemeClr val="accent2"/>
          </a:lnRef>
          <a:fillRef idx="0">
            <a:schemeClr val="accent2"/>
          </a:fillRef>
          <a:effectRef idx="0">
            <a:schemeClr val="accent2"/>
          </a:effectRef>
          <a:fontRef idx="minor">
            <a:schemeClr val="tx1"/>
          </a:fontRef>
        </p:style>
      </p:cxnSp>
      <p:sp>
        <p:nvSpPr>
          <p:cNvPr id="3" name="TextBox 2">
            <a:extLst>
              <a:ext uri="{FF2B5EF4-FFF2-40B4-BE49-F238E27FC236}">
                <a16:creationId xmlns:a16="http://schemas.microsoft.com/office/drawing/2014/main" id="{9D99170C-A48F-6028-118C-40BB8D11795B}"/>
              </a:ext>
            </a:extLst>
          </p:cNvPr>
          <p:cNvSpPr txBox="1"/>
          <p:nvPr/>
        </p:nvSpPr>
        <p:spPr>
          <a:xfrm>
            <a:off x="397844" y="4304371"/>
            <a:ext cx="7199407" cy="461665"/>
          </a:xfrm>
          <a:prstGeom prst="rect">
            <a:avLst/>
          </a:prstGeom>
          <a:noFill/>
        </p:spPr>
        <p:txBody>
          <a:bodyPr wrap="none" rtlCol="0">
            <a:spAutoFit/>
          </a:bodyPr>
          <a:lstStyle/>
          <a:p>
            <a:r>
              <a:rPr lang="en-CN" sz="1200" dirty="0"/>
              <a:t>NACHT: </a:t>
            </a:r>
            <a:r>
              <a:rPr lang="en-GB" sz="1200" dirty="0"/>
              <a:t>a conserved </a:t>
            </a:r>
            <a:r>
              <a:rPr lang="en-GB" sz="1200" dirty="0" err="1"/>
              <a:t>NTPase</a:t>
            </a:r>
            <a:r>
              <a:rPr lang="en-GB" sz="1200" dirty="0"/>
              <a:t> domain that serves as a core ATP-binding module</a:t>
            </a:r>
          </a:p>
          <a:p>
            <a:r>
              <a:rPr lang="en-GB" sz="1200" dirty="0"/>
              <a:t>RNI-like domain (Ribonuclease Inhibitor-like) is a structural motif containing leucine-rich repeats (LRRs)</a:t>
            </a:r>
            <a:endParaRPr lang="en-CN" sz="1200" dirty="0"/>
          </a:p>
        </p:txBody>
      </p:sp>
      <p:sp>
        <p:nvSpPr>
          <p:cNvPr id="40" name="TextBox 39">
            <a:extLst>
              <a:ext uri="{FF2B5EF4-FFF2-40B4-BE49-F238E27FC236}">
                <a16:creationId xmlns:a16="http://schemas.microsoft.com/office/drawing/2014/main" id="{368FA6AA-1619-ECAC-CE35-808CB17CD5F0}"/>
              </a:ext>
            </a:extLst>
          </p:cNvPr>
          <p:cNvSpPr txBox="1"/>
          <p:nvPr/>
        </p:nvSpPr>
        <p:spPr>
          <a:xfrm>
            <a:off x="6370655" y="921364"/>
            <a:ext cx="2241896" cy="276999"/>
          </a:xfrm>
          <a:prstGeom prst="rect">
            <a:avLst/>
          </a:prstGeom>
          <a:noFill/>
        </p:spPr>
        <p:txBody>
          <a:bodyPr wrap="none" rtlCol="0">
            <a:spAutoFit/>
          </a:bodyPr>
          <a:lstStyle/>
          <a:p>
            <a:r>
              <a:rPr lang="en-GB" sz="1200" dirty="0"/>
              <a:t>T</a:t>
            </a:r>
            <a:r>
              <a:rPr lang="en-CN" sz="1200" dirty="0"/>
              <a:t>ool: NCBI, rmats2sashimiplot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CustomShape 1"/>
          <p:cNvSpPr/>
          <p:nvPr/>
        </p:nvSpPr>
        <p:spPr>
          <a:xfrm>
            <a:off x="323640" y="245160"/>
            <a:ext cx="7819825" cy="64487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1800" b="1" i="1" strike="noStrike" spc="-1" dirty="0">
                <a:solidFill>
                  <a:srgbClr val="000000"/>
                </a:solidFill>
                <a:latin typeface="Arial"/>
                <a:ea typeface="DejaVu Sans"/>
              </a:rPr>
              <a:t>R. </a:t>
            </a:r>
            <a:r>
              <a:rPr lang="en-US" b="1" i="1" spc="-1" dirty="0" err="1">
                <a:solidFill>
                  <a:srgbClr val="000000"/>
                </a:solidFill>
                <a:latin typeface="Arial"/>
                <a:ea typeface="DejaVu Sans"/>
              </a:rPr>
              <a:t>o</a:t>
            </a:r>
            <a:r>
              <a:rPr lang="en-US" sz="1800" b="1" i="1" strike="noStrike" spc="-1" dirty="0" err="1">
                <a:solidFill>
                  <a:srgbClr val="000000"/>
                </a:solidFill>
                <a:latin typeface="Arial"/>
                <a:ea typeface="DejaVu Sans"/>
              </a:rPr>
              <a:t>ryzae</a:t>
            </a:r>
            <a:r>
              <a:rPr lang="en-CN" sz="1800" dirty="0"/>
              <a:t> </a:t>
            </a:r>
            <a:r>
              <a:rPr lang="en-CN" sz="1800" b="1" dirty="0"/>
              <a:t>incubation results in disrupted RNA splicing and increase</a:t>
            </a:r>
            <a:r>
              <a:rPr lang="en-US" altLang="zh-CN" sz="1800" b="1" dirty="0"/>
              <a:t>d</a:t>
            </a:r>
            <a:r>
              <a:rPr lang="en-CN" sz="1800" b="1" dirty="0"/>
              <a:t> hyper editing </a:t>
            </a:r>
            <a:endParaRPr lang="en-US" sz="1800" b="1" i="1" strike="noStrike" spc="-1" dirty="0">
              <a:latin typeface="Arial"/>
            </a:endParaRPr>
          </a:p>
        </p:txBody>
      </p:sp>
      <p:pic>
        <p:nvPicPr>
          <p:cNvPr id="5" name="Picture 4">
            <a:extLst>
              <a:ext uri="{FF2B5EF4-FFF2-40B4-BE49-F238E27FC236}">
                <a16:creationId xmlns:a16="http://schemas.microsoft.com/office/drawing/2014/main" id="{89F52245-32A9-E8ED-37A6-5BD2C33CE094}"/>
              </a:ext>
            </a:extLst>
          </p:cNvPr>
          <p:cNvPicPr>
            <a:picLocks noChangeAspect="1"/>
          </p:cNvPicPr>
          <p:nvPr/>
        </p:nvPicPr>
        <p:blipFill rotWithShape="1">
          <a:blip r:embed="rId2">
            <a:extLst>
              <a:ext uri="{28A0092B-C50C-407E-A947-70E740481C1C}">
                <a14:useLocalDpi xmlns:a14="http://schemas.microsoft.com/office/drawing/2010/main" val="0"/>
              </a:ext>
            </a:extLst>
          </a:blip>
          <a:srcRect t="4577"/>
          <a:stretch/>
        </p:blipFill>
        <p:spPr>
          <a:xfrm>
            <a:off x="1337476" y="615710"/>
            <a:ext cx="5792152" cy="3868924"/>
          </a:xfrm>
          <a:prstGeom prst="rect">
            <a:avLst/>
          </a:prstGeom>
        </p:spPr>
      </p:pic>
      <p:sp>
        <p:nvSpPr>
          <p:cNvPr id="6" name="CustomShape 8">
            <a:extLst>
              <a:ext uri="{FF2B5EF4-FFF2-40B4-BE49-F238E27FC236}">
                <a16:creationId xmlns:a16="http://schemas.microsoft.com/office/drawing/2014/main" id="{B5E3613D-3790-B1FF-717A-C15D84C0DF4E}"/>
              </a:ext>
            </a:extLst>
          </p:cNvPr>
          <p:cNvSpPr/>
          <p:nvPr/>
        </p:nvSpPr>
        <p:spPr>
          <a:xfrm>
            <a:off x="8258760" y="4807800"/>
            <a:ext cx="566280" cy="1274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F59ECA62-244B-481E-9EA5-997647DFA9F0}" type="slidenum">
              <a:rPr lang="de-DE" sz="1000" b="0" strike="noStrike" spc="-1">
                <a:solidFill>
                  <a:srgbClr val="0949A7"/>
                </a:solidFill>
                <a:ea typeface="DejaVu Sans"/>
                <a:cs typeface="Calibri" panose="020F0502020204030204" pitchFamily="34" charset="0"/>
              </a:rPr>
              <a:t>23</a:t>
            </a:fld>
            <a:endParaRPr lang="en-US" sz="1000" b="0" strike="noStrike" spc="-1" dirty="0">
              <a:cs typeface="Calibri" panose="020F0502020204030204" pitchFamily="34" charset="0"/>
            </a:endParaRPr>
          </a:p>
        </p:txBody>
      </p:sp>
      <p:sp>
        <p:nvSpPr>
          <p:cNvPr id="8" name="TextBox 7">
            <a:extLst>
              <a:ext uri="{FF2B5EF4-FFF2-40B4-BE49-F238E27FC236}">
                <a16:creationId xmlns:a16="http://schemas.microsoft.com/office/drawing/2014/main" id="{89CB5FA2-F1AA-71EE-DBE2-012433CB098F}"/>
              </a:ext>
            </a:extLst>
          </p:cNvPr>
          <p:cNvSpPr txBox="1"/>
          <p:nvPr/>
        </p:nvSpPr>
        <p:spPr>
          <a:xfrm>
            <a:off x="443151" y="4576967"/>
            <a:ext cx="7580801" cy="461665"/>
          </a:xfrm>
          <a:prstGeom prst="rect">
            <a:avLst/>
          </a:prstGeom>
          <a:noFill/>
        </p:spPr>
        <p:txBody>
          <a:bodyPr wrap="square" rtlCol="0">
            <a:spAutoFit/>
          </a:bodyPr>
          <a:lstStyle/>
          <a:p>
            <a:r>
              <a:rPr lang="en-CN" sz="1200" dirty="0"/>
              <a:t>MHC-I: major histocompatibility complex class I</a:t>
            </a:r>
          </a:p>
          <a:p>
            <a:r>
              <a:rPr lang="en-CN" sz="1200" dirty="0"/>
              <a:t>PANoptosis: pyroptosis, apoptosis, necroptosis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stomShape 1">
            <a:extLst>
              <a:ext uri="{FF2B5EF4-FFF2-40B4-BE49-F238E27FC236}">
                <a16:creationId xmlns:a16="http://schemas.microsoft.com/office/drawing/2014/main" id="{32D38AEC-E195-FF63-3223-A7620506971F}"/>
              </a:ext>
            </a:extLst>
          </p:cNvPr>
          <p:cNvSpPr/>
          <p:nvPr/>
        </p:nvSpPr>
        <p:spPr>
          <a:xfrm>
            <a:off x="385201" y="233280"/>
            <a:ext cx="6315210" cy="8960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r>
              <a:rPr lang="en-CN" sz="1800" b="1" dirty="0"/>
              <a:t>DsRNA regulation is an important layer to understand fungal </a:t>
            </a:r>
            <a:r>
              <a:rPr lang="en-US" altLang="zh-CN" sz="1800" b="1" dirty="0"/>
              <a:t>s</a:t>
            </a:r>
            <a:r>
              <a:rPr lang="en-CN" sz="1800" b="1" dirty="0"/>
              <a:t>timulations</a:t>
            </a:r>
          </a:p>
        </p:txBody>
      </p:sp>
      <p:pic>
        <p:nvPicPr>
          <p:cNvPr id="3" name="Picture 2">
            <a:extLst>
              <a:ext uri="{FF2B5EF4-FFF2-40B4-BE49-F238E27FC236}">
                <a16:creationId xmlns:a16="http://schemas.microsoft.com/office/drawing/2014/main" id="{35CDE190-D34D-8971-3505-88FFE070BA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4999" y="457199"/>
            <a:ext cx="7350823" cy="5145577"/>
          </a:xfrm>
          <a:prstGeom prst="rect">
            <a:avLst/>
          </a:prstGeom>
        </p:spPr>
      </p:pic>
      <p:sp>
        <p:nvSpPr>
          <p:cNvPr id="5" name="TextBox 4">
            <a:extLst>
              <a:ext uri="{FF2B5EF4-FFF2-40B4-BE49-F238E27FC236}">
                <a16:creationId xmlns:a16="http://schemas.microsoft.com/office/drawing/2014/main" id="{7EA3EB1C-D8DD-9263-EBF3-AD4D5B005C94}"/>
              </a:ext>
            </a:extLst>
          </p:cNvPr>
          <p:cNvSpPr txBox="1"/>
          <p:nvPr/>
        </p:nvSpPr>
        <p:spPr>
          <a:xfrm>
            <a:off x="281302" y="1325481"/>
            <a:ext cx="2743695" cy="830997"/>
          </a:xfrm>
          <a:prstGeom prst="rect">
            <a:avLst/>
          </a:prstGeom>
          <a:noFill/>
        </p:spPr>
        <p:txBody>
          <a:bodyPr wrap="square" rtlCol="0">
            <a:spAutoFit/>
          </a:bodyPr>
          <a:lstStyle/>
          <a:p>
            <a:r>
              <a:rPr lang="en-US" altLang="zh-CN" sz="1600" dirty="0"/>
              <a:t>D</a:t>
            </a:r>
            <a:r>
              <a:rPr lang="en-CN" sz="1600" dirty="0"/>
              <a:t>sRNA overexpression results in fungal growth arrest in </a:t>
            </a:r>
            <a:r>
              <a:rPr lang="en-CN" sz="1600" i="1" dirty="0"/>
              <a:t>A. fumigatus. </a:t>
            </a:r>
            <a:endParaRPr lang="en-CN" sz="1600" dirty="0"/>
          </a:p>
        </p:txBody>
      </p:sp>
      <p:sp>
        <p:nvSpPr>
          <p:cNvPr id="6" name="TextBox 5">
            <a:extLst>
              <a:ext uri="{FF2B5EF4-FFF2-40B4-BE49-F238E27FC236}">
                <a16:creationId xmlns:a16="http://schemas.microsoft.com/office/drawing/2014/main" id="{7E12B0DF-AEAD-A674-3586-9AF568B5C480}"/>
              </a:ext>
            </a:extLst>
          </p:cNvPr>
          <p:cNvSpPr txBox="1"/>
          <p:nvPr/>
        </p:nvSpPr>
        <p:spPr>
          <a:xfrm>
            <a:off x="281304" y="3197201"/>
            <a:ext cx="2743695" cy="1323439"/>
          </a:xfrm>
          <a:prstGeom prst="rect">
            <a:avLst/>
          </a:prstGeom>
          <a:noFill/>
        </p:spPr>
        <p:txBody>
          <a:bodyPr wrap="square" rtlCol="0">
            <a:spAutoFit/>
          </a:bodyPr>
          <a:lstStyle/>
          <a:p>
            <a:r>
              <a:rPr lang="en-CN" sz="1600" i="1" dirty="0"/>
              <a:t>R. </a:t>
            </a:r>
            <a:r>
              <a:rPr lang="en-GB" sz="1600" i="1" dirty="0"/>
              <a:t>o</a:t>
            </a:r>
            <a:r>
              <a:rPr lang="en-CN" sz="1600" i="1" dirty="0"/>
              <a:t>ryzae </a:t>
            </a:r>
            <a:r>
              <a:rPr lang="en-CN" sz="1600" dirty="0"/>
              <a:t>incubation results in disrupted RNA splicing in PBMCs, which can further lead to ADAR1-dependent hyper editing. </a:t>
            </a:r>
            <a:endParaRPr lang="en-CN" sz="1600" i="1" dirty="0"/>
          </a:p>
        </p:txBody>
      </p:sp>
      <p:sp>
        <p:nvSpPr>
          <p:cNvPr id="7" name="CustomShape 8">
            <a:extLst>
              <a:ext uri="{FF2B5EF4-FFF2-40B4-BE49-F238E27FC236}">
                <a16:creationId xmlns:a16="http://schemas.microsoft.com/office/drawing/2014/main" id="{69A2D2F0-6B36-0DCA-60E8-A3AB9A7CF237}"/>
              </a:ext>
            </a:extLst>
          </p:cNvPr>
          <p:cNvSpPr/>
          <p:nvPr/>
        </p:nvSpPr>
        <p:spPr>
          <a:xfrm>
            <a:off x="8258760" y="4807800"/>
            <a:ext cx="565200" cy="1263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endParaRPr lang="en-US" sz="1000" b="0" strike="noStrike" spc="-1" dirty="0">
              <a:latin typeface="Arial"/>
            </a:endParaRPr>
          </a:p>
        </p:txBody>
      </p:sp>
      <p:sp>
        <p:nvSpPr>
          <p:cNvPr id="4" name="CustomShape 8">
            <a:extLst>
              <a:ext uri="{FF2B5EF4-FFF2-40B4-BE49-F238E27FC236}">
                <a16:creationId xmlns:a16="http://schemas.microsoft.com/office/drawing/2014/main" id="{5F570406-9748-A77B-4928-AABCA3DA3944}"/>
              </a:ext>
            </a:extLst>
          </p:cNvPr>
          <p:cNvSpPr/>
          <p:nvPr/>
        </p:nvSpPr>
        <p:spPr>
          <a:xfrm>
            <a:off x="8258760" y="4807800"/>
            <a:ext cx="566280" cy="1274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F59ECA62-244B-481E-9EA5-997647DFA9F0}" type="slidenum">
              <a:rPr lang="de-DE" sz="1000" b="0" strike="noStrike" spc="-1">
                <a:solidFill>
                  <a:srgbClr val="0949A7"/>
                </a:solidFill>
                <a:ea typeface="DejaVu Sans"/>
                <a:cs typeface="Calibri" panose="020F0502020204030204" pitchFamily="34" charset="0"/>
              </a:rPr>
              <a:t>24</a:t>
            </a:fld>
            <a:endParaRPr lang="en-US" sz="1000" b="0" strike="noStrike" spc="-1" dirty="0">
              <a:cs typeface="Calibri" panose="020F0502020204030204" pitchFamily="34" charset="0"/>
            </a:endParaRPr>
          </a:p>
        </p:txBody>
      </p:sp>
      <p:sp>
        <p:nvSpPr>
          <p:cNvPr id="8" name="Rectangle 7">
            <a:extLst>
              <a:ext uri="{FF2B5EF4-FFF2-40B4-BE49-F238E27FC236}">
                <a16:creationId xmlns:a16="http://schemas.microsoft.com/office/drawing/2014/main" id="{CEDDBD6A-61BF-A94E-BB3E-EBF99F247522}"/>
              </a:ext>
            </a:extLst>
          </p:cNvPr>
          <p:cNvSpPr/>
          <p:nvPr/>
        </p:nvSpPr>
        <p:spPr>
          <a:xfrm>
            <a:off x="6041225" y="2385237"/>
            <a:ext cx="659185" cy="5422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9" name="Rectangle 8">
            <a:extLst>
              <a:ext uri="{FF2B5EF4-FFF2-40B4-BE49-F238E27FC236}">
                <a16:creationId xmlns:a16="http://schemas.microsoft.com/office/drawing/2014/main" id="{7C5E7EDA-BB39-2D0A-A506-F0A818BA0FAE}"/>
              </a:ext>
            </a:extLst>
          </p:cNvPr>
          <p:cNvSpPr/>
          <p:nvPr/>
        </p:nvSpPr>
        <p:spPr>
          <a:xfrm>
            <a:off x="6700410" y="2546413"/>
            <a:ext cx="659185" cy="5422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0" name="Rectangle 9">
            <a:extLst>
              <a:ext uri="{FF2B5EF4-FFF2-40B4-BE49-F238E27FC236}">
                <a16:creationId xmlns:a16="http://schemas.microsoft.com/office/drawing/2014/main" id="{8A86A47D-864D-4874-4932-FE9C2E67BB20}"/>
              </a:ext>
            </a:extLst>
          </p:cNvPr>
          <p:cNvSpPr/>
          <p:nvPr/>
        </p:nvSpPr>
        <p:spPr>
          <a:xfrm>
            <a:off x="7203718" y="1604675"/>
            <a:ext cx="659185" cy="5422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30081878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a:extLst>
              <a:ext uri="{FF2B5EF4-FFF2-40B4-BE49-F238E27FC236}">
                <a16:creationId xmlns:a16="http://schemas.microsoft.com/office/drawing/2014/main" id="{DE31F798-AEBB-D5BC-0ABC-292A633886B0}"/>
              </a:ext>
            </a:extLst>
          </p:cNvPr>
          <p:cNvSpPr/>
          <p:nvPr/>
        </p:nvSpPr>
        <p:spPr>
          <a:xfrm>
            <a:off x="380880" y="232920"/>
            <a:ext cx="8016671" cy="881640"/>
          </a:xfrm>
          <a:prstGeom prst="rect">
            <a:avLst/>
          </a:prstGeom>
          <a:noFill/>
          <a:ln>
            <a:noFill/>
          </a:ln>
        </p:spPr>
        <p:style>
          <a:lnRef idx="0">
            <a:scrgbClr r="0" g="0" b="0"/>
          </a:lnRef>
          <a:fillRef idx="0">
            <a:scrgbClr r="0" g="0" b="0"/>
          </a:fillRef>
          <a:effectRef idx="0">
            <a:scrgbClr r="0" g="0" b="0"/>
          </a:effectRef>
          <a:fontRef idx="minor"/>
        </p:style>
        <p:txBody>
          <a:bodyPr lIns="0" tIns="0" rIns="0" bIns="0">
            <a:normAutofit/>
          </a:bodyPr>
          <a:lstStyle/>
          <a:p>
            <a:pPr>
              <a:lnSpc>
                <a:spcPct val="100000"/>
              </a:lnSpc>
            </a:pPr>
            <a:r>
              <a:rPr lang="en-US" sz="1800" b="1" strike="noStrike" spc="-1" dirty="0">
                <a:solidFill>
                  <a:srgbClr val="000000"/>
                </a:solidFill>
                <a:latin typeface="Arial"/>
                <a:ea typeface="DejaVu Sans"/>
              </a:rPr>
              <a:t>ADAR1-mediated hyper editing occurs in long dsRNA derived regions</a:t>
            </a:r>
            <a:endParaRPr lang="en-US" sz="1800" b="0" strike="noStrike" spc="-1" dirty="0">
              <a:latin typeface="Arial"/>
            </a:endParaRPr>
          </a:p>
        </p:txBody>
      </p:sp>
      <p:pic>
        <p:nvPicPr>
          <p:cNvPr id="7" name="Picture 6">
            <a:extLst>
              <a:ext uri="{FF2B5EF4-FFF2-40B4-BE49-F238E27FC236}">
                <a16:creationId xmlns:a16="http://schemas.microsoft.com/office/drawing/2014/main" id="{00F45FC9-228C-A76C-C3B9-376F9580777C}"/>
              </a:ext>
            </a:extLst>
          </p:cNvPr>
          <p:cNvPicPr>
            <a:picLocks noChangeAspect="1"/>
          </p:cNvPicPr>
          <p:nvPr/>
        </p:nvPicPr>
        <p:blipFill>
          <a:blip r:embed="rId2"/>
          <a:stretch>
            <a:fillRect/>
          </a:stretch>
        </p:blipFill>
        <p:spPr>
          <a:xfrm rot="574011">
            <a:off x="380879" y="2341763"/>
            <a:ext cx="5041726" cy="1945715"/>
          </a:xfrm>
          <a:prstGeom prst="rect">
            <a:avLst/>
          </a:prstGeom>
        </p:spPr>
      </p:pic>
      <p:sp>
        <p:nvSpPr>
          <p:cNvPr id="8" name="TextBox 7">
            <a:extLst>
              <a:ext uri="{FF2B5EF4-FFF2-40B4-BE49-F238E27FC236}">
                <a16:creationId xmlns:a16="http://schemas.microsoft.com/office/drawing/2014/main" id="{35EDC1AB-512E-4584-4A2D-3855F5183B3F}"/>
              </a:ext>
            </a:extLst>
          </p:cNvPr>
          <p:cNvSpPr txBox="1"/>
          <p:nvPr/>
        </p:nvSpPr>
        <p:spPr>
          <a:xfrm>
            <a:off x="380879" y="4776843"/>
            <a:ext cx="2469650" cy="276999"/>
          </a:xfrm>
          <a:prstGeom prst="rect">
            <a:avLst/>
          </a:prstGeom>
          <a:noFill/>
        </p:spPr>
        <p:txBody>
          <a:bodyPr wrap="none" rtlCol="0">
            <a:spAutoFit/>
          </a:bodyPr>
          <a:lstStyle/>
          <a:p>
            <a:r>
              <a:rPr lang="en-CN" sz="1200" spc="-1" dirty="0">
                <a:solidFill>
                  <a:srgbClr val="000000"/>
                </a:solidFill>
                <a:latin typeface="Arial"/>
                <a:ea typeface="DejaVu Sans"/>
              </a:rPr>
              <a:t>Porath, </a:t>
            </a:r>
            <a:r>
              <a:rPr lang="en-CN" sz="1200" i="1" spc="-1" dirty="0">
                <a:solidFill>
                  <a:srgbClr val="000000"/>
                </a:solidFill>
                <a:latin typeface="Arial"/>
                <a:ea typeface="DejaVu Sans"/>
              </a:rPr>
              <a:t>et al</a:t>
            </a:r>
            <a:r>
              <a:rPr lang="en-CN" sz="1200" spc="-1" dirty="0">
                <a:solidFill>
                  <a:srgbClr val="000000"/>
                </a:solidFill>
                <a:latin typeface="Arial"/>
                <a:ea typeface="DejaVu Sans"/>
              </a:rPr>
              <a:t>. Nat Commun. 2014.</a:t>
            </a:r>
          </a:p>
        </p:txBody>
      </p:sp>
      <p:sp>
        <p:nvSpPr>
          <p:cNvPr id="9" name="CustomShape 8">
            <a:extLst>
              <a:ext uri="{FF2B5EF4-FFF2-40B4-BE49-F238E27FC236}">
                <a16:creationId xmlns:a16="http://schemas.microsoft.com/office/drawing/2014/main" id="{108DDC7F-3622-7A92-E9D9-E89A3674C397}"/>
              </a:ext>
            </a:extLst>
          </p:cNvPr>
          <p:cNvSpPr/>
          <p:nvPr/>
        </p:nvSpPr>
        <p:spPr>
          <a:xfrm>
            <a:off x="8258760" y="4807800"/>
            <a:ext cx="566280" cy="1274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ctr">
              <a:lnSpc>
                <a:spcPct val="100000"/>
              </a:lnSpc>
            </a:pPr>
            <a:fld id="{F59ECA62-244B-481E-9EA5-997647DFA9F0}" type="slidenum">
              <a:rPr lang="de-DE" sz="1000" b="0" strike="noStrike" spc="-1">
                <a:solidFill>
                  <a:srgbClr val="0949A7"/>
                </a:solidFill>
                <a:ea typeface="DejaVu Sans"/>
                <a:cs typeface="Calibri" panose="020F0502020204030204" pitchFamily="34" charset="0"/>
              </a:rPr>
              <a:t>25</a:t>
            </a:fld>
            <a:endParaRPr lang="en-US" sz="1000" b="0" strike="noStrike" spc="-1" dirty="0">
              <a:cs typeface="Calibri" panose="020F0502020204030204" pitchFamily="34" charset="0"/>
            </a:endParaRPr>
          </a:p>
        </p:txBody>
      </p:sp>
      <p:sp>
        <p:nvSpPr>
          <p:cNvPr id="3" name="TextBox 2">
            <a:extLst>
              <a:ext uri="{FF2B5EF4-FFF2-40B4-BE49-F238E27FC236}">
                <a16:creationId xmlns:a16="http://schemas.microsoft.com/office/drawing/2014/main" id="{0E12E9A2-48D5-81CE-EA99-5BC554D72566}"/>
              </a:ext>
            </a:extLst>
          </p:cNvPr>
          <p:cNvSpPr txBox="1"/>
          <p:nvPr/>
        </p:nvSpPr>
        <p:spPr>
          <a:xfrm>
            <a:off x="277314" y="2204799"/>
            <a:ext cx="7725747" cy="369332"/>
          </a:xfrm>
          <a:prstGeom prst="rect">
            <a:avLst/>
          </a:prstGeom>
          <a:noFill/>
        </p:spPr>
        <p:txBody>
          <a:bodyPr wrap="square">
            <a:spAutoFit/>
          </a:bodyPr>
          <a:lstStyle/>
          <a:p>
            <a:r>
              <a:rPr lang="en-CN" sz="1800" spc="-1" dirty="0">
                <a:solidFill>
                  <a:srgbClr val="000000"/>
                </a:solidFill>
                <a:latin typeface="Arial"/>
                <a:ea typeface="DejaVu Sans"/>
              </a:rPr>
              <a:t>Hyperediting: extensive A</a:t>
            </a:r>
            <a:r>
              <a:rPr lang="en-US" altLang="zh-CN" sz="1800" spc="-1" dirty="0">
                <a:solidFill>
                  <a:srgbClr val="000000"/>
                </a:solidFill>
                <a:latin typeface="Arial"/>
                <a:ea typeface="DejaVu Sans"/>
              </a:rPr>
              <a:t>-</a:t>
            </a:r>
            <a:r>
              <a:rPr lang="en-CN" sz="1800" spc="-1" dirty="0">
                <a:solidFill>
                  <a:srgbClr val="000000"/>
                </a:solidFill>
                <a:latin typeface="Arial"/>
                <a:ea typeface="DejaVu Sans"/>
              </a:rPr>
              <a:t>to</a:t>
            </a:r>
            <a:r>
              <a:rPr lang="en-US" altLang="zh-CN" sz="1800" spc="-1" dirty="0">
                <a:solidFill>
                  <a:srgbClr val="000000"/>
                </a:solidFill>
                <a:latin typeface="Arial"/>
                <a:ea typeface="DejaVu Sans"/>
              </a:rPr>
              <a:t>-</a:t>
            </a:r>
            <a:r>
              <a:rPr lang="en-CN" sz="1800" spc="-1" dirty="0">
                <a:solidFill>
                  <a:srgbClr val="000000"/>
                </a:solidFill>
                <a:latin typeface="Arial"/>
                <a:ea typeface="DejaVu Sans"/>
              </a:rPr>
              <a:t>I RNA editing</a:t>
            </a:r>
            <a:endParaRPr lang="en-GB" sz="1800" dirty="0">
              <a:effectLst/>
              <a:latin typeface="Helvetica" pitchFamily="2" charset="0"/>
            </a:endParaRPr>
          </a:p>
        </p:txBody>
      </p:sp>
      <p:pic>
        <p:nvPicPr>
          <p:cNvPr id="2" name="Picture 1">
            <a:extLst>
              <a:ext uri="{FF2B5EF4-FFF2-40B4-BE49-F238E27FC236}">
                <a16:creationId xmlns:a16="http://schemas.microsoft.com/office/drawing/2014/main" id="{5B144B0D-E0C3-432F-8774-A71B6371E966}"/>
              </a:ext>
            </a:extLst>
          </p:cNvPr>
          <p:cNvPicPr/>
          <p:nvPr/>
        </p:nvPicPr>
        <p:blipFill rotWithShape="1">
          <a:blip r:embed="rId3"/>
          <a:srcRect l="55656" t="49334" r="34477" b="33532"/>
          <a:stretch/>
        </p:blipFill>
        <p:spPr>
          <a:xfrm>
            <a:off x="914400" y="1213903"/>
            <a:ext cx="871870" cy="1059378"/>
          </a:xfrm>
          <a:prstGeom prst="rect">
            <a:avLst/>
          </a:prstGeom>
          <a:ln>
            <a:noFill/>
          </a:ln>
        </p:spPr>
      </p:pic>
      <p:sp>
        <p:nvSpPr>
          <p:cNvPr id="5" name="TextBox 4">
            <a:extLst>
              <a:ext uri="{FF2B5EF4-FFF2-40B4-BE49-F238E27FC236}">
                <a16:creationId xmlns:a16="http://schemas.microsoft.com/office/drawing/2014/main" id="{C42D1458-DFA2-885A-9EF3-369630AC9FBC}"/>
              </a:ext>
            </a:extLst>
          </p:cNvPr>
          <p:cNvSpPr txBox="1"/>
          <p:nvPr/>
        </p:nvSpPr>
        <p:spPr>
          <a:xfrm>
            <a:off x="277313" y="973524"/>
            <a:ext cx="7725747" cy="369332"/>
          </a:xfrm>
          <a:prstGeom prst="rect">
            <a:avLst/>
          </a:prstGeom>
          <a:noFill/>
        </p:spPr>
        <p:txBody>
          <a:bodyPr wrap="square">
            <a:spAutoFit/>
          </a:bodyPr>
          <a:lstStyle/>
          <a:p>
            <a:r>
              <a:rPr lang="en-CN" sz="1800" spc="-1" dirty="0">
                <a:solidFill>
                  <a:srgbClr val="000000"/>
                </a:solidFill>
                <a:latin typeface="Arial"/>
                <a:ea typeface="DejaVu Sans"/>
              </a:rPr>
              <a:t>Standard A</a:t>
            </a:r>
            <a:r>
              <a:rPr lang="en-US" altLang="zh-CN" sz="1800" spc="-1" dirty="0">
                <a:solidFill>
                  <a:srgbClr val="000000"/>
                </a:solidFill>
                <a:latin typeface="Arial"/>
                <a:ea typeface="DejaVu Sans"/>
              </a:rPr>
              <a:t>-</a:t>
            </a:r>
            <a:r>
              <a:rPr lang="en-CN" sz="1800" spc="-1" dirty="0">
                <a:solidFill>
                  <a:srgbClr val="000000"/>
                </a:solidFill>
                <a:latin typeface="Arial"/>
                <a:ea typeface="DejaVu Sans"/>
              </a:rPr>
              <a:t>to</a:t>
            </a:r>
            <a:r>
              <a:rPr lang="en-US" altLang="zh-CN" sz="1800" spc="-1" dirty="0">
                <a:solidFill>
                  <a:srgbClr val="000000"/>
                </a:solidFill>
                <a:latin typeface="Arial"/>
                <a:ea typeface="DejaVu Sans"/>
              </a:rPr>
              <a:t>-</a:t>
            </a:r>
            <a:r>
              <a:rPr lang="en-CN" sz="1800" spc="-1" dirty="0">
                <a:solidFill>
                  <a:srgbClr val="000000"/>
                </a:solidFill>
                <a:latin typeface="Arial"/>
                <a:ea typeface="DejaVu Sans"/>
              </a:rPr>
              <a:t>I RNA editing</a:t>
            </a:r>
            <a:endParaRPr lang="en-GB" sz="1800" dirty="0">
              <a:effectLst/>
              <a:latin typeface="Helvetica" pitchFamily="2" charset="0"/>
            </a:endParaRPr>
          </a:p>
        </p:txBody>
      </p:sp>
      <p:sp>
        <p:nvSpPr>
          <p:cNvPr id="6" name="TextBox 5">
            <a:extLst>
              <a:ext uri="{FF2B5EF4-FFF2-40B4-BE49-F238E27FC236}">
                <a16:creationId xmlns:a16="http://schemas.microsoft.com/office/drawing/2014/main" id="{679A7871-444E-0734-68AD-561363CDFDA4}"/>
              </a:ext>
            </a:extLst>
          </p:cNvPr>
          <p:cNvSpPr txBox="1"/>
          <p:nvPr/>
        </p:nvSpPr>
        <p:spPr>
          <a:xfrm>
            <a:off x="5820420" y="2020133"/>
            <a:ext cx="7725747" cy="369332"/>
          </a:xfrm>
          <a:prstGeom prst="rect">
            <a:avLst/>
          </a:prstGeom>
          <a:noFill/>
        </p:spPr>
        <p:txBody>
          <a:bodyPr wrap="square">
            <a:spAutoFit/>
          </a:bodyPr>
          <a:lstStyle/>
          <a:p>
            <a:r>
              <a:rPr lang="en-CN" sz="1800" spc="-1" dirty="0">
                <a:solidFill>
                  <a:srgbClr val="000000"/>
                </a:solidFill>
                <a:latin typeface="Arial"/>
                <a:ea typeface="DejaVu Sans"/>
              </a:rPr>
              <a:t>Detected by different tools</a:t>
            </a:r>
            <a:endParaRPr lang="en-GB" sz="1800" dirty="0">
              <a:effectLst/>
              <a:latin typeface="Helvetica" pitchFamily="2" charset="0"/>
            </a:endParaRPr>
          </a:p>
        </p:txBody>
      </p:sp>
    </p:spTree>
    <p:extLst>
      <p:ext uri="{BB962C8B-B14F-4D97-AF65-F5344CB8AC3E}">
        <p14:creationId xmlns:p14="http://schemas.microsoft.com/office/powerpoint/2010/main" val="2857906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260775</TotalTime>
  <Words>1860</Words>
  <Application>Microsoft Macintosh PowerPoint</Application>
  <PresentationFormat>Custom</PresentationFormat>
  <Paragraphs>262</Paragraphs>
  <Slides>25</Slides>
  <Notes>15</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25</vt:i4>
      </vt:variant>
    </vt:vector>
  </HeadingPairs>
  <TitlesOfParts>
    <vt:vector size="35" baseType="lpstr">
      <vt:lpstr>system-ui</vt:lpstr>
      <vt:lpstr>Arial</vt:lpstr>
      <vt:lpstr>Calibri</vt:lpstr>
      <vt:lpstr>Helvetica</vt:lpstr>
      <vt:lpstr>Symbol</vt:lpstr>
      <vt:lpstr>Times New Roman</vt:lpstr>
      <vt:lpstr>Wingdings</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 der Präsentation über drei Zeilen mit einem kursiven Artennamen</dc:title>
  <dc:subject/>
  <dc:creator/>
  <dc:description/>
  <cp:lastModifiedBy>xiaoqing pan</cp:lastModifiedBy>
  <cp:revision>1416</cp:revision>
  <dcterms:created xsi:type="dcterms:W3CDTF">2021-09-07T09:08:09Z</dcterms:created>
  <dcterms:modified xsi:type="dcterms:W3CDTF">2026-07-27T14:21:54Z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6</vt:i4>
  </property>
  <property fmtid="{D5CDD505-2E9C-101B-9397-08002B2CF9AE}" pid="8" name="PresentationFormat">
    <vt:lpwstr>Custom</vt:lpwstr>
  </property>
  <property fmtid="{D5CDD505-2E9C-101B-9397-08002B2CF9AE}" pid="9" name="ScaleCrop">
    <vt:bool>false</vt:bool>
  </property>
  <property fmtid="{D5CDD505-2E9C-101B-9397-08002B2CF9AE}" pid="10" name="ShareDoc">
    <vt:bool>false</vt:bool>
  </property>
  <property fmtid="{D5CDD505-2E9C-101B-9397-08002B2CF9AE}" pid="11" name="Slides">
    <vt:i4>24</vt:i4>
  </property>
</Properties>
</file>