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13"/>
  </p:notesMasterIdLst>
  <p:sldIdLst>
    <p:sldId id="256" r:id="rId2"/>
    <p:sldId id="260" r:id="rId3"/>
    <p:sldId id="261" r:id="rId4"/>
    <p:sldId id="263" r:id="rId5"/>
    <p:sldId id="264" r:id="rId6"/>
    <p:sldId id="265" r:id="rId7"/>
    <p:sldId id="266" r:id="rId8"/>
    <p:sldId id="267" r:id="rId9"/>
    <p:sldId id="268" r:id="rId10"/>
    <p:sldId id="257" r:id="rId11"/>
    <p:sldId id="258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0"/>
    <p:restoredTop sz="94676"/>
  </p:normalViewPr>
  <p:slideViewPr>
    <p:cSldViewPr snapToGrid="0">
      <p:cViewPr varScale="1">
        <p:scale>
          <a:sx n="110" d="100"/>
          <a:sy n="110" d="100"/>
        </p:scale>
        <p:origin x="536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B220430-931D-9547-A10A-26B22A25A64C}" type="datetimeFigureOut">
              <a:rPr lang="en-CN" smtClean="0"/>
              <a:t>2026/7/19</a:t>
            </a:fld>
            <a:endParaRPr lang="en-C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3D8BA2A-2565-254D-A037-7593C7579E6A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9638643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1F9BDF-727F-034F-85AF-0E6283C0AB30}" type="datetimeFigureOut">
              <a:rPr lang="en-CN" smtClean="0"/>
              <a:t>2026/7/16</a:t>
            </a:fld>
            <a:endParaRPr lang="en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BA9E04-3E27-E845-B546-2A398397E96D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41978517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1F9BDF-727F-034F-85AF-0E6283C0AB30}" type="datetimeFigureOut">
              <a:rPr lang="en-CN" smtClean="0"/>
              <a:t>2026/7/16</a:t>
            </a:fld>
            <a:endParaRPr lang="en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BA9E04-3E27-E845-B546-2A398397E96D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0172899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1F9BDF-727F-034F-85AF-0E6283C0AB30}" type="datetimeFigureOut">
              <a:rPr lang="en-CN" smtClean="0"/>
              <a:t>2026/7/16</a:t>
            </a:fld>
            <a:endParaRPr lang="en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BA9E04-3E27-E845-B546-2A398397E96D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2458677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1F9BDF-727F-034F-85AF-0E6283C0AB30}" type="datetimeFigureOut">
              <a:rPr lang="en-CN" smtClean="0"/>
              <a:t>2026/7/16</a:t>
            </a:fld>
            <a:endParaRPr lang="en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BA9E04-3E27-E845-B546-2A398397E96D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0269506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1F9BDF-727F-034F-85AF-0E6283C0AB30}" type="datetimeFigureOut">
              <a:rPr lang="en-CN" smtClean="0"/>
              <a:t>2026/7/16</a:t>
            </a:fld>
            <a:endParaRPr lang="en-C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BA9E04-3E27-E845-B546-2A398397E96D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5839073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1F9BDF-727F-034F-85AF-0E6283C0AB30}" type="datetimeFigureOut">
              <a:rPr lang="en-CN" smtClean="0"/>
              <a:t>2026/7/16</a:t>
            </a:fld>
            <a:endParaRPr lang="en-C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BA9E04-3E27-E845-B546-2A398397E96D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7897566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1F9BDF-727F-034F-85AF-0E6283C0AB30}" type="datetimeFigureOut">
              <a:rPr lang="en-CN" smtClean="0"/>
              <a:t>2026/7/16</a:t>
            </a:fld>
            <a:endParaRPr lang="en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BA9E04-3E27-E845-B546-2A398397E96D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0414064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1F9BDF-727F-034F-85AF-0E6283C0AB30}" type="datetimeFigureOut">
              <a:rPr lang="en-CN" smtClean="0"/>
              <a:t>2026/7/16</a:t>
            </a:fld>
            <a:endParaRPr lang="en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BA9E04-3E27-E845-B546-2A398397E96D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577789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1F9BDF-727F-034F-85AF-0E6283C0AB30}" type="datetimeFigureOut">
              <a:rPr lang="en-CN" smtClean="0"/>
              <a:t>2026/7/16</a:t>
            </a:fld>
            <a:endParaRPr lang="en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BA9E04-3E27-E845-B546-2A398397E96D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9152704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1F9BDF-727F-034F-85AF-0E6283C0AB30}" type="datetimeFigureOut">
              <a:rPr lang="en-CN" smtClean="0"/>
              <a:t>2026/7/16</a:t>
            </a:fld>
            <a:endParaRPr lang="en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BA9E04-3E27-E845-B546-2A398397E96D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41791270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1F9BDF-727F-034F-85AF-0E6283C0AB30}" type="datetimeFigureOut">
              <a:rPr lang="en-CN" smtClean="0"/>
              <a:t>2026/7/16</a:t>
            </a:fld>
            <a:endParaRPr lang="en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BA9E04-3E27-E845-B546-2A398397E96D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7079050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1F9BDF-727F-034F-85AF-0E6283C0AB30}" type="datetimeFigureOut">
              <a:rPr lang="en-CN" smtClean="0"/>
              <a:t>2026/7/16</a:t>
            </a:fld>
            <a:endParaRPr lang="en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BA9E04-3E27-E845-B546-2A398397E96D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84833169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hyperlink" Target="http://www.ibe.upf-csic.es/" TargetMode="External"/><Relationship Id="rId3" Type="http://schemas.openxmlformats.org/officeDocument/2006/relationships/hyperlink" Target="https://www.bsc.es/discover-bsc/organisation/scientific-structure/life-sciences" TargetMode="External"/><Relationship Id="rId7" Type="http://schemas.openxmlformats.org/officeDocument/2006/relationships/hyperlink" Target="http://bhusers.upf.edu/tmarques/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://www.crg.eu/" TargetMode="External"/><Relationship Id="rId5" Type="http://schemas.openxmlformats.org/officeDocument/2006/relationships/hyperlink" Target="http://big.crg.cat/computational_biology_of_rna_processing" TargetMode="External"/><Relationship Id="rId4" Type="http://schemas.openxmlformats.org/officeDocument/2006/relationships/hyperlink" Target="http://www.rinnlab.com/" TargetMode="Externa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hyperlink" Target="https://www.bsc.es/discover-bsc/organisation/scientific-structure/life-sciences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hyperlink" Target="https://www.thelancet.com/journals/laninf/article/PIIS1473-3099(25)00085-4/fulltext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B2F0CA-BF20-D2DF-D566-AB3FC6C2CB9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CN" dirty="0"/>
              <a:t>Science that matters</a:t>
            </a:r>
          </a:p>
        </p:txBody>
      </p:sp>
    </p:spTree>
    <p:extLst>
      <p:ext uri="{BB962C8B-B14F-4D97-AF65-F5344CB8AC3E}">
        <p14:creationId xmlns:p14="http://schemas.microsoft.com/office/powerpoint/2010/main" val="29028085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E70EF8-793F-AC46-E2B1-3A67224F95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Marte</a:t>
            </a:r>
            <a:r>
              <a:rPr lang="zh-CN" altLang="en-US" dirty="0"/>
              <a:t> </a:t>
            </a:r>
            <a:r>
              <a:rPr lang="en-US" altLang="zh-CN" dirty="0"/>
              <a:t>Mele</a:t>
            </a:r>
            <a:endParaRPr lang="en-C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CCAFF5A-990F-98F7-C3FF-A59BEBCFC5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4414" y="1690688"/>
            <a:ext cx="2702169" cy="392457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A4411A0-C1B5-C290-A6B1-C4D3F973DE25}"/>
              </a:ext>
            </a:extLst>
          </p:cNvPr>
          <p:cNvSpPr txBox="1"/>
          <p:nvPr/>
        </p:nvSpPr>
        <p:spPr>
          <a:xfrm>
            <a:off x="3634154" y="1508989"/>
            <a:ext cx="8405446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b="1" i="0" dirty="0">
                <a:effectLst/>
                <a:latin typeface="Roboto Condensed" panose="020F0502020204030204" pitchFamily="34" charset="0"/>
              </a:rPr>
              <a:t>Education</a:t>
            </a:r>
          </a:p>
          <a:p>
            <a:pPr algn="l"/>
            <a:r>
              <a:rPr lang="en-GB" b="0" i="0" dirty="0">
                <a:effectLst/>
                <a:latin typeface="Roboto Condensed" panose="020F0502020204030204" pitchFamily="34" charset="0"/>
              </a:rPr>
              <a:t> </a:t>
            </a:r>
          </a:p>
          <a:p>
            <a:pPr algn="l"/>
            <a:r>
              <a:rPr lang="en-GB" b="1" i="0" dirty="0">
                <a:effectLst/>
                <a:latin typeface="Roboto Condensed" panose="020F0502020204030204" pitchFamily="34" charset="0"/>
              </a:rPr>
              <a:t>2008 – 2011</a:t>
            </a:r>
            <a:r>
              <a:rPr lang="en-GB" b="0" i="0" dirty="0">
                <a:effectLst/>
                <a:latin typeface="Roboto Condensed" panose="020F0502020204030204" pitchFamily="34" charset="0"/>
              </a:rPr>
              <a:t>     Ph. D. in Biomedical Research. University </a:t>
            </a:r>
            <a:r>
              <a:rPr lang="en-GB" b="0" i="0" dirty="0" err="1">
                <a:effectLst/>
                <a:latin typeface="Roboto Condensed" panose="020F0502020204030204" pitchFamily="34" charset="0"/>
              </a:rPr>
              <a:t>Pompeu</a:t>
            </a:r>
            <a:r>
              <a:rPr lang="en-GB" b="0" i="0" dirty="0">
                <a:effectLst/>
                <a:latin typeface="Roboto Condensed" panose="020F0502020204030204" pitchFamily="34" charset="0"/>
              </a:rPr>
              <a:t> </a:t>
            </a:r>
            <a:r>
              <a:rPr lang="en-GB" b="0" i="0" dirty="0" err="1">
                <a:effectLst/>
                <a:latin typeface="Roboto Condensed" panose="020F0502020204030204" pitchFamily="34" charset="0"/>
              </a:rPr>
              <a:t>Fabra</a:t>
            </a:r>
            <a:r>
              <a:rPr lang="en-GB" b="0" i="0" dirty="0">
                <a:effectLst/>
                <a:latin typeface="Roboto Condensed" panose="020F0502020204030204" pitchFamily="34" charset="0"/>
              </a:rPr>
              <a:t>, Barcelona. Cum Laude. </a:t>
            </a:r>
          </a:p>
          <a:p>
            <a:pPr algn="l"/>
            <a:r>
              <a:rPr lang="en-GB" b="1" i="0" dirty="0">
                <a:effectLst/>
                <a:latin typeface="Roboto Condensed" panose="020F0502020204030204" pitchFamily="34" charset="0"/>
              </a:rPr>
              <a:t>2006 – 2007</a:t>
            </a:r>
            <a:r>
              <a:rPr lang="en-GB" b="0" i="0" dirty="0">
                <a:effectLst/>
                <a:latin typeface="Roboto Condensed" panose="020F0502020204030204" pitchFamily="34" charset="0"/>
              </a:rPr>
              <a:t>     M. Sc. in Biomedical Research. University </a:t>
            </a:r>
            <a:r>
              <a:rPr lang="en-GB" b="0" i="0" dirty="0" err="1">
                <a:effectLst/>
                <a:latin typeface="Roboto Condensed" panose="020F0502020204030204" pitchFamily="34" charset="0"/>
              </a:rPr>
              <a:t>Pompeu</a:t>
            </a:r>
            <a:r>
              <a:rPr lang="en-GB" b="0" i="0" dirty="0">
                <a:effectLst/>
                <a:latin typeface="Roboto Condensed" panose="020F0502020204030204" pitchFamily="34" charset="0"/>
              </a:rPr>
              <a:t> </a:t>
            </a:r>
            <a:r>
              <a:rPr lang="en-GB" b="0" i="0" dirty="0" err="1">
                <a:effectLst/>
                <a:latin typeface="Roboto Condensed" panose="020F0502020204030204" pitchFamily="34" charset="0"/>
              </a:rPr>
              <a:t>Fabra</a:t>
            </a:r>
            <a:r>
              <a:rPr lang="en-GB" b="0" i="0" dirty="0">
                <a:effectLst/>
                <a:latin typeface="Roboto Condensed" panose="020F0502020204030204" pitchFamily="34" charset="0"/>
              </a:rPr>
              <a:t>, Barcelona.</a:t>
            </a:r>
          </a:p>
          <a:p>
            <a:pPr algn="l"/>
            <a:r>
              <a:rPr lang="en-GB" b="1" i="0" dirty="0">
                <a:effectLst/>
                <a:latin typeface="Roboto Condensed" panose="020F0502020204030204" pitchFamily="34" charset="0"/>
              </a:rPr>
              <a:t>2000 – 2005</a:t>
            </a:r>
            <a:r>
              <a:rPr lang="en-GB" b="0" i="0" dirty="0">
                <a:effectLst/>
                <a:latin typeface="Roboto Condensed" panose="020F0502020204030204" pitchFamily="34" charset="0"/>
              </a:rPr>
              <a:t>     B. Sc. in Biology (with Honours). University of Barcelona, Barcelona.</a:t>
            </a:r>
          </a:p>
          <a:p>
            <a:pPr algn="l"/>
            <a:endParaRPr lang="en-GB" b="1" i="0" dirty="0">
              <a:effectLst/>
              <a:latin typeface="Roboto Condensed" panose="020F0502020204030204" pitchFamily="34" charset="0"/>
            </a:endParaRPr>
          </a:p>
          <a:p>
            <a:pPr algn="l"/>
            <a:r>
              <a:rPr lang="en-GB" b="1" i="0" dirty="0">
                <a:effectLst/>
                <a:latin typeface="Roboto Condensed" panose="020F0502020204030204" pitchFamily="34" charset="0"/>
              </a:rPr>
              <a:t>Research</a:t>
            </a:r>
          </a:p>
          <a:p>
            <a:pPr algn="l"/>
            <a:r>
              <a:rPr lang="en-GB" b="1" i="0" dirty="0">
                <a:effectLst/>
                <a:latin typeface="Roboto Condensed" panose="020F0502020204030204" pitchFamily="34" charset="0"/>
              </a:rPr>
              <a:t>2019-Present</a:t>
            </a:r>
            <a:r>
              <a:rPr lang="en-GB" b="0" i="0" dirty="0">
                <a:effectLst/>
                <a:latin typeface="Roboto Condensed" panose="020F0502020204030204" pitchFamily="34" charset="0"/>
              </a:rPr>
              <a:t> – Group Leader at the </a:t>
            </a:r>
            <a:r>
              <a:rPr lang="en-GB" b="0" i="0" u="none" strike="noStrike" dirty="0">
                <a:effectLst/>
                <a:latin typeface="Roboto Condensed" panose="020F0502020204030204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Life Sciences Department of the Barcelona Supercomputing Center</a:t>
            </a:r>
            <a:endParaRPr lang="en-GB" b="0" i="0" dirty="0">
              <a:effectLst/>
              <a:latin typeface="Roboto Condensed" panose="020F0502020204030204" pitchFamily="34" charset="0"/>
            </a:endParaRPr>
          </a:p>
          <a:p>
            <a:pPr algn="l"/>
            <a:r>
              <a:rPr lang="en-GB" b="1" i="0" dirty="0">
                <a:effectLst/>
                <a:latin typeface="Roboto Condensed" panose="020F0502020204030204" pitchFamily="34" charset="0"/>
              </a:rPr>
              <a:t>2014 – 2018</a:t>
            </a:r>
            <a:r>
              <a:rPr lang="en-GB" b="0" i="0" dirty="0">
                <a:effectLst/>
                <a:latin typeface="Roboto Condensed" panose="020F0502020204030204" pitchFamily="34" charset="0"/>
              </a:rPr>
              <a:t>– Postdoc at the </a:t>
            </a:r>
            <a:r>
              <a:rPr lang="en-GB" b="0" i="0" u="none" strike="noStrike" dirty="0">
                <a:effectLst/>
                <a:latin typeface="Roboto Condensed" panose="020F0502020204030204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Rinn lab</a:t>
            </a:r>
            <a:r>
              <a:rPr lang="en-GB" b="0" i="0" dirty="0">
                <a:effectLst/>
                <a:latin typeface="Roboto Condensed" panose="020F0502020204030204" pitchFamily="34" charset="0"/>
              </a:rPr>
              <a:t> at Harvard University. Cambridge. MA.</a:t>
            </a:r>
          </a:p>
          <a:p>
            <a:pPr algn="l"/>
            <a:r>
              <a:rPr lang="en-GB" b="1" i="0" dirty="0">
                <a:effectLst/>
                <a:latin typeface="Roboto Condensed" panose="020F0502020204030204" pitchFamily="34" charset="0"/>
              </a:rPr>
              <a:t>2011 – 2014</a:t>
            </a:r>
            <a:r>
              <a:rPr lang="en-GB" b="0" i="0" dirty="0">
                <a:effectLst/>
                <a:latin typeface="Roboto Condensed" panose="020F0502020204030204" pitchFamily="34" charset="0"/>
              </a:rPr>
              <a:t>. Postdoc at </a:t>
            </a:r>
            <a:r>
              <a:rPr lang="en-GB" b="0" i="0" u="none" strike="noStrike" dirty="0">
                <a:effectLst/>
                <a:latin typeface="Roboto Condensed" panose="020F0502020204030204" pitchFamily="34" charset="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Guigó Lab</a:t>
            </a:r>
            <a:r>
              <a:rPr lang="en-GB" b="0" i="0" dirty="0">
                <a:effectLst/>
                <a:latin typeface="Roboto Condensed" panose="020F0502020204030204" pitchFamily="34" charset="0"/>
              </a:rPr>
              <a:t> at the </a:t>
            </a:r>
            <a:r>
              <a:rPr lang="en-GB" b="0" i="0" u="none" strike="noStrike" dirty="0">
                <a:effectLst/>
                <a:latin typeface="Roboto Condensed" panose="020F0502020204030204" pitchFamily="34" charset="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Centre for Genomic Regulation</a:t>
            </a:r>
            <a:r>
              <a:rPr lang="en-GB" b="0" i="0" dirty="0">
                <a:effectLst/>
                <a:latin typeface="Roboto Condensed" panose="020F0502020204030204" pitchFamily="34" charset="0"/>
              </a:rPr>
              <a:t> (CRG). Barcelona. First year,  also affiliated with </a:t>
            </a:r>
            <a:r>
              <a:rPr lang="en-GB" b="0" i="0" u="none" strike="noStrike" dirty="0">
                <a:effectLst/>
                <a:latin typeface="Roboto Condensed" panose="020F0502020204030204" pitchFamily="34" charset="0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Marques-Bonet</a:t>
            </a:r>
            <a:r>
              <a:rPr lang="en-GB" b="0" i="0" dirty="0">
                <a:effectLst/>
                <a:latin typeface="Roboto Condensed" panose="020F0502020204030204" pitchFamily="34" charset="0"/>
              </a:rPr>
              <a:t> lab (IBE) at the </a:t>
            </a:r>
            <a:r>
              <a:rPr lang="en-GB" b="0" i="0" u="none" strike="noStrike" dirty="0">
                <a:effectLst/>
                <a:latin typeface="Roboto Condensed" panose="020F0502020204030204" pitchFamily="34" charset="0"/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Evolutionary Biology Institute </a:t>
            </a:r>
            <a:r>
              <a:rPr lang="en-GB" b="0" i="0" dirty="0">
                <a:effectLst/>
                <a:latin typeface="Roboto Condensed" panose="020F0502020204030204" pitchFamily="34" charset="0"/>
              </a:rPr>
              <a:t>(IBE). Barcelona.</a:t>
            </a:r>
          </a:p>
        </p:txBody>
      </p:sp>
    </p:spTree>
    <p:extLst>
      <p:ext uri="{BB962C8B-B14F-4D97-AF65-F5344CB8AC3E}">
        <p14:creationId xmlns:p14="http://schemas.microsoft.com/office/powerpoint/2010/main" val="2516649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>
            <a:extLst>
              <a:ext uri="{FF2B5EF4-FFF2-40B4-BE49-F238E27FC236}">
                <a16:creationId xmlns:a16="http://schemas.microsoft.com/office/drawing/2014/main" id="{33E8EED7-A7B7-52D8-4B7C-E1D1DA04FD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6538" y="0"/>
            <a:ext cx="6858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15E7303-017D-0253-F021-02AE6BFED9F8}"/>
              </a:ext>
            </a:extLst>
          </p:cNvPr>
          <p:cNvSpPr txBox="1"/>
          <p:nvPr/>
        </p:nvSpPr>
        <p:spPr>
          <a:xfrm>
            <a:off x="7215553" y="470763"/>
            <a:ext cx="4706815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sz="4000" b="0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The landscape of expression and alternative splicing variation across human traits</a:t>
            </a:r>
          </a:p>
          <a:p>
            <a:pPr algn="l"/>
            <a:r>
              <a:rPr lang="en-US" altLang="zh-CN" sz="2000" dirty="0">
                <a:latin typeface="Calibri" panose="020F0502020204030204" pitchFamily="34" charset="0"/>
                <a:cs typeface="Calibri" panose="020F0502020204030204" pitchFamily="34" charset="0"/>
              </a:rPr>
              <a:t>Garcia-Perez,</a:t>
            </a:r>
            <a:r>
              <a:rPr lang="zh-CN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2000" i="1" dirty="0">
                <a:latin typeface="Calibri" panose="020F0502020204030204" pitchFamily="34" charset="0"/>
                <a:cs typeface="Calibri" panose="020F0502020204030204" pitchFamily="34" charset="0"/>
              </a:rPr>
              <a:t>et</a:t>
            </a:r>
            <a:r>
              <a:rPr lang="zh-CN" altLang="en-US" sz="2000" i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2000" i="1" dirty="0">
                <a:latin typeface="Calibri" panose="020F0502020204030204" pitchFamily="34" charset="0"/>
                <a:cs typeface="Calibri" panose="020F0502020204030204" pitchFamily="34" charset="0"/>
              </a:rPr>
              <a:t>al.</a:t>
            </a:r>
            <a:r>
              <a:rPr lang="zh-CN" altLang="en-US" sz="2000" i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2000" dirty="0">
                <a:latin typeface="Calibri" panose="020F0502020204030204" pitchFamily="34" charset="0"/>
                <a:cs typeface="Calibri" panose="020F0502020204030204" pitchFamily="34" charset="0"/>
              </a:rPr>
              <a:t>Cell</a:t>
            </a:r>
            <a:r>
              <a:rPr lang="zh-CN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2000" dirty="0">
                <a:latin typeface="Calibri" panose="020F0502020204030204" pitchFamily="34" charset="0"/>
                <a:cs typeface="Calibri" panose="020F0502020204030204" pitchFamily="34" charset="0"/>
              </a:rPr>
              <a:t>Genomics.</a:t>
            </a:r>
            <a:r>
              <a:rPr lang="zh-CN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2000" dirty="0">
                <a:latin typeface="Calibri" panose="020F0502020204030204" pitchFamily="34" charset="0"/>
                <a:cs typeface="Calibri" panose="020F0502020204030204" pitchFamily="34" charset="0"/>
              </a:rPr>
              <a:t>2023.</a:t>
            </a:r>
            <a:endParaRPr lang="en-GB" sz="2000" b="0" i="0" dirty="0"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268537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>
            <a:extLst>
              <a:ext uri="{FF2B5EF4-FFF2-40B4-BE49-F238E27FC236}">
                <a16:creationId xmlns:a16="http://schemas.microsoft.com/office/drawing/2014/main" id="{A50976DE-ECE4-C47B-F91D-59DD5FF6898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9423"/>
          <a:stretch/>
        </p:blipFill>
        <p:spPr bwMode="auto">
          <a:xfrm>
            <a:off x="353028" y="1395998"/>
            <a:ext cx="4947138" cy="51736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115C48C-6EAA-14C9-38DF-6CCC8052E96A}"/>
              </a:ext>
            </a:extLst>
          </p:cNvPr>
          <p:cNvSpPr txBox="1"/>
          <p:nvPr/>
        </p:nvSpPr>
        <p:spPr>
          <a:xfrm>
            <a:off x="5300166" y="1491684"/>
            <a:ext cx="6099858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GB" b="0" i="0" dirty="0">
                <a:effectLst/>
                <a:latin typeface="Inter Variable"/>
              </a:rPr>
              <a:t>G</a:t>
            </a:r>
            <a:r>
              <a:rPr lang="en-US" altLang="zh-CN" b="0" i="0" dirty="0">
                <a:effectLst/>
                <a:latin typeface="Inter Variable"/>
              </a:rPr>
              <a:t>STM3</a:t>
            </a:r>
            <a:r>
              <a:rPr lang="zh-CN" altLang="en-US" b="0" i="0" dirty="0">
                <a:effectLst/>
                <a:latin typeface="Inter Variable"/>
              </a:rPr>
              <a:t> </a:t>
            </a:r>
            <a:r>
              <a:rPr lang="en-GB" b="0" i="0" dirty="0">
                <a:effectLst/>
                <a:latin typeface="Inter Variable"/>
              </a:rPr>
              <a:t>is linked to a slight increase in various cancers, including </a:t>
            </a:r>
            <a:r>
              <a:rPr lang="en-GB" b="1" i="0" dirty="0">
                <a:effectLst/>
                <a:latin typeface="Inter Variable"/>
              </a:rPr>
              <a:t>pancreatic cancer</a:t>
            </a:r>
            <a:r>
              <a:rPr lang="en-US" altLang="zh-CN" b="1" i="0" dirty="0">
                <a:effectLst/>
                <a:latin typeface="Inter Variable"/>
              </a:rPr>
              <a:t>(</a:t>
            </a:r>
            <a:r>
              <a:rPr lang="zh-CN" altLang="en-US" b="1" i="0" dirty="0">
                <a:effectLst/>
                <a:latin typeface="Inter Variable"/>
              </a:rPr>
              <a:t>胰腺癌</a:t>
            </a:r>
            <a:r>
              <a:rPr lang="en-US" altLang="zh-CN" b="1" i="0" dirty="0">
                <a:effectLst/>
                <a:latin typeface="Inter Variable"/>
              </a:rPr>
              <a:t>)</a:t>
            </a:r>
            <a:r>
              <a:rPr lang="en-GB" b="0" i="0" dirty="0">
                <a:effectLst/>
                <a:latin typeface="Inter Variable"/>
              </a:rPr>
              <a:t> and </a:t>
            </a:r>
            <a:r>
              <a:rPr lang="en-GB" b="1" i="0" dirty="0">
                <a:effectLst/>
                <a:latin typeface="Inter Variable"/>
              </a:rPr>
              <a:t>hepatocellular carcinoma</a:t>
            </a:r>
            <a:r>
              <a:rPr lang="en-US" altLang="zh-CN" b="1" i="0" dirty="0">
                <a:effectLst/>
                <a:latin typeface="Inter Variable"/>
              </a:rPr>
              <a:t>(</a:t>
            </a:r>
            <a:r>
              <a:rPr lang="zh-CN" altLang="en-US" b="1" i="0" dirty="0">
                <a:effectLst/>
                <a:latin typeface="Inter Variable"/>
              </a:rPr>
              <a:t>肝癌细胞</a:t>
            </a:r>
            <a:r>
              <a:rPr lang="en-US" altLang="zh-CN" b="1" i="0" dirty="0">
                <a:effectLst/>
                <a:latin typeface="Inter Variable"/>
              </a:rPr>
              <a:t>)</a:t>
            </a:r>
            <a:r>
              <a:rPr lang="en-GB" b="0" i="0" dirty="0">
                <a:effectLst/>
                <a:latin typeface="Inter Variable"/>
              </a:rPr>
              <a:t>, and has been identified as an independent prognostic factor in </a:t>
            </a:r>
            <a:r>
              <a:rPr lang="en-GB" b="1" i="0" dirty="0">
                <a:effectLst/>
                <a:latin typeface="Inter Variable"/>
              </a:rPr>
              <a:t>gastric cancer</a:t>
            </a:r>
            <a:r>
              <a:rPr lang="en-GB" b="0" i="0" dirty="0">
                <a:effectLst/>
                <a:latin typeface="Inter Variable"/>
              </a:rPr>
              <a:t> where its deficiency impedes DNA mismatch repair.</a:t>
            </a:r>
          </a:p>
          <a:p>
            <a:pPr algn="just"/>
            <a:endParaRPr lang="en-GB" dirty="0">
              <a:latin typeface="Inter Variable"/>
            </a:endParaRPr>
          </a:p>
          <a:p>
            <a:pPr algn="just"/>
            <a:endParaRPr lang="en-US" altLang="zh-CN" b="0" i="0" dirty="0">
              <a:effectLst/>
              <a:latin typeface="Inter Variable"/>
            </a:endParaRPr>
          </a:p>
          <a:p>
            <a:pPr algn="just"/>
            <a:endParaRPr lang="en-US" altLang="zh-CN" dirty="0">
              <a:latin typeface="Inter Variable"/>
            </a:endParaRPr>
          </a:p>
          <a:p>
            <a:pPr algn="just"/>
            <a:endParaRPr lang="en-US" altLang="zh-CN" b="0" i="0" dirty="0">
              <a:effectLst/>
              <a:latin typeface="Inter Variable"/>
            </a:endParaRPr>
          </a:p>
          <a:p>
            <a:pPr algn="just"/>
            <a:endParaRPr lang="en-US" altLang="zh-CN" dirty="0">
              <a:latin typeface="Inter Variable"/>
            </a:endParaRPr>
          </a:p>
          <a:p>
            <a:pPr algn="just"/>
            <a:r>
              <a:rPr lang="en-US" altLang="zh-CN" b="0" i="0" dirty="0">
                <a:effectLst/>
                <a:latin typeface="Inter Variable"/>
              </a:rPr>
              <a:t>ZMAT3</a:t>
            </a:r>
            <a:r>
              <a:rPr lang="zh-CN" altLang="en-US" b="0" i="0" dirty="0">
                <a:effectLst/>
                <a:latin typeface="Inter Variable"/>
              </a:rPr>
              <a:t> </a:t>
            </a:r>
            <a:r>
              <a:rPr lang="en-GB" b="0" i="0" dirty="0">
                <a:effectLst/>
                <a:latin typeface="Inter Variable"/>
              </a:rPr>
              <a:t>is a direct transcriptional target of </a:t>
            </a:r>
            <a:r>
              <a:rPr lang="en-GB" b="1" i="0" dirty="0">
                <a:effectLst/>
                <a:latin typeface="Inter Variable"/>
              </a:rPr>
              <a:t>p53 (TP53)</a:t>
            </a:r>
            <a:r>
              <a:rPr lang="en-GB" b="0" i="0" dirty="0">
                <a:effectLst/>
                <a:latin typeface="Inter Variable"/>
              </a:rPr>
              <a:t> and plays a critical role in the </a:t>
            </a:r>
            <a:r>
              <a:rPr lang="en-GB" b="1" i="0" dirty="0">
                <a:effectLst/>
                <a:latin typeface="Inter Variable"/>
              </a:rPr>
              <a:t>p53-dependent growth regulatory pathway</a:t>
            </a:r>
            <a:r>
              <a:rPr lang="en-GB" b="0" i="0" dirty="0">
                <a:effectLst/>
                <a:latin typeface="Inter Variable"/>
              </a:rPr>
              <a:t> by inhibiting </a:t>
            </a:r>
            <a:r>
              <a:rPr lang="en-GB" b="0" i="0" dirty="0" err="1">
                <a:effectLst/>
                <a:latin typeface="Inter Variable"/>
              </a:rPr>
              <a:t>tumor</a:t>
            </a:r>
            <a:r>
              <a:rPr lang="en-GB" b="0" i="0" dirty="0">
                <a:effectLst/>
                <a:latin typeface="Inter Variable"/>
              </a:rPr>
              <a:t> cell growth and contributing to apoptosis.</a:t>
            </a:r>
            <a:endParaRPr lang="en-C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F8E1671-B74D-E2F1-511F-54688A649DDC}"/>
              </a:ext>
            </a:extLst>
          </p:cNvPr>
          <p:cNvSpPr txBox="1"/>
          <p:nvPr/>
        </p:nvSpPr>
        <p:spPr>
          <a:xfrm>
            <a:off x="353028" y="288339"/>
            <a:ext cx="1133740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b="1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Tissue sharing of DEGs and contribution of genetic variants to expression differences between human populations</a:t>
            </a:r>
            <a:endParaRPr lang="en-CN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217487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2B7309-92A4-DE8C-058B-0665DF8CA2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Eva</a:t>
            </a:r>
            <a:r>
              <a:rPr lang="zh-CN" altLang="en-US" dirty="0"/>
              <a:t> </a:t>
            </a:r>
            <a:r>
              <a:rPr lang="en-US" altLang="zh-CN" dirty="0"/>
              <a:t>Maria</a:t>
            </a:r>
            <a:r>
              <a:rPr lang="zh-CN" altLang="en-US" dirty="0"/>
              <a:t> </a:t>
            </a:r>
            <a:r>
              <a:rPr lang="en-US" altLang="zh-CN" dirty="0" err="1"/>
              <a:t>Novoa</a:t>
            </a:r>
            <a:endParaRPr lang="en-C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2323D19-029C-F5EA-CECD-E1E60F48B644}"/>
              </a:ext>
            </a:extLst>
          </p:cNvPr>
          <p:cNvSpPr txBox="1"/>
          <p:nvPr/>
        </p:nvSpPr>
        <p:spPr>
          <a:xfrm>
            <a:off x="5196736" y="1532138"/>
            <a:ext cx="6308499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b="1" i="0" dirty="0">
                <a:effectLst/>
                <a:latin typeface="Roboto Condensed" panose="020F0502020204030204" pitchFamily="34" charset="0"/>
              </a:rPr>
              <a:t>Education</a:t>
            </a:r>
          </a:p>
          <a:p>
            <a:pPr algn="l"/>
            <a:r>
              <a:rPr lang="en-GB" b="0" i="0" dirty="0">
                <a:effectLst/>
                <a:latin typeface="Roboto Condensed" panose="020F0502020204030204" pitchFamily="34" charset="0"/>
              </a:rPr>
              <a:t> </a:t>
            </a:r>
          </a:p>
          <a:p>
            <a:pPr algn="l"/>
            <a:r>
              <a:rPr lang="en-GB" b="1" i="0" dirty="0">
                <a:effectLst/>
                <a:latin typeface="Roboto Condensed" panose="020F0502020204030204" pitchFamily="34" charset="0"/>
              </a:rPr>
              <a:t>20</a:t>
            </a:r>
            <a:r>
              <a:rPr lang="en-US" altLang="zh-CN" b="1" i="0" dirty="0">
                <a:effectLst/>
                <a:latin typeface="Roboto Condensed" panose="020F0502020204030204" pitchFamily="34" charset="0"/>
              </a:rPr>
              <a:t>12</a:t>
            </a:r>
            <a:r>
              <a:rPr lang="en-GB" b="0" i="0" dirty="0">
                <a:effectLst/>
                <a:latin typeface="Roboto Condensed" panose="020F0502020204030204" pitchFamily="34" charset="0"/>
              </a:rPr>
              <a:t>     Ph. D. in </a:t>
            </a:r>
            <a:r>
              <a:rPr lang="en-GB" b="0" i="0" dirty="0">
                <a:solidFill>
                  <a:srgbClr val="FFFFFF"/>
                </a:solidFill>
                <a:effectLst/>
                <a:latin typeface="Manrope"/>
              </a:rPr>
              <a:t>Biomedicine</a:t>
            </a:r>
            <a:endParaRPr lang="en-GB" b="0" i="0" dirty="0">
              <a:effectLst/>
              <a:latin typeface="Roboto Condensed" panose="020F0502020204030204" pitchFamily="34" charset="0"/>
            </a:endParaRPr>
          </a:p>
          <a:p>
            <a:pPr algn="l"/>
            <a:r>
              <a:rPr lang="en-GB" b="1" i="0" dirty="0">
                <a:effectLst/>
                <a:latin typeface="Roboto Condensed" panose="020F0502020204030204" pitchFamily="34" charset="0"/>
              </a:rPr>
              <a:t>200</a:t>
            </a:r>
            <a:r>
              <a:rPr lang="en-US" altLang="zh-CN" b="1" i="0" dirty="0">
                <a:effectLst/>
                <a:latin typeface="Roboto Condensed" panose="020F0502020204030204" pitchFamily="34" charset="0"/>
              </a:rPr>
              <a:t>7</a:t>
            </a:r>
            <a:r>
              <a:rPr lang="en-GB" b="0" i="0" dirty="0">
                <a:effectLst/>
                <a:latin typeface="Roboto Condensed" panose="020F0502020204030204" pitchFamily="34" charset="0"/>
              </a:rPr>
              <a:t>     B. Sc. in </a:t>
            </a:r>
            <a:r>
              <a:rPr lang="en-GB" b="0" i="0" dirty="0">
                <a:solidFill>
                  <a:srgbClr val="FFFFFF"/>
                </a:solidFill>
                <a:effectLst/>
                <a:latin typeface="Manrope"/>
              </a:rPr>
              <a:t>Biochemistry</a:t>
            </a:r>
            <a:endParaRPr lang="en-GB" b="0" i="0" dirty="0">
              <a:effectLst/>
              <a:latin typeface="Roboto Condensed" panose="020F0502020204030204" pitchFamily="34" charset="0"/>
            </a:endParaRPr>
          </a:p>
          <a:p>
            <a:pPr algn="l"/>
            <a:endParaRPr lang="en-GB" b="1" i="0" dirty="0">
              <a:effectLst/>
              <a:latin typeface="Roboto Condensed" panose="020F0502020204030204" pitchFamily="34" charset="0"/>
            </a:endParaRPr>
          </a:p>
          <a:p>
            <a:pPr algn="l"/>
            <a:r>
              <a:rPr lang="en-GB" b="1" i="0" dirty="0">
                <a:effectLst/>
                <a:latin typeface="Roboto Condensed" panose="020F0502020204030204" pitchFamily="34" charset="0"/>
              </a:rPr>
              <a:t>Research</a:t>
            </a:r>
          </a:p>
          <a:p>
            <a:pPr algn="l"/>
            <a:r>
              <a:rPr lang="en-GB" b="1" i="0" dirty="0">
                <a:effectLst/>
                <a:latin typeface="Roboto Condensed" panose="020F0502020204030204" pitchFamily="34" charset="0"/>
              </a:rPr>
              <a:t>201</a:t>
            </a:r>
            <a:r>
              <a:rPr lang="en-US" altLang="zh-CN" b="1" i="0" dirty="0">
                <a:effectLst/>
                <a:latin typeface="Roboto Condensed" panose="020F0502020204030204" pitchFamily="34" charset="0"/>
              </a:rPr>
              <a:t>8</a:t>
            </a:r>
            <a:r>
              <a:rPr lang="en-GB" b="1" i="0" dirty="0">
                <a:effectLst/>
                <a:latin typeface="Roboto Condensed" panose="020F0502020204030204" pitchFamily="34" charset="0"/>
              </a:rPr>
              <a:t>-</a:t>
            </a:r>
            <a:r>
              <a:rPr lang="zh-CN" altLang="en-US" b="1" i="0" dirty="0">
                <a:effectLst/>
                <a:latin typeface="Roboto Condensed" panose="020F0502020204030204" pitchFamily="34" charset="0"/>
              </a:rPr>
              <a:t>  </a:t>
            </a:r>
            <a:r>
              <a:rPr lang="en-GB" b="1" i="0" dirty="0">
                <a:effectLst/>
                <a:latin typeface="Roboto Condensed" panose="020F0502020204030204" pitchFamily="34" charset="0"/>
              </a:rPr>
              <a:t>Present</a:t>
            </a:r>
            <a:r>
              <a:rPr lang="en-GB" b="0" i="0" dirty="0">
                <a:effectLst/>
                <a:latin typeface="Roboto Condensed" panose="020F0502020204030204" pitchFamily="34" charset="0"/>
              </a:rPr>
              <a:t> – Group Leader at the </a:t>
            </a:r>
            <a:r>
              <a:rPr lang="en-GB" b="0" i="0" u="none" strike="noStrike" dirty="0">
                <a:effectLst/>
                <a:latin typeface="Roboto Condensed" panose="020F0502020204030204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Center for genomic regulation</a:t>
            </a:r>
            <a:r>
              <a:rPr lang="zh-CN" altLang="en-US" b="0" i="0" u="none" strike="noStrike" dirty="0">
                <a:effectLst/>
                <a:latin typeface="Roboto Condensed" panose="020F0502020204030204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altLang="zh-CN" b="0" i="0" u="none" strike="noStrike" dirty="0">
              <a:effectLst/>
              <a:latin typeface="Roboto Condensed" panose="020F0502020204030204" pitchFamily="34" charset="0"/>
            </a:endParaRPr>
          </a:p>
          <a:p>
            <a:pPr algn="l"/>
            <a:r>
              <a:rPr lang="en-GB" b="1" i="0" dirty="0">
                <a:effectLst/>
                <a:latin typeface="Roboto Condensed" panose="020F0502020204030204" pitchFamily="34" charset="0"/>
              </a:rPr>
              <a:t>201</a:t>
            </a:r>
            <a:r>
              <a:rPr lang="en-US" altLang="zh-CN" b="1" i="0" dirty="0">
                <a:effectLst/>
                <a:latin typeface="Roboto Condensed" panose="020F0502020204030204" pitchFamily="34" charset="0"/>
              </a:rPr>
              <a:t>2</a:t>
            </a:r>
            <a:r>
              <a:rPr lang="en-GB" b="1" i="0" dirty="0">
                <a:effectLst/>
                <a:latin typeface="Roboto Condensed" panose="020F0502020204030204" pitchFamily="34" charset="0"/>
              </a:rPr>
              <a:t> – 2018</a:t>
            </a:r>
            <a:r>
              <a:rPr lang="en-GB" b="0" i="0" dirty="0">
                <a:effectLst/>
                <a:latin typeface="Roboto Condensed" panose="020F0502020204030204" pitchFamily="34" charset="0"/>
              </a:rPr>
              <a:t>– Postdoc at </a:t>
            </a:r>
            <a:r>
              <a:rPr lang="en-GB" b="0" i="0" dirty="0">
                <a:solidFill>
                  <a:srgbClr val="FFFFFF"/>
                </a:solidFill>
                <a:effectLst/>
                <a:latin typeface="Manrope"/>
              </a:rPr>
              <a:t>Computational Biology laboratory at Massachusetts Institute of Technology (USA)</a:t>
            </a:r>
            <a:r>
              <a:rPr lang="zh-CN" altLang="en-US" dirty="0">
                <a:solidFill>
                  <a:srgbClr val="FFFFFF"/>
                </a:solidFill>
                <a:latin typeface="Roboto Condensed" panose="020F0502020204030204" pitchFamily="34" charset="0"/>
              </a:rPr>
              <a:t> </a:t>
            </a:r>
            <a:r>
              <a:rPr lang="en-US" altLang="zh-CN" dirty="0">
                <a:solidFill>
                  <a:srgbClr val="FFFFFF"/>
                </a:solidFill>
                <a:latin typeface="Roboto Condensed" panose="020F0502020204030204" pitchFamily="34" charset="0"/>
              </a:rPr>
              <a:t>and</a:t>
            </a:r>
            <a:r>
              <a:rPr lang="zh-CN" altLang="en-US" dirty="0">
                <a:solidFill>
                  <a:srgbClr val="FFFFFF"/>
                </a:solidFill>
                <a:latin typeface="Roboto Condensed" panose="020F0502020204030204" pitchFamily="34" charset="0"/>
              </a:rPr>
              <a:t> </a:t>
            </a:r>
            <a:r>
              <a:rPr lang="en-GB" b="0" i="0" dirty="0">
                <a:solidFill>
                  <a:srgbClr val="FFFFFF"/>
                </a:solidFill>
                <a:effectLst/>
                <a:latin typeface="Manrope"/>
              </a:rPr>
              <a:t> RNA Biology laboratory at the </a:t>
            </a:r>
            <a:r>
              <a:rPr lang="en-GB" b="0" i="0" dirty="0" err="1">
                <a:solidFill>
                  <a:srgbClr val="FFFFFF"/>
                </a:solidFill>
                <a:effectLst/>
                <a:latin typeface="Manrope"/>
              </a:rPr>
              <a:t>Garvan</a:t>
            </a:r>
            <a:r>
              <a:rPr lang="en-GB" b="0" i="0" dirty="0">
                <a:solidFill>
                  <a:srgbClr val="FFFFFF"/>
                </a:solidFill>
                <a:effectLst/>
                <a:latin typeface="Manrope"/>
              </a:rPr>
              <a:t> Institute of Medical Research (Australia).</a:t>
            </a:r>
            <a:endParaRPr lang="en-GB" b="0" i="0" dirty="0">
              <a:effectLst/>
              <a:latin typeface="Roboto Condensed" panose="020F0502020204030204" pitchFamily="34" charset="0"/>
            </a:endParaRPr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9BA86CE7-1E64-41A0-B174-1E2DB857EE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9351" y="1886673"/>
            <a:ext cx="3585496" cy="2390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112553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F96AB6-F3FE-3383-9FA7-C2F434319D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Transfer</a:t>
            </a:r>
            <a:r>
              <a:rPr lang="zh-CN" altLang="en-US" dirty="0"/>
              <a:t> </a:t>
            </a:r>
            <a:r>
              <a:rPr lang="en-US" altLang="zh-CN" dirty="0"/>
              <a:t>RNA</a:t>
            </a:r>
            <a:r>
              <a:rPr lang="zh-CN" altLang="en-US" dirty="0"/>
              <a:t> </a:t>
            </a:r>
            <a:r>
              <a:rPr lang="en-US" altLang="zh-CN" dirty="0"/>
              <a:t>is</a:t>
            </a:r>
            <a:r>
              <a:rPr lang="zh-CN" altLang="en-US" dirty="0"/>
              <a:t> </a:t>
            </a:r>
            <a:r>
              <a:rPr lang="en-US" altLang="zh-CN" dirty="0"/>
              <a:t>highly</a:t>
            </a:r>
            <a:r>
              <a:rPr lang="zh-CN" altLang="en-US" dirty="0"/>
              <a:t> </a:t>
            </a:r>
            <a:r>
              <a:rPr lang="en-US" altLang="zh-CN" dirty="0"/>
              <a:t>modified</a:t>
            </a:r>
            <a:endParaRPr lang="en-CN" dirty="0"/>
          </a:p>
        </p:txBody>
      </p:sp>
      <p:pic>
        <p:nvPicPr>
          <p:cNvPr id="7170" name="Picture 2" descr="tRNA involved in protein translation process.">
            <a:extLst>
              <a:ext uri="{FF2B5EF4-FFF2-40B4-BE49-F238E27FC236}">
                <a16:creationId xmlns:a16="http://schemas.microsoft.com/office/drawing/2014/main" id="{73A56F9A-C0E0-76B1-76B7-F4B3FDCB8E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1461" y="1690688"/>
            <a:ext cx="7224508" cy="44691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2" name="Picture 4" descr="Figure 1.">
            <a:extLst>
              <a:ext uri="{FF2B5EF4-FFF2-40B4-BE49-F238E27FC236}">
                <a16:creationId xmlns:a16="http://schemas.microsoft.com/office/drawing/2014/main" id="{176DB5B6-5362-C06A-6881-C1AECC4FC5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27474" y="2063816"/>
            <a:ext cx="4921772" cy="31034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643304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F6BD9E-3BFE-3756-F96F-7C3F64DCB2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00061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en-GB" b="1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Exploring tRNAs and their modifications and crosstalk using Nano-</a:t>
            </a:r>
            <a:r>
              <a:rPr lang="en-GB" b="1" i="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tRNAseq</a:t>
            </a:r>
            <a:b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GB" sz="2200" b="0" i="0" dirty="0">
                <a:effectLst/>
                <a:latin typeface="Arial" panose="020B0604020202020204" pitchFamily="34" charset="0"/>
              </a:rPr>
              <a:t>MC Lucas, EM </a:t>
            </a:r>
            <a:r>
              <a:rPr lang="en-GB" sz="2200" b="0" i="0" dirty="0" err="1">
                <a:effectLst/>
                <a:latin typeface="Arial" panose="020B0604020202020204" pitchFamily="34" charset="0"/>
              </a:rPr>
              <a:t>Novoa</a:t>
            </a:r>
            <a:r>
              <a:rPr lang="en-US" altLang="zh-CN" sz="2200" b="0" i="0" dirty="0">
                <a:effectLst/>
                <a:latin typeface="Arial" panose="020B0604020202020204" pitchFamily="34" charset="0"/>
              </a:rPr>
              <a:t>.</a:t>
            </a:r>
            <a:r>
              <a:rPr lang="zh-CN" altLang="en-US" sz="2200" b="0" i="0" dirty="0">
                <a:effectLst/>
                <a:latin typeface="Arial" panose="020B0604020202020204" pitchFamily="34" charset="0"/>
              </a:rPr>
              <a:t> </a:t>
            </a:r>
            <a:r>
              <a:rPr lang="en-US" altLang="zh-CN" sz="2200" b="0" i="0" dirty="0">
                <a:effectLst/>
                <a:latin typeface="Arial" panose="020B0604020202020204" pitchFamily="34" charset="0"/>
              </a:rPr>
              <a:t>2023</a:t>
            </a:r>
            <a:br>
              <a:rPr lang="en-GB" b="1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</a:br>
            <a:endParaRPr lang="en-CN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8194" name="Picture 2" descr="Fig. 1: Nano-tRNAseq quantifies tRNA abundances and modifications.">
            <a:extLst>
              <a:ext uri="{FF2B5EF4-FFF2-40B4-BE49-F238E27FC236}">
                <a16:creationId xmlns:a16="http://schemas.microsoft.com/office/drawing/2014/main" id="{6C9CED00-B126-1D6C-8378-A4F3B443BE7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101"/>
          <a:stretch/>
        </p:blipFill>
        <p:spPr bwMode="auto">
          <a:xfrm>
            <a:off x="571526" y="2140663"/>
            <a:ext cx="11048947" cy="41362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8387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030542-8AC2-8CF1-28F3-FE58E786D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4000" b="0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Annie Luetkemeyer</a:t>
            </a:r>
            <a:endParaRPr lang="en-CN" sz="4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DB86141-6C49-7988-C74B-47F39ACD4B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9600" y="2402036"/>
            <a:ext cx="7772400" cy="2331720"/>
          </a:xfrm>
          <a:prstGeom prst="rect">
            <a:avLst/>
          </a:prstGeom>
        </p:spPr>
      </p:pic>
      <p:pic>
        <p:nvPicPr>
          <p:cNvPr id="9220" name="Picture 4" descr="Annie Luetkemeyer, MD | by Christopher.Michel">
            <a:extLst>
              <a:ext uri="{FF2B5EF4-FFF2-40B4-BE49-F238E27FC236}">
                <a16:creationId xmlns:a16="http://schemas.microsoft.com/office/drawing/2014/main" id="{88AD6C44-5051-DD8B-82B5-3D3D74B12C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493133"/>
            <a:ext cx="3421869" cy="51276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001869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571F52-BACD-5DD9-8BF6-DA548DE635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b="0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Doxycycline to prevent bacterial sexually transmitted infections in the USA</a:t>
            </a:r>
            <a:br>
              <a:rPr lang="en-GB" b="0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GB" sz="2200" b="0" i="0" u="none" strike="noStrike" dirty="0">
                <a:effectLst/>
                <a:latin typeface="Calibri" panose="020F0502020204030204" pitchFamily="34" charset="0"/>
                <a:cs typeface="Calibri" panose="020F0502020204030204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Anne F Luetkemeyer</a:t>
            </a:r>
            <a:r>
              <a:rPr lang="en-US" altLang="zh-CN" sz="2200" b="0" i="0" u="none" strike="noStrike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lang="zh-CN" altLang="en-US" sz="2200" b="0" i="0" u="none" strike="noStrike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2200" b="0" i="1" u="none" strike="noStrike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et</a:t>
            </a:r>
            <a:r>
              <a:rPr lang="zh-CN" altLang="en-US" sz="2200" b="0" i="1" u="none" strike="noStrike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2200" b="0" i="1" u="none" strike="noStrike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al.</a:t>
            </a:r>
            <a:r>
              <a:rPr lang="zh-CN" altLang="en-US" sz="2200" b="0" i="1" u="none" strike="noStrike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2200" b="0" u="none" strike="noStrike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2025</a:t>
            </a:r>
            <a:endParaRPr lang="en-CN" sz="2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0242" name="Picture 2">
            <a:extLst>
              <a:ext uri="{FF2B5EF4-FFF2-40B4-BE49-F238E27FC236}">
                <a16:creationId xmlns:a16="http://schemas.microsoft.com/office/drawing/2014/main" id="{D6AA4D15-1A21-CD0E-5BBD-91C474DE8FD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1308"/>
          <a:stretch/>
        </p:blipFill>
        <p:spPr bwMode="auto">
          <a:xfrm>
            <a:off x="838200" y="2075264"/>
            <a:ext cx="5313330" cy="44176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33691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76F437-AD04-FA33-61CF-8E07264364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Maite</a:t>
            </a:r>
            <a:r>
              <a:rPr lang="zh-CN" altLang="en-US" dirty="0"/>
              <a:t> </a:t>
            </a:r>
            <a:r>
              <a:rPr lang="en-US" altLang="zh-CN" dirty="0" err="1"/>
              <a:t>Huarte</a:t>
            </a:r>
            <a:endParaRPr lang="en-CN" dirty="0"/>
          </a:p>
        </p:txBody>
      </p:sp>
      <p:pic>
        <p:nvPicPr>
          <p:cNvPr id="1026" name="Picture 2" descr="Dr. Maite Huarte">
            <a:extLst>
              <a:ext uri="{FF2B5EF4-FFF2-40B4-BE49-F238E27FC236}">
                <a16:creationId xmlns:a16="http://schemas.microsoft.com/office/drawing/2014/main" id="{D3AD1D05-AD44-43D0-448A-816F789588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5900" y="1559658"/>
            <a:ext cx="4445000" cy="3340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BC9138B-D50E-2BC6-75EB-B48ECB211F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83150" y="1690687"/>
            <a:ext cx="2818912" cy="326581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2FFBC94-7B5C-006C-EAF3-739545DC09E7}"/>
              </a:ext>
            </a:extLst>
          </p:cNvPr>
          <p:cNvSpPr txBox="1"/>
          <p:nvPr/>
        </p:nvSpPr>
        <p:spPr>
          <a:xfrm>
            <a:off x="7795846" y="1559658"/>
            <a:ext cx="378020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2021</a:t>
            </a:r>
            <a:r>
              <a:rPr lang="zh-CN" altLang="en-US" b="1" dirty="0"/>
              <a:t> </a:t>
            </a:r>
            <a:r>
              <a:rPr lang="en-US" altLang="zh-CN" b="1" dirty="0"/>
              <a:t>–</a:t>
            </a:r>
            <a:r>
              <a:rPr lang="zh-CN" altLang="en-US" b="1" dirty="0"/>
              <a:t> </a:t>
            </a:r>
            <a:endParaRPr lang="en-US" altLang="zh-CN" b="1" dirty="0"/>
          </a:p>
          <a:p>
            <a:r>
              <a:rPr lang="en-US" altLang="zh-CN" b="1" dirty="0" err="1"/>
              <a:t>Cima</a:t>
            </a:r>
            <a:r>
              <a:rPr lang="zh-CN" altLang="en-US" b="1" dirty="0"/>
              <a:t> </a:t>
            </a:r>
            <a:r>
              <a:rPr lang="en-US" altLang="zh-CN" b="1" dirty="0"/>
              <a:t>Universidad</a:t>
            </a:r>
            <a:r>
              <a:rPr lang="zh-CN" altLang="en-US" b="1" dirty="0"/>
              <a:t> </a:t>
            </a:r>
            <a:r>
              <a:rPr lang="en-US" altLang="zh-CN" b="1" dirty="0"/>
              <a:t>de</a:t>
            </a:r>
            <a:r>
              <a:rPr lang="zh-CN" altLang="en-US" b="1" dirty="0"/>
              <a:t> </a:t>
            </a:r>
            <a:r>
              <a:rPr lang="en-US" altLang="zh-CN" b="1" dirty="0"/>
              <a:t>Navarra,</a:t>
            </a:r>
            <a:r>
              <a:rPr lang="zh-CN" altLang="en-US" b="1" dirty="0"/>
              <a:t> </a:t>
            </a:r>
            <a:r>
              <a:rPr lang="en-US" altLang="zh-CN" b="1" dirty="0"/>
              <a:t>Spain</a:t>
            </a:r>
          </a:p>
          <a:p>
            <a:endParaRPr lang="en-GB" b="0" i="0" dirty="0">
              <a:effectLst/>
              <a:latin typeface="Roboto Condensed" panose="020F0502020204030204" pitchFamily="34" charset="0"/>
            </a:endParaRPr>
          </a:p>
          <a:p>
            <a:r>
              <a:rPr lang="en-GB" b="0" i="0" dirty="0">
                <a:effectLst/>
                <a:latin typeface="Roboto Condensed" panose="020F0502020204030204" pitchFamily="34" charset="0"/>
              </a:rPr>
              <a:t>Preferential dedication to the study of the role of noncoding RNAs in the regulation of cancer genome expression and stability.</a:t>
            </a:r>
          </a:p>
          <a:p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20912419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DE41C5-219B-82E1-7642-2B9B389953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3770" y="247895"/>
            <a:ext cx="11623430" cy="1325563"/>
          </a:xfrm>
        </p:spPr>
        <p:txBody>
          <a:bodyPr>
            <a:noAutofit/>
          </a:bodyPr>
          <a:lstStyle/>
          <a:p>
            <a:r>
              <a:rPr lang="en-GB" sz="3600" b="0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A Large Intergenic Noncoding RNA Induced by p53 Mediates Global Gene Repression in the p53 Response</a:t>
            </a:r>
            <a:br>
              <a:rPr lang="en-GB" sz="3600" b="0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altLang="zh-CN" sz="2000" b="0" i="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Huarte</a:t>
            </a:r>
            <a:r>
              <a:rPr lang="en-US" altLang="zh-CN" sz="2000" b="0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lang="zh-CN" altLang="en-US" sz="2000" b="0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2000" b="0" i="1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et</a:t>
            </a:r>
            <a:r>
              <a:rPr lang="zh-CN" altLang="en-US" sz="2000" b="0" i="1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2000" b="0" i="1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al.</a:t>
            </a:r>
            <a:r>
              <a:rPr lang="zh-CN" altLang="en-US" sz="2000" b="0" i="1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2000" b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Cell.</a:t>
            </a:r>
            <a:r>
              <a:rPr lang="zh-CN" altLang="en-US" sz="2000" b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2000" b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2010.</a:t>
            </a:r>
            <a:br>
              <a:rPr lang="en-GB" sz="3600" b="0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</a:br>
            <a:endParaRPr lang="en-CN" sz="3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709B850B-658F-A09B-C2E5-9BFA13BFC9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7000" y="1690688"/>
            <a:ext cx="5167312" cy="51673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779871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F46216B-77A9-411A-B9D3-5023FCB7020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3935</TotalTime>
  <Words>419</Words>
  <Application>Microsoft Macintosh PowerPoint</Application>
  <PresentationFormat>Widescreen</PresentationFormat>
  <Paragraphs>41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Inter Variable</vt:lpstr>
      <vt:lpstr>Manrope</vt:lpstr>
      <vt:lpstr>Arial</vt:lpstr>
      <vt:lpstr>Calibri</vt:lpstr>
      <vt:lpstr>Calibri Light</vt:lpstr>
      <vt:lpstr>Roboto Condensed</vt:lpstr>
      <vt:lpstr>Office Theme</vt:lpstr>
      <vt:lpstr>Science that matters</vt:lpstr>
      <vt:lpstr>Marte Mele</vt:lpstr>
      <vt:lpstr>PowerPoint Presentation</vt:lpstr>
      <vt:lpstr>PowerPoint Presentation</vt:lpstr>
      <vt:lpstr>Eva Maria Novoa</vt:lpstr>
      <vt:lpstr>Transfer RNA is highly modified</vt:lpstr>
      <vt:lpstr>Exploring tRNAs and their modifications and crosstalk using Nano-tRNAseq MC Lucas, EM Novoa. 2023 </vt:lpstr>
      <vt:lpstr>Annie Luetkemeyer</vt:lpstr>
      <vt:lpstr>Doxycycline to prevent bacterial sexually transmitted infections in the USA Anne F Luetkemeyer, et al. 2025</vt:lpstr>
      <vt:lpstr>Maite Huarte</vt:lpstr>
      <vt:lpstr>A Large Intergenic Noncoding RNA Induced by p53 Mediates Global Gene Repression in the p53 Response Huarte, et al. Cell. 2010.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Science that matters</dc:title>
  <dc:creator>xiaoqing pan</dc:creator>
  <cp:lastModifiedBy>xiaoqing pan</cp:lastModifiedBy>
  <cp:revision>6</cp:revision>
  <dcterms:created xsi:type="dcterms:W3CDTF">2026-07-16T14:44:58Z</dcterms:created>
  <dcterms:modified xsi:type="dcterms:W3CDTF">2026-07-19T08:20:48Z</dcterms:modified>
</cp:coreProperties>
</file>